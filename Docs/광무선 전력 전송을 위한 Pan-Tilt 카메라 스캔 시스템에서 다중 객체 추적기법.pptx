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4"/>
  </p:notesMasterIdLst>
  <p:sldIdLst>
    <p:sldId id="279" r:id="rId2"/>
    <p:sldId id="263" r:id="rId3"/>
    <p:sldId id="302" r:id="rId4"/>
    <p:sldId id="310" r:id="rId5"/>
    <p:sldId id="303" r:id="rId6"/>
    <p:sldId id="304" r:id="rId7"/>
    <p:sldId id="315" r:id="rId8"/>
    <p:sldId id="316" r:id="rId9"/>
    <p:sldId id="306" r:id="rId10"/>
    <p:sldId id="307" r:id="rId11"/>
    <p:sldId id="308" r:id="rId12"/>
    <p:sldId id="305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 및 목차" id="{FDA37AE7-6F61-4738-B58E-53D16F24D74C}">
          <p14:sldIdLst>
            <p14:sldId id="279"/>
            <p14:sldId id="263"/>
          </p14:sldIdLst>
        </p14:section>
        <p14:section name="본문" id="{975B14FF-5963-4FA2-99F3-05B9EABDC627}">
          <p14:sldIdLst>
            <p14:sldId id="302"/>
            <p14:sldId id="310"/>
            <p14:sldId id="303"/>
            <p14:sldId id="304"/>
            <p14:sldId id="315"/>
            <p14:sldId id="316"/>
            <p14:sldId id="306"/>
            <p14:sldId id="307"/>
            <p14:sldId id="308"/>
            <p14:sldId id="30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DCF8"/>
    <a:srgbClr val="5894CF"/>
    <a:srgbClr val="EFF3F8"/>
    <a:srgbClr val="CFD8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61" autoAdjust="0"/>
    <p:restoredTop sz="76929" autoAdjust="0"/>
  </p:normalViewPr>
  <p:slideViewPr>
    <p:cSldViewPr snapToGrid="0">
      <p:cViewPr>
        <p:scale>
          <a:sx n="66" d="100"/>
          <a:sy n="66" d="100"/>
        </p:scale>
        <p:origin x="1200" y="7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7EF4DEA1-4F95-401F-9C1D-7F013E6FE5F6}" type="datetime1">
              <a:rPr lang="ko-KR" altLang="en-US"/>
              <a:pPr lvl="0">
                <a:defRPr/>
              </a:pPr>
              <a:t>2026-01-28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16A3BD86-B9C4-48BB-B1BA-5BDB10AF1901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9900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안녕하세요</a:t>
            </a:r>
            <a:r>
              <a:rPr lang="en-US" altLang="ko-KR" dirty="0"/>
              <a:t>. '</a:t>
            </a:r>
            <a:r>
              <a:rPr lang="ko-KR" altLang="en-US" dirty="0" err="1"/>
              <a:t>광무선</a:t>
            </a:r>
            <a:r>
              <a:rPr lang="ko-KR" altLang="en-US" dirty="0"/>
              <a:t> 전력 전송을 위한 </a:t>
            </a:r>
            <a:r>
              <a:rPr lang="en-US" altLang="ko-KR" dirty="0"/>
              <a:t>Pan-Tilt </a:t>
            </a:r>
            <a:r>
              <a:rPr lang="ko-KR" altLang="en-US" dirty="0"/>
              <a:t>카메라 스캔 시스템에서 다중 객체 추적 기법</a:t>
            </a:r>
            <a:r>
              <a:rPr lang="en-US" altLang="ko-KR" dirty="0"/>
              <a:t>'</a:t>
            </a:r>
            <a:r>
              <a:rPr lang="ko-KR" altLang="en-US" dirty="0"/>
              <a:t>에 대해 김준수 교수님 지도학생 석사 </a:t>
            </a:r>
            <a:r>
              <a:rPr lang="en-US" altLang="ko-KR" dirty="0"/>
              <a:t>1</a:t>
            </a:r>
            <a:r>
              <a:rPr lang="ko-KR" altLang="en-US" dirty="0" err="1"/>
              <a:t>년차</a:t>
            </a:r>
            <a:r>
              <a:rPr lang="ko-KR" altLang="en-US" dirty="0"/>
              <a:t> 이희준입니다</a:t>
            </a:r>
            <a:r>
              <a:rPr lang="en-US" altLang="ko-KR" dirty="0"/>
              <a:t>. </a:t>
            </a:r>
            <a:r>
              <a:rPr lang="ko-KR" altLang="en-US" dirty="0"/>
              <a:t>발표 시작하겠습니다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A3BD86-B9C4-48BB-B1BA-5BDB10AF190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67684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5AF1C-406D-0B70-4875-A4801716A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3757F4-9E03-3DE5-19A3-F55EC9B666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40A5F3F-38A2-9562-92CF-E1A60FE9F0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목차입니다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1604A7-4183-1584-44D6-EC90448AF4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3A8FF-2D2B-41EB-B861-1466B481D09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0374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DFDC1-8142-59B0-D09E-703645C9D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379B32-A52B-F0BE-67BE-45B2D4AC47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18D3CD-8022-DFB1-B68D-C27EAA4821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최근 </a:t>
            </a:r>
            <a:r>
              <a:rPr lang="en-US" altLang="ko-KR" dirty="0"/>
              <a:t>IoT </a:t>
            </a:r>
            <a:r>
              <a:rPr lang="ko-KR" altLang="en-US" dirty="0"/>
              <a:t>기기의 전원 공급을 위해 </a:t>
            </a:r>
            <a:r>
              <a:rPr lang="ko-KR" altLang="en-US" b="1" dirty="0" err="1"/>
              <a:t>광무선</a:t>
            </a:r>
            <a:r>
              <a:rPr lang="ko-KR" altLang="en-US" b="1" dirty="0"/>
              <a:t> 전력 전송</a:t>
            </a:r>
            <a:r>
              <a:rPr lang="en-US" altLang="ko-KR" b="1" dirty="0"/>
              <a:t>(OWPT)</a:t>
            </a:r>
            <a:r>
              <a:rPr lang="ko-KR" altLang="en-US" dirty="0"/>
              <a:t> 기술이 주목받고 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 시스템의 핵심은 수신부의 위치를 정확히 파악하고 지속적으로 추적하는 것입니다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저희는 넓은 공간을 저비용으로 커버하기 위해 </a:t>
            </a:r>
            <a:r>
              <a:rPr lang="en-US" altLang="ko-KR" b="1" dirty="0"/>
              <a:t>Pan-Tilt </a:t>
            </a:r>
            <a:r>
              <a:rPr lang="ko-KR" altLang="en-US" b="1" dirty="0"/>
              <a:t>카메라</a:t>
            </a:r>
            <a:r>
              <a:rPr lang="ko-KR" altLang="en-US" dirty="0"/>
              <a:t>를 도입했습니다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다중 타겟인 상태에서</a:t>
            </a:r>
            <a:r>
              <a:rPr lang="en-US" altLang="ko-KR" dirty="0"/>
              <a:t>,</a:t>
            </a:r>
            <a:r>
              <a:rPr lang="ko-KR" altLang="en-US" dirty="0"/>
              <a:t> 넓은 영역을 </a:t>
            </a:r>
            <a:r>
              <a:rPr lang="en-US" altLang="ko-KR" dirty="0"/>
              <a:t>15</a:t>
            </a:r>
            <a:r>
              <a:rPr lang="ko-KR" altLang="en-US" dirty="0"/>
              <a:t>도씩 빠르게 스캔하다 보니</a:t>
            </a:r>
            <a:r>
              <a:rPr lang="en-US" altLang="ko-KR" dirty="0"/>
              <a:t>, </a:t>
            </a:r>
            <a:r>
              <a:rPr lang="ko-KR" altLang="en-US" dirty="0"/>
              <a:t>프레임 간 </a:t>
            </a:r>
            <a:r>
              <a:rPr lang="ko-KR" altLang="en-US" b="1" dirty="0"/>
              <a:t>타겟의 위치가 불연속적으로 급변</a:t>
            </a:r>
            <a:r>
              <a:rPr lang="ko-KR" altLang="en-US" dirty="0"/>
              <a:t>하는 문제가 발생했습니다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이로 인해 기존의 위치 기반 추적 알고리즘인 </a:t>
            </a:r>
            <a:r>
              <a:rPr lang="en-US" altLang="ko-KR" dirty="0"/>
              <a:t>SORT </a:t>
            </a:r>
            <a:r>
              <a:rPr lang="ko-KR" altLang="en-US" dirty="0"/>
              <a:t>등은 추적에 실패하게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이를 해결하기 위해 저희는 물리적 거리 대신 스캔 토폴로지 기반 인접 후보군 탐색 기법</a:t>
            </a:r>
            <a:r>
              <a:rPr lang="en-US" altLang="ko-KR" dirty="0"/>
              <a:t> , </a:t>
            </a:r>
            <a:r>
              <a:rPr lang="ko-KR" altLang="en-US" dirty="0"/>
              <a:t>정보 보존형 격자 히스토그램 기법을 제안합니다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026536-8504-C3F6-96A4-B9573AF908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A3BD86-B9C4-48BB-B1BA-5BDB10AF190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5481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BFE42-E4B5-9549-BDB5-D5EB5FD97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2C7E5BF-940E-F1A0-A2A3-A2CE4E01C75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F2A12BE-5470-4776-283D-F094AFAE01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본 연구의 시스템 모델입니다</a:t>
            </a:r>
            <a:r>
              <a:rPr lang="en-US" altLang="ko-KR" dirty="0"/>
              <a:t>.</a:t>
            </a:r>
          </a:p>
          <a:p>
            <a:pPr lvl="0">
              <a:defRPr/>
            </a:pPr>
            <a:r>
              <a:rPr lang="ko-KR" altLang="en-US" dirty="0"/>
              <a:t>송신부는 </a:t>
            </a:r>
            <a:r>
              <a:rPr lang="en-US" altLang="ko-KR" dirty="0"/>
              <a:t>Pan-Tilt </a:t>
            </a:r>
            <a:r>
              <a:rPr lang="ko-KR" altLang="en-US" dirty="0" err="1"/>
              <a:t>구동부</a:t>
            </a:r>
            <a:r>
              <a:rPr lang="ko-KR" altLang="en-US" dirty="0"/>
              <a:t> 위에 </a:t>
            </a:r>
            <a:r>
              <a:rPr lang="en-US" altLang="ko-KR" dirty="0"/>
              <a:t>RGB </a:t>
            </a:r>
            <a:r>
              <a:rPr lang="ko-KR" altLang="en-US" dirty="0"/>
              <a:t>카메라와 레이저</a:t>
            </a:r>
            <a:r>
              <a:rPr lang="en-US" altLang="ko-KR" dirty="0"/>
              <a:t>, LED </a:t>
            </a:r>
            <a:r>
              <a:rPr lang="ko-KR" altLang="en-US" dirty="0"/>
              <a:t>모듈이 결합된 형태이며</a:t>
            </a:r>
            <a:r>
              <a:rPr lang="en-US" altLang="ko-KR" dirty="0"/>
              <a:t>,</a:t>
            </a:r>
          </a:p>
          <a:p>
            <a:pPr lvl="0">
              <a:defRPr/>
            </a:pPr>
            <a:r>
              <a:rPr lang="ko-KR" altLang="en-US" dirty="0"/>
              <a:t>효율적인 탐색을 위해 지그재그 형태인 </a:t>
            </a:r>
            <a:r>
              <a:rPr lang="en-US" altLang="ko-KR" b="1" dirty="0"/>
              <a:t>Boustrophedon(</a:t>
            </a:r>
            <a:r>
              <a:rPr lang="ko-KR" altLang="en-US" b="1" dirty="0" err="1"/>
              <a:t>부스트로페돈</a:t>
            </a:r>
            <a:r>
              <a:rPr lang="en-US" altLang="ko-KR" b="1" dirty="0"/>
              <a:t>) </a:t>
            </a:r>
            <a:r>
              <a:rPr lang="ko-KR" altLang="en-US" b="1" dirty="0"/>
              <a:t>패턴</a:t>
            </a:r>
            <a:r>
              <a:rPr lang="ko-KR" altLang="en-US" dirty="0"/>
              <a:t>으로 </a:t>
            </a:r>
            <a:r>
              <a:rPr lang="en-US" altLang="ko-KR" dirty="0"/>
              <a:t>15</a:t>
            </a:r>
            <a:r>
              <a:rPr lang="ko-KR" altLang="en-US" dirty="0"/>
              <a:t>도씩 이동하며 스캔합니다</a:t>
            </a:r>
            <a:r>
              <a:rPr lang="en-US" altLang="ko-KR" dirty="0"/>
              <a:t>.</a:t>
            </a:r>
          </a:p>
          <a:p>
            <a:pPr lvl="0">
              <a:defRPr/>
            </a:pPr>
            <a:r>
              <a:rPr lang="ko-KR" altLang="en-US" dirty="0"/>
              <a:t>수신부는 </a:t>
            </a:r>
            <a:r>
              <a:rPr lang="en-US" altLang="ko-KR" dirty="0"/>
              <a:t>5~10m</a:t>
            </a:r>
            <a:r>
              <a:rPr lang="ko-KR" altLang="en-US" dirty="0"/>
              <a:t> 거리에 무작위로 배치되어 있으며</a:t>
            </a:r>
            <a:r>
              <a:rPr lang="en-US" altLang="ko-KR" dirty="0"/>
              <a:t>,</a:t>
            </a:r>
          </a:p>
          <a:p>
            <a:pPr lvl="0">
              <a:defRPr/>
            </a:pPr>
            <a:r>
              <a:rPr lang="ko-KR" altLang="en-US" dirty="0"/>
              <a:t>인식을 돕기 위한 빨간색 재귀반사필름과 에너지를 전환 할 </a:t>
            </a:r>
            <a:r>
              <a:rPr lang="en-US" altLang="ko-KR" dirty="0"/>
              <a:t>Solar cell </a:t>
            </a:r>
            <a:r>
              <a:rPr lang="ko-KR" altLang="en-US" dirty="0"/>
              <a:t>로 구성되어 있습니다</a:t>
            </a:r>
            <a:r>
              <a:rPr lang="en-US" altLang="ko-KR" dirty="0"/>
              <a:t>.</a:t>
            </a:r>
          </a:p>
          <a:p>
            <a:pPr lvl="0">
              <a:defRPr/>
            </a:pPr>
            <a:r>
              <a:rPr lang="ko-KR" altLang="en-US" dirty="0"/>
              <a:t>수신부를 검출하는 방법은 사전에 재귀반사필름을 학습시킨 </a:t>
            </a:r>
            <a:r>
              <a:rPr lang="en-US" altLang="ko-KR" dirty="0"/>
              <a:t>Yolo </a:t>
            </a:r>
            <a:r>
              <a:rPr lang="ko-KR" altLang="en-US" dirty="0"/>
              <a:t>모델을 통해 검출합니다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E8DF55-08A5-C4D6-7F52-5D43419BC4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16A3BD86-B9C4-48BB-B1BA-5BDB10AF190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60208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7A2E9-636C-22C7-277C-05548DBAA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39FE70A-400B-D330-3AD9-A7343391077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D331505-18E9-A9C1-3728-F010A1BBAF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스캔 토폴로지 기반 인접 후보군 탐색 기법 입니다</a:t>
            </a:r>
            <a:r>
              <a:rPr lang="en-US" altLang="ko-KR" dirty="0"/>
              <a:t>.</a:t>
            </a:r>
          </a:p>
          <a:p>
            <a:pPr lvl="0">
              <a:defRPr/>
            </a:pPr>
            <a:r>
              <a:rPr lang="ko-KR" altLang="en-US" dirty="0"/>
              <a:t>기존의 </a:t>
            </a:r>
            <a:r>
              <a:rPr lang="en-US" altLang="ko-KR" dirty="0"/>
              <a:t>MOT </a:t>
            </a:r>
            <a:r>
              <a:rPr lang="ko-KR" altLang="en-US" dirty="0"/>
              <a:t>알고리즘은 최대 프레임 개수에 </a:t>
            </a:r>
            <a:r>
              <a:rPr lang="ko-KR" altLang="en-US" dirty="0" err="1"/>
              <a:t>제한을두고</a:t>
            </a:r>
            <a:r>
              <a:rPr lang="ko-KR" altLang="en-US" dirty="0"/>
              <a:t> 후보군을 비교하는 방식으로 진행이 됩니다</a:t>
            </a:r>
            <a:r>
              <a:rPr lang="en-US" altLang="ko-KR" dirty="0"/>
              <a:t>.</a:t>
            </a:r>
          </a:p>
          <a:p>
            <a:pPr lvl="0">
              <a:defRPr/>
            </a:pPr>
            <a:r>
              <a:rPr lang="ko-KR" altLang="en-US" dirty="0"/>
              <a:t>저희 시스템에선 타겟이 정적임에 따라</a:t>
            </a:r>
            <a:r>
              <a:rPr lang="en-US" altLang="ko-KR" dirty="0"/>
              <a:t>, </a:t>
            </a:r>
            <a:r>
              <a:rPr lang="ko-KR" altLang="en-US" dirty="0"/>
              <a:t>탐지가 </a:t>
            </a:r>
            <a:r>
              <a:rPr lang="ko-KR" altLang="en-US" dirty="0" err="1"/>
              <a:t>되었을때</a:t>
            </a:r>
            <a:r>
              <a:rPr lang="ko-KR" altLang="en-US" dirty="0"/>
              <a:t> 근처 </a:t>
            </a:r>
            <a:r>
              <a:rPr lang="en-US" altLang="ko-KR" dirty="0"/>
              <a:t>pan, tilt </a:t>
            </a:r>
            <a:r>
              <a:rPr lang="ko-KR" altLang="en-US" dirty="0"/>
              <a:t>에서 탐지가 되었을 확률이 높습니다</a:t>
            </a:r>
            <a:r>
              <a:rPr lang="en-US" altLang="ko-KR" dirty="0"/>
              <a:t>.</a:t>
            </a:r>
          </a:p>
          <a:p>
            <a:pPr lvl="0">
              <a:defRPr/>
            </a:pPr>
            <a:r>
              <a:rPr lang="ko-KR" altLang="en-US" dirty="0"/>
              <a:t>따라서 최대개수를 지정해 프레임을 비교하는 </a:t>
            </a:r>
            <a:r>
              <a:rPr lang="ko-KR" altLang="en-US" dirty="0" err="1"/>
              <a:t>것이아니라</a:t>
            </a:r>
            <a:r>
              <a:rPr lang="ko-KR" altLang="en-US" dirty="0"/>
              <a:t> 스캔 토폴로지의 인접성을 이용하여 후보군을 지정하여 비교 프레임 개수를 효율적으로 줄일 수 있습니다</a:t>
            </a:r>
            <a:r>
              <a:rPr lang="en-US" altLang="ko-KR" dirty="0"/>
              <a:t>.</a:t>
            </a:r>
          </a:p>
          <a:p>
            <a:pPr lvl="0">
              <a:defRPr/>
            </a:pPr>
            <a:r>
              <a:rPr lang="ko-KR" altLang="en-US" dirty="0"/>
              <a:t>지정하는 후보군은 </a:t>
            </a:r>
            <a:r>
              <a:rPr lang="en-US" altLang="ko-KR" dirty="0"/>
              <a:t>tilt </a:t>
            </a:r>
            <a:r>
              <a:rPr lang="ko-KR" altLang="en-US" dirty="0"/>
              <a:t>값이 </a:t>
            </a:r>
            <a:r>
              <a:rPr lang="ko-KR" altLang="en-US" dirty="0" err="1"/>
              <a:t>그대로고</a:t>
            </a:r>
            <a:r>
              <a:rPr lang="ko-KR" altLang="en-US" dirty="0"/>
              <a:t> </a:t>
            </a:r>
            <a:r>
              <a:rPr lang="en-US" altLang="ko-KR" dirty="0"/>
              <a:t>pan </a:t>
            </a:r>
            <a:r>
              <a:rPr lang="ko-KR" altLang="en-US" dirty="0"/>
              <a:t>값을 조정한 전프레임과 전전프레임</a:t>
            </a:r>
            <a:r>
              <a:rPr lang="en-US" altLang="ko-KR" dirty="0"/>
              <a:t>, tilt </a:t>
            </a:r>
            <a:r>
              <a:rPr lang="ko-KR" altLang="en-US" dirty="0"/>
              <a:t>값을 조정한 토폴로지 기준 아래 프레임</a:t>
            </a:r>
            <a:r>
              <a:rPr lang="en-US" altLang="ko-KR" dirty="0"/>
              <a:t>, pan, tilt </a:t>
            </a:r>
            <a:r>
              <a:rPr lang="ko-KR" altLang="en-US" dirty="0"/>
              <a:t>값을 </a:t>
            </a:r>
            <a:r>
              <a:rPr lang="ko-KR" altLang="en-US" dirty="0" err="1"/>
              <a:t>둘다</a:t>
            </a:r>
            <a:r>
              <a:rPr lang="ko-KR" altLang="en-US" dirty="0"/>
              <a:t> 조정한 대각선프레임 총 </a:t>
            </a:r>
            <a:r>
              <a:rPr lang="en-US" altLang="ko-KR" dirty="0"/>
              <a:t>5</a:t>
            </a:r>
            <a:r>
              <a:rPr lang="ko-KR" altLang="en-US" dirty="0"/>
              <a:t>개의 후보군을 지정하여 비교를 합니다</a:t>
            </a:r>
            <a:r>
              <a:rPr lang="en-US" altLang="ko-KR"/>
              <a:t>.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403EC4-4531-3D6B-821E-D301E85C36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16A3BD86-B9C4-48BB-B1BA-5BDB10AF190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01363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09737-6C4F-2752-ADCA-73B1FD0EA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D3ED035-945D-E422-3451-FAA2DBDDDA0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60A0E6-11B1-6F93-8E3A-0DB6F3A7A3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비교하는 방식은 총 </a:t>
            </a:r>
            <a:r>
              <a:rPr lang="en-US" altLang="ko-KR" dirty="0"/>
              <a:t>6</a:t>
            </a:r>
            <a:r>
              <a:rPr lang="ko-KR" altLang="en-US" dirty="0"/>
              <a:t>단계로 이루어져 있습니다</a:t>
            </a:r>
            <a:r>
              <a:rPr lang="en-US" altLang="ko-KR" dirty="0"/>
              <a:t>. </a:t>
            </a:r>
            <a:r>
              <a:rPr lang="ko-KR" altLang="en-US" dirty="0"/>
              <a:t>프레임 촬영</a:t>
            </a:r>
            <a:r>
              <a:rPr lang="en-US" altLang="ko-KR" dirty="0"/>
              <a:t>, </a:t>
            </a:r>
            <a:r>
              <a:rPr lang="ko-KR" altLang="en-US" dirty="0"/>
              <a:t>객체 탐지</a:t>
            </a:r>
            <a:r>
              <a:rPr lang="en-US" altLang="ko-KR" dirty="0"/>
              <a:t>, ROI, </a:t>
            </a:r>
            <a:r>
              <a:rPr lang="ko-KR" altLang="en-US" dirty="0"/>
              <a:t>격자 생성</a:t>
            </a:r>
            <a:r>
              <a:rPr lang="en-US" altLang="ko-KR" dirty="0"/>
              <a:t>, </a:t>
            </a:r>
            <a:r>
              <a:rPr lang="ko-KR" altLang="en-US" dirty="0"/>
              <a:t>히스토그램추출 </a:t>
            </a:r>
            <a:r>
              <a:rPr lang="en-US" altLang="ko-KR" dirty="0"/>
              <a:t>, </a:t>
            </a:r>
            <a:r>
              <a:rPr lang="ko-KR" altLang="en-US" dirty="0"/>
              <a:t>비교 및 최적 매칭 순으로 이루어 집니다</a:t>
            </a:r>
            <a:r>
              <a:rPr lang="en-US" altLang="ko-KR" dirty="0"/>
              <a:t>.</a:t>
            </a:r>
          </a:p>
          <a:p>
            <a:pPr lvl="0">
              <a:defRPr/>
            </a:pPr>
            <a:r>
              <a:rPr lang="ko-KR" altLang="en-US" dirty="0"/>
              <a:t>우선 프레임촬영과 수신부탐지입니다</a:t>
            </a:r>
            <a:r>
              <a:rPr lang="en-US" altLang="ko-KR" dirty="0"/>
              <a:t>.</a:t>
            </a:r>
          </a:p>
          <a:p>
            <a:pPr lvl="0">
              <a:defRPr/>
            </a:pPr>
            <a:r>
              <a:rPr lang="ko-KR" altLang="en-US" dirty="0"/>
              <a:t>각 지정된 스캔지점에서 </a:t>
            </a:r>
            <a:r>
              <a:rPr lang="ko-KR" altLang="en-US" dirty="0" err="1"/>
              <a:t>촬영을하여</a:t>
            </a:r>
            <a:r>
              <a:rPr lang="ko-KR" altLang="en-US" dirty="0"/>
              <a:t> 수신부를 탐지합니다</a:t>
            </a:r>
            <a:r>
              <a:rPr lang="en-US" altLang="ko-KR" dirty="0"/>
              <a:t>.</a:t>
            </a:r>
          </a:p>
          <a:p>
            <a:pPr lvl="0">
              <a:defRPr/>
            </a:pPr>
            <a:r>
              <a:rPr lang="ko-KR" altLang="en-US" dirty="0"/>
              <a:t>재귀반사필름을 학습한 모델</a:t>
            </a:r>
            <a:r>
              <a:rPr lang="en-US" altLang="ko-KR" dirty="0"/>
              <a:t>, yolo</a:t>
            </a:r>
            <a:r>
              <a:rPr lang="ko-KR" altLang="en-US" dirty="0"/>
              <a:t>를 이용하여 수신부를 탐지합니다</a:t>
            </a:r>
            <a:r>
              <a:rPr lang="en-US" altLang="ko-KR" dirty="0"/>
              <a:t>.</a:t>
            </a:r>
          </a:p>
          <a:p>
            <a:pPr lvl="0">
              <a:defRPr/>
            </a:pPr>
            <a:r>
              <a:rPr lang="ko-KR" altLang="en-US" dirty="0"/>
              <a:t>수신부가 탐지되지 않으면 스캔 </a:t>
            </a:r>
            <a:r>
              <a:rPr lang="ko-KR" altLang="en-US" dirty="0" err="1"/>
              <a:t>경로에따라</a:t>
            </a:r>
            <a:r>
              <a:rPr lang="ko-KR" altLang="en-US" dirty="0"/>
              <a:t> 프레임촬영을 이어서 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A455EF-A854-02FF-A1DE-95B78018C8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16A3BD86-B9C4-48BB-B1BA-5BDB10AF190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50702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43515-CACB-D5B9-AA2C-35E0ECE8D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BFD8467-2947-39C1-3321-9A79BDF862F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BB9C631-E66C-FD01-38B1-7BFCC6DD24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ROI, </a:t>
            </a:r>
            <a:r>
              <a:rPr lang="ko-KR" altLang="en-US" dirty="0"/>
              <a:t>격자생성 단계입니다</a:t>
            </a:r>
            <a:r>
              <a:rPr lang="en-US" altLang="ko-KR" dirty="0"/>
              <a:t>.</a:t>
            </a:r>
          </a:p>
          <a:p>
            <a:pPr lvl="0">
              <a:defRPr/>
            </a:pPr>
            <a:r>
              <a:rPr lang="ko-KR" altLang="en-US" dirty="0"/>
              <a:t>정보를 추출하기위해 탐지된 수신부의 중심으로 </a:t>
            </a:r>
            <a:r>
              <a:rPr lang="ko-KR" altLang="en-US" dirty="0" err="1"/>
              <a:t>부터</a:t>
            </a:r>
            <a:r>
              <a:rPr lang="ko-KR" altLang="en-US" dirty="0"/>
              <a:t> </a:t>
            </a:r>
            <a:r>
              <a:rPr lang="en-US" altLang="ko-KR" dirty="0"/>
              <a:t>300x300 ROI </a:t>
            </a:r>
            <a:r>
              <a:rPr lang="ko-KR" altLang="en-US" dirty="0"/>
              <a:t>를 합니다</a:t>
            </a:r>
            <a:r>
              <a:rPr lang="en-US" altLang="ko-KR" dirty="0"/>
              <a:t>.</a:t>
            </a:r>
          </a:p>
          <a:p>
            <a:pPr lvl="0">
              <a:defRPr/>
            </a:pPr>
            <a:r>
              <a:rPr lang="ko-KR" altLang="en-US" dirty="0"/>
              <a:t>이후 </a:t>
            </a:r>
            <a:r>
              <a:rPr lang="en-US" altLang="ko-KR" dirty="0"/>
              <a:t>ROI </a:t>
            </a:r>
            <a:r>
              <a:rPr lang="ko-KR" altLang="en-US" dirty="0"/>
              <a:t>에서부터 정보를 </a:t>
            </a:r>
            <a:r>
              <a:rPr lang="ko-KR" altLang="en-US" dirty="0" err="1"/>
              <a:t>추출할때</a:t>
            </a:r>
            <a:r>
              <a:rPr lang="ko-KR" altLang="en-US" dirty="0"/>
              <a:t> 공간정보를 보존하기위한 </a:t>
            </a:r>
            <a:r>
              <a:rPr lang="en-US" altLang="ko-KR" dirty="0"/>
              <a:t>11x11 </a:t>
            </a:r>
            <a:r>
              <a:rPr lang="ko-KR" altLang="en-US" dirty="0"/>
              <a:t>의 격자를 생성합니다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lvl="0">
              <a:defRPr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6825F0-815D-D4EB-0000-319F6890FF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16A3BD86-B9C4-48BB-B1BA-5BDB10AF190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32638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BAA76-27DF-1211-31D8-FF61A3C02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6E4152-33D9-C6DE-BBE2-E0AE9C18B05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2134C15-E144-B443-129A-D8CE510A3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나눠진 격자별로 비교를 위해 히스토그램을 추출하는데 </a:t>
            </a:r>
            <a:r>
              <a:rPr lang="ko-KR" altLang="en-US" dirty="0" err="1"/>
              <a:t>추출하는영역은</a:t>
            </a:r>
            <a:endParaRPr lang="en-US" altLang="ko-KR" dirty="0"/>
          </a:p>
          <a:p>
            <a:pPr lvl="0">
              <a:defRPr/>
            </a:pPr>
            <a:r>
              <a:rPr lang="en-US" altLang="ko-KR" dirty="0"/>
              <a:t>HSV </a:t>
            </a:r>
            <a:r>
              <a:rPr lang="ko-KR" altLang="en-US" dirty="0"/>
              <a:t>에서의 </a:t>
            </a:r>
            <a:r>
              <a:rPr lang="en-US" altLang="ko-KR" dirty="0"/>
              <a:t>HS, Grayscale </a:t>
            </a:r>
            <a:r>
              <a:rPr lang="ko-KR" altLang="en-US" dirty="0"/>
              <a:t>에서의 히스토그램을 추출하여 하나의 특징벡터로 결합합니다</a:t>
            </a:r>
            <a:r>
              <a:rPr lang="en-US" altLang="ko-KR" dirty="0"/>
              <a:t>.</a:t>
            </a:r>
          </a:p>
          <a:p>
            <a:pPr lvl="0">
              <a:defRPr/>
            </a:pPr>
            <a:r>
              <a:rPr lang="en-US" altLang="ko-KR" dirty="0"/>
              <a:t>H(0~360 , 8) S(0~100 , 4), Gray(0~255, 16)</a:t>
            </a:r>
          </a:p>
          <a:p>
            <a:pPr lvl="0">
              <a:defRPr/>
            </a:pPr>
            <a:r>
              <a:rPr lang="ko-KR" altLang="en-US" dirty="0"/>
              <a:t>이후 스캔 토폴로지에 따른 후보군에서 뽑은 특징 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0DB16B-A85C-EF6C-AC45-4B78E3969D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16A3BD86-B9C4-48BB-B1BA-5BDB10AF190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341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3F38A-D6A8-AB8C-619F-F7CAFAE01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ADCCB8-0F65-304F-3DF1-8BECCA8C1E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53B96C-B14F-7EA6-75AA-2F6BED3B05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성능 평가입니다</a:t>
            </a:r>
            <a:r>
              <a:rPr lang="en-US" altLang="ko-KR" dirty="0"/>
              <a:t>.</a:t>
            </a:r>
          </a:p>
          <a:p>
            <a:pPr lvl="0">
              <a:defRPr/>
            </a:pPr>
            <a:r>
              <a:rPr lang="ko-KR" altLang="en-US" dirty="0"/>
              <a:t>검증결과 실내 환경에서 </a:t>
            </a:r>
            <a:r>
              <a:rPr lang="en-US" altLang="ko-KR" dirty="0"/>
              <a:t>4</a:t>
            </a:r>
            <a:r>
              <a:rPr lang="ko-KR" altLang="en-US" dirty="0"/>
              <a:t>개의 수신부를 </a:t>
            </a:r>
            <a:r>
              <a:rPr lang="en-US" altLang="ko-KR" dirty="0"/>
              <a:t>5~10m </a:t>
            </a:r>
            <a:r>
              <a:rPr lang="ko-KR" altLang="en-US" dirty="0"/>
              <a:t>거리에 배치하여 획득한 데이터셋으로 검증을 하였고</a:t>
            </a:r>
            <a:r>
              <a:rPr lang="en-US" altLang="ko-KR" dirty="0"/>
              <a:t>.</a:t>
            </a:r>
          </a:p>
          <a:p>
            <a:pPr lvl="0">
              <a:defRPr/>
            </a:pPr>
            <a:r>
              <a:rPr lang="ko-KR" altLang="en-US" dirty="0"/>
              <a:t>결과는 표</a:t>
            </a:r>
            <a:r>
              <a:rPr lang="en-US" altLang="ko-KR" dirty="0"/>
              <a:t>1</a:t>
            </a:r>
            <a:r>
              <a:rPr lang="ko-KR" altLang="en-US" dirty="0"/>
              <a:t>과 같습니다</a:t>
            </a:r>
            <a:r>
              <a:rPr lang="en-US" altLang="ko-KR" dirty="0"/>
              <a:t>. </a:t>
            </a:r>
          </a:p>
          <a:p>
            <a:pPr lvl="0">
              <a:defRPr/>
            </a:pPr>
            <a:r>
              <a:rPr lang="ko-KR" altLang="en-US" dirty="0"/>
              <a:t>표</a:t>
            </a:r>
            <a:r>
              <a:rPr lang="en-US" altLang="ko-KR" dirty="0"/>
              <a:t>2</a:t>
            </a:r>
            <a:r>
              <a:rPr lang="ko-KR" altLang="en-US" dirty="0"/>
              <a:t>는 타 </a:t>
            </a:r>
            <a:r>
              <a:rPr lang="en-US" altLang="ko-KR" dirty="0"/>
              <a:t>MOT </a:t>
            </a:r>
            <a:r>
              <a:rPr lang="en-US" altLang="ko-KR" dirty="0" err="1"/>
              <a:t>Mehod</a:t>
            </a:r>
            <a:r>
              <a:rPr lang="ko-KR" altLang="en-US" dirty="0"/>
              <a:t>의 </a:t>
            </a:r>
            <a:r>
              <a:rPr lang="en-US" altLang="ko-KR" dirty="0"/>
              <a:t>MOTA </a:t>
            </a:r>
            <a:r>
              <a:rPr lang="ko-KR" altLang="en-US" dirty="0"/>
              <a:t>결과인데 </a:t>
            </a:r>
            <a:r>
              <a:rPr lang="en-US" altLang="ko-KR" dirty="0"/>
              <a:t>KITTI test set </a:t>
            </a:r>
            <a:r>
              <a:rPr lang="ko-KR" altLang="en-US" dirty="0" err="1"/>
              <a:t>에대한</a:t>
            </a:r>
            <a:r>
              <a:rPr lang="ko-KR" altLang="en-US" dirty="0"/>
              <a:t> 지표입니다</a:t>
            </a:r>
            <a:r>
              <a:rPr lang="en-US" altLang="ko-KR" dirty="0"/>
              <a:t>.</a:t>
            </a:r>
          </a:p>
          <a:p>
            <a:pPr lvl="0">
              <a:defRPr/>
            </a:pPr>
            <a:r>
              <a:rPr lang="en-US" altLang="ko-KR" dirty="0"/>
              <a:t>Kitti test set</a:t>
            </a:r>
            <a:r>
              <a:rPr lang="ko-KR" altLang="en-US" dirty="0"/>
              <a:t>은 자율주행 을 위한 데이터 셋입니다</a:t>
            </a:r>
            <a:r>
              <a:rPr lang="en-US" altLang="ko-KR" dirty="0"/>
              <a:t>.</a:t>
            </a:r>
          </a:p>
          <a:p>
            <a:pPr lvl="0">
              <a:defRPr/>
            </a:pPr>
            <a:r>
              <a:rPr lang="ko-KR" altLang="en-US" dirty="0"/>
              <a:t>저희가 제안하는 방식은 보다 </a:t>
            </a:r>
            <a:r>
              <a:rPr lang="ko-KR" altLang="en-US" dirty="0" err="1"/>
              <a:t>쉬운환경임에따라</a:t>
            </a:r>
            <a:r>
              <a:rPr lang="ko-KR" altLang="en-US" dirty="0"/>
              <a:t> 보다 높은 </a:t>
            </a:r>
            <a:r>
              <a:rPr lang="en-US" altLang="ko-KR" dirty="0"/>
              <a:t>MOTA </a:t>
            </a:r>
            <a:r>
              <a:rPr lang="ko-KR" altLang="en-US" dirty="0"/>
              <a:t>결과를 </a:t>
            </a:r>
            <a:r>
              <a:rPr lang="ko-KR" altLang="en-US" dirty="0" err="1"/>
              <a:t>얻은것을</a:t>
            </a:r>
            <a:r>
              <a:rPr lang="ko-KR" altLang="en-US" dirty="0"/>
              <a:t> 확인할 수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967140-1563-E5EF-78D3-13FB89C7DE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16A3BD86-B9C4-48BB-B1BA-5BDB10AF190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78876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E49DF-01A2-3A8D-39E5-07ED7E651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6C57C8A-A7A1-217A-3040-B2DEACE03FF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7AD4CE-825F-F676-AC87-5371D8E88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제안 기법을 검증하기 위한 결과표입니다</a:t>
            </a:r>
            <a:r>
              <a:rPr lang="en-US" altLang="ko-KR" dirty="0"/>
              <a:t>.</a:t>
            </a:r>
          </a:p>
          <a:p>
            <a:pPr lvl="0">
              <a:defRPr/>
            </a:pPr>
            <a:r>
              <a:rPr lang="ko-KR" altLang="en-US" dirty="0"/>
              <a:t>격자가 </a:t>
            </a:r>
            <a:r>
              <a:rPr lang="ko-KR" altLang="en-US" dirty="0" err="1"/>
              <a:t>미적용되거나</a:t>
            </a:r>
            <a:r>
              <a:rPr lang="ko-KR" altLang="en-US" dirty="0"/>
              <a:t> 조금 낮은 방식을 적용한 </a:t>
            </a:r>
            <a:r>
              <a:rPr lang="ko-KR" altLang="en-US" dirty="0" err="1"/>
              <a:t>결과를보면</a:t>
            </a:r>
            <a:r>
              <a:rPr lang="ko-KR" altLang="en-US" dirty="0"/>
              <a:t> </a:t>
            </a:r>
            <a:r>
              <a:rPr lang="en-US" altLang="ko-KR" dirty="0"/>
              <a:t>MOTA</a:t>
            </a:r>
            <a:r>
              <a:rPr lang="ko-KR" altLang="en-US" dirty="0"/>
              <a:t>가 매우 </a:t>
            </a:r>
            <a:r>
              <a:rPr lang="ko-KR" altLang="en-US" dirty="0" err="1"/>
              <a:t>높에</a:t>
            </a:r>
            <a:r>
              <a:rPr lang="ko-KR" altLang="en-US" dirty="0"/>
              <a:t> </a:t>
            </a:r>
            <a:r>
              <a:rPr lang="ko-KR" altLang="en-US" dirty="0" err="1"/>
              <a:t>나온것을</a:t>
            </a:r>
            <a:r>
              <a:rPr lang="ko-KR" altLang="en-US" dirty="0"/>
              <a:t> 확인할 </a:t>
            </a:r>
            <a:r>
              <a:rPr lang="ko-KR" altLang="en-US" dirty="0" err="1"/>
              <a:t>수있습니다</a:t>
            </a:r>
            <a:r>
              <a:rPr lang="en-US" altLang="ko-KR" dirty="0"/>
              <a:t>.</a:t>
            </a:r>
          </a:p>
          <a:p>
            <a:pPr lvl="0">
              <a:defRPr/>
            </a:pPr>
            <a:r>
              <a:rPr lang="ko-KR" altLang="en-US" dirty="0"/>
              <a:t>이는 격자 의 분류가 낮거나 </a:t>
            </a:r>
            <a:r>
              <a:rPr lang="ko-KR" altLang="en-US" dirty="0" err="1"/>
              <a:t>미적용으로인해</a:t>
            </a:r>
            <a:r>
              <a:rPr lang="ko-KR" altLang="en-US" dirty="0"/>
              <a:t> 객체의 정보부족으로 </a:t>
            </a:r>
            <a:r>
              <a:rPr lang="ko-KR" altLang="en-US" dirty="0" err="1"/>
              <a:t>서로다른</a:t>
            </a:r>
            <a:r>
              <a:rPr lang="ko-KR" altLang="en-US" dirty="0"/>
              <a:t> 객체를 구분하지 못하고 하나로 병합했기에 </a:t>
            </a:r>
            <a:r>
              <a:rPr lang="en-US" altLang="ko-KR" dirty="0"/>
              <a:t>ID SW</a:t>
            </a:r>
            <a:r>
              <a:rPr lang="ko-KR" altLang="en-US" dirty="0"/>
              <a:t> 값자체가 낮아 나온 결과입니다</a:t>
            </a:r>
            <a:r>
              <a:rPr lang="en-US" altLang="ko-KR" dirty="0"/>
              <a:t>. </a:t>
            </a:r>
            <a:r>
              <a:rPr lang="ko-KR" altLang="en-US" dirty="0"/>
              <a:t>이는 </a:t>
            </a:r>
            <a:r>
              <a:rPr lang="en-US" altLang="ko-KR" dirty="0"/>
              <a:t>ID Purity</a:t>
            </a:r>
            <a:r>
              <a:rPr lang="ko-KR" altLang="en-US" dirty="0"/>
              <a:t> 를 보시면 객체를 </a:t>
            </a:r>
            <a:r>
              <a:rPr lang="ko-KR" altLang="en-US" dirty="0" err="1"/>
              <a:t>구분하지못하고</a:t>
            </a:r>
            <a:r>
              <a:rPr lang="ko-KR" altLang="en-US" dirty="0"/>
              <a:t> 병합해버려 비교적 낮은 값들이 </a:t>
            </a:r>
            <a:r>
              <a:rPr lang="ko-KR" altLang="en-US" dirty="0" err="1"/>
              <a:t>나온것을</a:t>
            </a:r>
            <a:r>
              <a:rPr lang="ko-KR" altLang="en-US" dirty="0"/>
              <a:t> </a:t>
            </a:r>
            <a:r>
              <a:rPr lang="ko-KR" altLang="en-US" dirty="0" err="1"/>
              <a:t>확인할수</a:t>
            </a:r>
            <a:r>
              <a:rPr lang="ko-KR" altLang="en-US" dirty="0"/>
              <a:t> 있습니다</a:t>
            </a:r>
            <a:r>
              <a:rPr lang="en-US" altLang="ko-KR" dirty="0"/>
              <a:t>.</a:t>
            </a:r>
          </a:p>
          <a:p>
            <a:pPr lvl="0">
              <a:defRPr/>
            </a:pPr>
            <a:r>
              <a:rPr lang="ko-KR" altLang="en-US" dirty="0"/>
              <a:t>스캔 토폴로지 기반 후보군을 적용을 비교하면 격자 미적용시에는 </a:t>
            </a:r>
            <a:r>
              <a:rPr lang="en-US" altLang="ko-KR" dirty="0" err="1"/>
              <a:t>AssA</a:t>
            </a:r>
            <a:r>
              <a:rPr lang="en-US" altLang="ko-KR" dirty="0"/>
              <a:t> </a:t>
            </a:r>
            <a:r>
              <a:rPr lang="ko-KR" altLang="en-US" dirty="0"/>
              <a:t>값이 차이가 많이 </a:t>
            </a:r>
            <a:r>
              <a:rPr lang="ko-KR" altLang="en-US" dirty="0" err="1"/>
              <a:t>나지않지만</a:t>
            </a:r>
            <a:r>
              <a:rPr lang="ko-KR" altLang="en-US" dirty="0"/>
              <a:t> 이는 객체를 비교하지 못하여 </a:t>
            </a:r>
            <a:r>
              <a:rPr lang="ko-KR" altLang="en-US" dirty="0" err="1"/>
              <a:t>나온것이고</a:t>
            </a:r>
            <a:r>
              <a:rPr lang="en-US" altLang="ko-KR" dirty="0"/>
              <a:t>, </a:t>
            </a:r>
            <a:r>
              <a:rPr lang="ko-KR" altLang="en-US" dirty="0"/>
              <a:t>격자 적용시를 비교하면 </a:t>
            </a:r>
            <a:r>
              <a:rPr lang="en-US" altLang="ko-KR" dirty="0" err="1"/>
              <a:t>AssA</a:t>
            </a:r>
            <a:r>
              <a:rPr lang="en-US" altLang="ko-KR" dirty="0"/>
              <a:t> </a:t>
            </a:r>
            <a:r>
              <a:rPr lang="ko-KR" altLang="en-US" dirty="0"/>
              <a:t>값이 </a:t>
            </a:r>
            <a:r>
              <a:rPr lang="ko-KR" altLang="en-US" dirty="0" err="1"/>
              <a:t>오른것을</a:t>
            </a:r>
            <a:r>
              <a:rPr lang="ko-KR" altLang="en-US" dirty="0"/>
              <a:t> 확인할 수 있습니다</a:t>
            </a:r>
            <a:r>
              <a:rPr lang="en-US" altLang="ko-KR" dirty="0"/>
              <a:t>. </a:t>
            </a:r>
            <a:r>
              <a:rPr lang="ko-KR" altLang="en-US" dirty="0"/>
              <a:t>이는 동일하게 </a:t>
            </a:r>
            <a:r>
              <a:rPr lang="en-US" altLang="ko-KR" dirty="0"/>
              <a:t>5</a:t>
            </a:r>
            <a:r>
              <a:rPr lang="ko-KR" altLang="en-US" dirty="0"/>
              <a:t>개의 후보군을 비교를 했지만 스캔 토폴로지 기반 후보군이 보다 우수한 비교 후보군을 생성해 파편화를 </a:t>
            </a:r>
            <a:r>
              <a:rPr lang="ko-KR" altLang="en-US" dirty="0" err="1"/>
              <a:t>억제한것을</a:t>
            </a:r>
            <a:r>
              <a:rPr lang="ko-KR" altLang="en-US" dirty="0"/>
              <a:t> </a:t>
            </a:r>
            <a:r>
              <a:rPr lang="ko-KR" altLang="en-US" dirty="0" err="1"/>
              <a:t>확인할수있습니다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5C4F32-6817-57DB-9CD8-40FFDD1814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16A3BD86-B9C4-48BB-B1BA-5BDB10AF190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90761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0F6DF-B6C4-1E81-5BA7-4BB715A94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72DB92-0477-5303-2D97-6A66EE7BB5E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1F9338-5A55-7F70-BA2E-D985605D6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결론입니다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4F0B21-7815-F36F-F099-766ED581F5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16A3BD86-B9C4-48BB-B1BA-5BDB10AF1901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26356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D485D-E9FE-857B-EC58-5E9007CB6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336A9DB-FA96-AAC9-D608-30D1596DEB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DA60FC-0C69-A098-0239-8ADC5A77BB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감사합니다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2163B7-3C27-6E75-1A70-C9B8E462D1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A3BD86-B9C4-48BB-B1BA-5BDB10AF1901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8431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12956B-0C3C-852C-B055-5CB40CF2F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5754C56-0957-D194-C5B0-07C7E10354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F57B55-CDF9-992F-5783-0FF1F0B60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94891-C176-45C6-952F-6646066BB07A}" type="datetime1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4A30A4-C742-50C8-6379-D28E538AB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258673-A6DC-13D7-43FE-D07CFEF76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6947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81F0C6-987E-1AC2-64B4-1AF6D371E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C68E92-D2C2-F52D-B389-C1FEB1106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B59ABB-B485-D618-9EE9-2BC230D30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77154-35AB-4BEF-ABD2-72B454421146}" type="datetime1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1F0190-262E-2FD8-D981-3A8F1F1DE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70314E-3927-BEDC-4B85-CA1646881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0E7B-F47C-4B3B-8383-3274ED26F7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7622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6D1540-916B-07D3-C5AD-FB2255A23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179CCB-C75D-6A71-7763-0373C4535E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9F948A-8D46-AC36-3798-C7867AFA3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7E407-6B96-4B20-A56B-622FAA2C9F1E}" type="datetime1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4B05C6-0C2E-04C9-0174-EDECFBA4B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C6BC61-3008-89A8-FBC5-FDAF45F44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0E7B-F47C-4B3B-8383-3274ED26F72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2135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0AEDAA-618F-A914-0695-D2462BABB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EB0354-ADD3-8D1D-4EC6-61EE1B4AC9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B4AFE95-07F0-600C-1583-7E0A3E47F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6415E8-CA46-1B9B-76BE-DB60D312C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3554E-5C37-432E-B5B0-5F06A10FB84D}" type="datetime1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E15974F-127F-D9AB-D668-5FE433749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D50977-824B-4983-B3BA-A6FC671E0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0E7B-F47C-4B3B-8383-3274ED26F7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5897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596F08-003F-BF29-7BB0-A04944459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E57A8E-F1EA-34A6-E3CB-5FFEFDA1D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4F483E-9C2C-2094-3BB3-8125BC2F13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A06055-2830-8B4B-3413-5989B4F606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4D53929-2676-8200-7230-282F3D0C9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B4F5E7B-19FC-8175-C727-DF96B1FD9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B1258-8CD3-4C4C-96C6-E0292624AFA2}" type="datetime1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2214392-34B2-A6F2-3837-ADAD09F7C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B62D480-1EE2-B60F-C95A-8746614E0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0E7B-F47C-4B3B-8383-3274ED26F7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3085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1EEBC5-F9E3-5640-21CE-59A60C0D3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827D95B-6352-EA92-6B53-5D072EEEA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2ECE2-7E19-4C0D-9ADC-E9A8A6CBE1BB}" type="datetime1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EE7AC26-5A62-C72A-C7D6-B059660AF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54367A1-F668-0598-E448-87387E75A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0E7B-F47C-4B3B-8383-3274ED26F7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9F2DF15-AB9A-D820-AAEA-CBE25BE66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215E5-75A1-418B-B4F5-C9812F71A2DB}" type="datetime1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501B0F7-0F98-58AD-0342-CFE931846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DC5E35-2816-4483-AB2E-8E164C5F8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0E7B-F47C-4B3B-8383-3274ED26F7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825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A43CC7-64F7-D429-016C-99460E6CE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D2C9F9-4019-0DCA-3FFB-A3CA8BCDC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BEE260F-5013-2151-73C6-4F27BE9973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BFEC57-9F8A-F534-E927-6760AFDDD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24838-9398-4F49-8728-9E6AB80DF08A}" type="datetime1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240A817-99EC-1D59-75F4-809A7507C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72DF34A-476F-BF96-7311-6B4D8261E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0E7B-F47C-4B3B-8383-3274ED26F7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661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9C8B1A-417D-ADA8-1BEE-9BD38DEB2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EBF7120-5B97-82CC-155D-8213482E75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ACCB2D-97AB-5C53-6607-6731FE1F4A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153058-A4DF-1B66-6EB6-D8C8BEA0D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7F419-0948-4C2B-97E0-7038E3D15E60}" type="datetime1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84040E-C70B-BA68-2DB4-ABF9C53E6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248A0C-86E2-6D41-222B-572A197EA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0E7B-F47C-4B3B-8383-3274ED26F7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6747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99D14E-E543-F593-6CC1-BD6CC3559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60484E-5422-78B8-E877-0475FD5C69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BE8AF8-25D2-166A-D326-A86E382AC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84535-2B26-40AE-98B0-725BE7CC6FA8}" type="datetime1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CE361F-2780-AD8A-029E-27E33A367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1BA2F8-9DB4-FEDA-DD9F-9F0812A61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0E7B-F47C-4B3B-8383-3274ED26F7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3955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1F7A2B6-E224-0B8A-BDF1-59299E9F6B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BBF8073-A0B6-5B24-E943-A573014297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6A38AC-9DA6-7551-F085-B88249227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1038-2E04-4EFF-AFD3-D1E32DD6BF0A}" type="datetime1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015644-2DCD-2C0A-3480-77315DCF9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0B2EDC-778D-2E2A-6876-92D467604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0E7B-F47C-4B3B-8383-3274ED26F7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1416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FD7C59B-BBE3-61EA-2905-089A995DD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13C405-9A39-3549-2FC6-FBEC6ED2D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0BDCCC-6AB8-9DCE-19E0-776B6902A1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BB48B8-B1C4-4561-8293-340E4E89454A}" type="datetime1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8D623D-FDA4-EDC8-2100-0EC35EE673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F22241-4D0D-9BC7-9FBF-EC5586BFC3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8795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1974375-594D-C885-604A-829A29D597A8}"/>
              </a:ext>
            </a:extLst>
          </p:cNvPr>
          <p:cNvSpPr/>
          <p:nvPr/>
        </p:nvSpPr>
        <p:spPr>
          <a:xfrm>
            <a:off x="-9144" y="1316736"/>
            <a:ext cx="905256" cy="2559622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EC987450-0F83-E579-3FA6-46E1D8B169AD}"/>
              </a:ext>
            </a:extLst>
          </p:cNvPr>
          <p:cNvCxnSpPr>
            <a:cxnSpLocks/>
          </p:cNvCxnSpPr>
          <p:nvPr/>
        </p:nvCxnSpPr>
        <p:spPr>
          <a:xfrm>
            <a:off x="1395984" y="1316736"/>
            <a:ext cx="8681466" cy="0"/>
          </a:xfrm>
          <a:prstGeom prst="line">
            <a:avLst/>
          </a:prstGeom>
          <a:ln>
            <a:solidFill>
              <a:srgbClr val="589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258" y="1806599"/>
            <a:ext cx="1184376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4800" b="1" dirty="0" err="1">
                <a:latin typeface="HY헤드라인M"/>
                <a:ea typeface="HY헤드라인M"/>
              </a:rPr>
              <a:t>광무선</a:t>
            </a:r>
            <a:r>
              <a:rPr lang="ko-KR" altLang="en-US" sz="4800" b="1" dirty="0">
                <a:latin typeface="HY헤드라인M"/>
                <a:ea typeface="HY헤드라인M"/>
              </a:rPr>
              <a:t> 전력 전송을 위한 </a:t>
            </a:r>
            <a:r>
              <a:rPr lang="en-US" altLang="ko-KR" sz="4800" b="1" dirty="0">
                <a:latin typeface="HY헤드라인M"/>
                <a:ea typeface="HY헤드라인M"/>
              </a:rPr>
              <a:t>Pan-Tilt </a:t>
            </a:r>
            <a:r>
              <a:rPr lang="ko-KR" altLang="en-US" sz="4800" b="1" dirty="0">
                <a:latin typeface="HY헤드라인M"/>
                <a:ea typeface="HY헤드라인M"/>
              </a:rPr>
              <a:t>카메라</a:t>
            </a:r>
            <a:endParaRPr lang="en-US" altLang="ko-KR" sz="4800" b="1" dirty="0">
              <a:latin typeface="HY헤드라인M"/>
              <a:ea typeface="HY헤드라인M"/>
            </a:endParaRPr>
          </a:p>
          <a:p>
            <a:pPr lvl="0" algn="ctr">
              <a:defRPr/>
            </a:pPr>
            <a:r>
              <a:rPr lang="ko-KR" altLang="en-US" sz="4800" b="1" dirty="0">
                <a:latin typeface="HY헤드라인M"/>
                <a:ea typeface="HY헤드라인M"/>
              </a:rPr>
              <a:t>스캔 시스템에서 다중 객체 추적 기법</a:t>
            </a:r>
            <a:endParaRPr lang="en-US" altLang="ko-KR" sz="4800" b="1" dirty="0">
              <a:latin typeface="HY헤드라인M"/>
              <a:ea typeface="HY헤드라인M"/>
            </a:endParaRPr>
          </a:p>
        </p:txBody>
      </p:sp>
      <p:pic>
        <p:nvPicPr>
          <p:cNvPr id="2050" name="Picture 2" descr="한국산업기술대학교, 한국공학대학교로 교명 변경하고 비전 선포식 개최-아이씨엔매거진">
            <a:extLst>
              <a:ext uri="{FF2B5EF4-FFF2-40B4-BE49-F238E27FC236}">
                <a16:creationId xmlns:a16="http://schemas.microsoft.com/office/drawing/2014/main" id="{7E8C4C53-107D-6AFD-66B5-0628321DCF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5440" y="228601"/>
            <a:ext cx="2340864" cy="752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부제목 2">
            <a:extLst>
              <a:ext uri="{FF2B5EF4-FFF2-40B4-BE49-F238E27FC236}">
                <a16:creationId xmlns:a16="http://schemas.microsoft.com/office/drawing/2014/main" id="{1BB59771-5702-CD3B-1CE0-1CB4FE5082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60427"/>
            <a:ext cx="10052304" cy="2499360"/>
          </a:xfrm>
        </p:spPr>
        <p:txBody>
          <a:bodyPr>
            <a:noAutofit/>
          </a:bodyPr>
          <a:lstStyle/>
          <a:p>
            <a:pPr lvl="0">
              <a:defRPr/>
            </a:pPr>
            <a:r>
              <a:rPr lang="en-US" altLang="ko-KR" sz="2000" dirty="0">
                <a:solidFill>
                  <a:schemeClr val="tx1"/>
                </a:solidFill>
                <a:latin typeface="+mj-ea"/>
                <a:ea typeface="+mj-ea"/>
              </a:rPr>
              <a:t>2026-</a:t>
            </a:r>
            <a:r>
              <a:rPr lang="en-US" altLang="ko-KR" sz="2000" dirty="0">
                <a:latin typeface="+mj-ea"/>
                <a:ea typeface="+mj-ea"/>
              </a:rPr>
              <a:t>02</a:t>
            </a:r>
            <a:r>
              <a:rPr lang="en-US" altLang="ko-KR" sz="2000" dirty="0">
                <a:solidFill>
                  <a:schemeClr val="tx1"/>
                </a:solidFill>
                <a:latin typeface="+mj-ea"/>
                <a:ea typeface="+mj-ea"/>
              </a:rPr>
              <a:t>-06</a:t>
            </a:r>
          </a:p>
          <a:p>
            <a:pPr lvl="0">
              <a:defRPr/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이희준</a:t>
            </a:r>
            <a:r>
              <a:rPr lang="en-US" altLang="ko-KR" sz="20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2000" dirty="0" err="1">
                <a:solidFill>
                  <a:schemeClr val="tx1"/>
                </a:solidFill>
                <a:latin typeface="+mj-ea"/>
                <a:ea typeface="+mj-ea"/>
              </a:rPr>
              <a:t>빈경민</a:t>
            </a:r>
            <a:r>
              <a:rPr lang="en-US" altLang="ko-KR" sz="2000" dirty="0">
                <a:latin typeface="+mj-ea"/>
                <a:ea typeface="+mj-ea"/>
              </a:rPr>
              <a:t>,</a:t>
            </a:r>
            <a:r>
              <a:rPr lang="ko-KR" altLang="en-US" sz="2000" dirty="0">
                <a:latin typeface="+mj-ea"/>
                <a:ea typeface="+mj-ea"/>
              </a:rPr>
              <a:t> 김수민</a:t>
            </a:r>
            <a:r>
              <a:rPr lang="en-US" altLang="ko-KR" sz="2000" dirty="0">
                <a:latin typeface="+mj-ea"/>
                <a:ea typeface="+mj-ea"/>
              </a:rPr>
              <a:t>, </a:t>
            </a:r>
            <a:r>
              <a:rPr lang="ko-KR" altLang="en-US" sz="2000" dirty="0">
                <a:latin typeface="+mj-ea"/>
                <a:ea typeface="+mj-ea"/>
              </a:rPr>
              <a:t>김준수</a:t>
            </a:r>
            <a:r>
              <a:rPr lang="en-US" altLang="ko-KR" sz="2000" dirty="0">
                <a:latin typeface="+mj-ea"/>
                <a:ea typeface="+mj-ea"/>
              </a:rPr>
              <a:t>*</a:t>
            </a:r>
            <a:endParaRPr lang="ko-KR" altLang="en-US" sz="2000" dirty="0">
              <a:solidFill>
                <a:schemeClr val="tx1"/>
              </a:solidFill>
              <a:latin typeface="+mj-ea"/>
              <a:ea typeface="+mj-ea"/>
            </a:endParaRPr>
          </a:p>
          <a:p>
            <a:pPr lvl="0">
              <a:defRPr/>
            </a:pPr>
            <a:r>
              <a:rPr lang="en-US" altLang="ko-KR" sz="2000" dirty="0">
                <a:latin typeface="+mj-ea"/>
                <a:ea typeface="+mj-ea"/>
              </a:rPr>
              <a:t>gmlwns2279@tukorea.ac.kr</a:t>
            </a:r>
          </a:p>
          <a:p>
            <a:pPr lvl="0">
              <a:defRPr/>
            </a:pPr>
            <a:r>
              <a:rPr lang="en-US" altLang="ko-KR" sz="2000" b="0" i="0" dirty="0">
                <a:solidFill>
                  <a:schemeClr val="tx1"/>
                </a:solidFill>
                <a:effectLst/>
                <a:highlight>
                  <a:srgbClr val="FDFDFD"/>
                </a:highlight>
                <a:latin typeface="+mj-ea"/>
                <a:ea typeface="+mj-ea"/>
              </a:rPr>
              <a:t>Dept. of IT Semiconductor Convergence Engineering, TUK</a:t>
            </a:r>
          </a:p>
          <a:p>
            <a:pPr lvl="0">
              <a:defRPr/>
            </a:pPr>
            <a:r>
              <a:rPr lang="en-US" altLang="ko-KR" sz="2000" dirty="0">
                <a:latin typeface="+mj-ea"/>
                <a:ea typeface="+mj-ea"/>
              </a:rPr>
              <a:t>Intelligent Connected-Things (</a:t>
            </a:r>
            <a:r>
              <a:rPr lang="en-US" altLang="ko-KR" sz="2000" dirty="0" err="1">
                <a:latin typeface="+mj-ea"/>
                <a:ea typeface="+mj-ea"/>
              </a:rPr>
              <a:t>ICon</a:t>
            </a:r>
            <a:r>
              <a:rPr lang="en-US" altLang="ko-KR" sz="2000" dirty="0">
                <a:latin typeface="+mj-ea"/>
                <a:ea typeface="+mj-ea"/>
              </a:rPr>
              <a:t>) Lab</a:t>
            </a:r>
            <a:endParaRPr lang="ko-KR" altLang="en-US" sz="20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62756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19AB1-5937-4A93-42B2-264F29C35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4602F3-86E4-A78B-1F30-E8EE6DE15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19" y="-166143"/>
            <a:ext cx="5464968" cy="1559301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목차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A191C01-67E8-69D4-308D-766210AA90E9}"/>
              </a:ext>
            </a:extLst>
          </p:cNvPr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9D9254F-67F1-0CFD-2C9F-249CA34A201C}"/>
              </a:ext>
            </a:extLst>
          </p:cNvPr>
          <p:cNvSpPr/>
          <p:nvPr/>
        </p:nvSpPr>
        <p:spPr>
          <a:xfrm>
            <a:off x="-7816" y="918402"/>
            <a:ext cx="7870098" cy="78729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ko-KR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C5D144B-C5AD-17FC-A7A3-05A2B651F2A8}"/>
              </a:ext>
            </a:extLst>
          </p:cNvPr>
          <p:cNvSpPr/>
          <p:nvPr/>
        </p:nvSpPr>
        <p:spPr>
          <a:xfrm>
            <a:off x="-18472" y="6556432"/>
            <a:ext cx="12192000" cy="320040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19B14143-EB19-F3B3-392F-A89B10218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838" y="1148853"/>
            <a:ext cx="7419444" cy="533032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altLang="ko-KR" sz="1900" dirty="0"/>
              <a:t>     -</a:t>
            </a:r>
            <a:r>
              <a:rPr lang="en-US" altLang="ko-KR" dirty="0"/>
              <a:t> </a:t>
            </a:r>
            <a:r>
              <a:rPr lang="ko-KR" altLang="en-US" dirty="0"/>
              <a:t>서론</a:t>
            </a:r>
            <a:endParaRPr lang="en-US" altLang="ko-KR" dirty="0"/>
          </a:p>
          <a:p>
            <a:pPr marL="0" indent="0">
              <a:buNone/>
            </a:pPr>
            <a:endParaRPr lang="en-US" altLang="ko-KR" sz="1900" dirty="0"/>
          </a:p>
          <a:p>
            <a:pPr marL="0" indent="0">
              <a:buNone/>
            </a:pPr>
            <a:r>
              <a:rPr lang="en-US" altLang="ko-KR" sz="1900" dirty="0"/>
              <a:t>     </a:t>
            </a:r>
            <a:r>
              <a:rPr lang="en-US" altLang="ko-KR" sz="1900" spc="-100" dirty="0"/>
              <a:t>-</a:t>
            </a:r>
            <a:r>
              <a:rPr lang="en-US" altLang="ko-KR" spc="-100" dirty="0"/>
              <a:t> System</a:t>
            </a:r>
            <a:r>
              <a:rPr lang="ko-KR" altLang="en-US" spc="-100" dirty="0"/>
              <a:t> </a:t>
            </a:r>
            <a:r>
              <a:rPr lang="en-US" altLang="ko-KR" spc="-100" dirty="0"/>
              <a:t>model</a:t>
            </a:r>
          </a:p>
          <a:p>
            <a:pPr marL="0" indent="0">
              <a:buNone/>
            </a:pPr>
            <a:endParaRPr lang="en-US" altLang="ko-KR" sz="1900" dirty="0"/>
          </a:p>
          <a:p>
            <a:pPr marL="0" indent="0">
              <a:buNone/>
            </a:pPr>
            <a:r>
              <a:rPr lang="en-US" altLang="ko-KR" sz="1900" dirty="0"/>
              <a:t>     - </a:t>
            </a:r>
            <a:r>
              <a:rPr lang="ko-KR" altLang="en-US" spc="-100" dirty="0"/>
              <a:t>제안하는 기법</a:t>
            </a:r>
            <a:endParaRPr lang="en-US" altLang="ko-KR" spc="-100" dirty="0"/>
          </a:p>
          <a:p>
            <a:pPr marL="0" indent="0">
              <a:buNone/>
            </a:pPr>
            <a:r>
              <a:rPr lang="en-US" altLang="ko-KR" sz="1900" spc="-100" dirty="0"/>
              <a:t>        - </a:t>
            </a:r>
            <a:r>
              <a:rPr lang="ko-KR" altLang="en-US" sz="1900" spc="-100" dirty="0"/>
              <a:t>스캔 토폴로지 기반 인접 후보군 탐색 기법 </a:t>
            </a:r>
            <a:endParaRPr lang="en-US" altLang="ko-KR" sz="1900" spc="-100" dirty="0"/>
          </a:p>
          <a:p>
            <a:pPr marL="0" indent="0">
              <a:buNone/>
            </a:pPr>
            <a:r>
              <a:rPr lang="en-US" altLang="ko-KR" sz="1900" spc="-100" dirty="0"/>
              <a:t>        - </a:t>
            </a:r>
            <a:r>
              <a:rPr lang="ko-KR" altLang="en-US" sz="1900" spc="-100" dirty="0"/>
              <a:t>정보 보존형 격자 히스토그램 기법</a:t>
            </a:r>
            <a:endParaRPr lang="en-US" altLang="ko-KR" sz="1900" dirty="0"/>
          </a:p>
          <a:p>
            <a:pPr marL="0" indent="0">
              <a:buNone/>
            </a:pPr>
            <a:endParaRPr lang="en-US" altLang="ko-KR" sz="1900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7EEBF96-CDB4-E24D-1269-14A51CE91F0B}"/>
              </a:ext>
            </a:extLst>
          </p:cNvPr>
          <p:cNvSpPr txBox="1">
            <a:spLocks/>
          </p:cNvSpPr>
          <p:nvPr/>
        </p:nvSpPr>
        <p:spPr>
          <a:xfrm>
            <a:off x="6253856" y="399481"/>
            <a:ext cx="5356849" cy="53303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900" dirty="0"/>
              <a:t>     -</a:t>
            </a:r>
            <a:r>
              <a:rPr lang="en-US" altLang="ko-KR" dirty="0"/>
              <a:t> </a:t>
            </a:r>
            <a:r>
              <a:rPr lang="ko-KR" altLang="en-US" dirty="0"/>
              <a:t>성능평가</a:t>
            </a:r>
            <a:endParaRPr lang="en-US" altLang="ko-KR" dirty="0"/>
          </a:p>
          <a:p>
            <a:pPr marL="0" indent="0">
              <a:buNone/>
            </a:pPr>
            <a:endParaRPr lang="en-US" altLang="ko-KR" sz="1900" dirty="0"/>
          </a:p>
          <a:p>
            <a:pPr marL="0" indent="0">
              <a:buNone/>
            </a:pPr>
            <a:r>
              <a:rPr lang="en-US" altLang="ko-KR" sz="1900" dirty="0"/>
              <a:t>     -</a:t>
            </a:r>
            <a:r>
              <a:rPr lang="en-US" altLang="ko-KR" dirty="0"/>
              <a:t> </a:t>
            </a:r>
            <a:r>
              <a:rPr lang="ko-KR" altLang="en-US" dirty="0"/>
              <a:t>결론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62326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41693-F1E4-9D69-8F9B-E30AD3995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1BD532F2-F3F5-0DEC-0103-1A40DA7DBEF3}"/>
              </a:ext>
            </a:extLst>
          </p:cNvPr>
          <p:cNvSpPr/>
          <p:nvPr/>
        </p:nvSpPr>
        <p:spPr>
          <a:xfrm>
            <a:off x="0" y="0"/>
            <a:ext cx="12192000" cy="6530746"/>
          </a:xfrm>
          <a:prstGeom prst="rect">
            <a:avLst/>
          </a:prstGeom>
          <a:solidFill>
            <a:srgbClr val="EF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altLang="ko-KR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C416797-21AD-A9E3-E273-00F65C6EED0A}"/>
              </a:ext>
            </a:extLst>
          </p:cNvPr>
          <p:cNvSpPr/>
          <p:nvPr/>
        </p:nvSpPr>
        <p:spPr>
          <a:xfrm>
            <a:off x="210786" y="149472"/>
            <a:ext cx="277368" cy="539496"/>
          </a:xfrm>
          <a:prstGeom prst="rect">
            <a:avLst/>
          </a:prstGeom>
          <a:solidFill>
            <a:srgbClr val="89C1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3E54293-586D-A7BC-4D85-3FB1B5575A59}"/>
              </a:ext>
            </a:extLst>
          </p:cNvPr>
          <p:cNvSpPr/>
          <p:nvPr/>
        </p:nvSpPr>
        <p:spPr>
          <a:xfrm>
            <a:off x="305274" y="79368"/>
            <a:ext cx="5540634" cy="539496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서론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CE847E-33C4-7868-ECD4-25025C128E31}"/>
              </a:ext>
            </a:extLst>
          </p:cNvPr>
          <p:cNvSpPr txBox="1"/>
          <p:nvPr/>
        </p:nvSpPr>
        <p:spPr>
          <a:xfrm>
            <a:off x="369115" y="1442335"/>
            <a:ext cx="11563241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 b="1" dirty="0"/>
              <a:t>문제 정의</a:t>
            </a:r>
            <a:endParaRPr lang="en-US" altLang="ko-KR" sz="2000" b="1" dirty="0"/>
          </a:p>
          <a:p>
            <a:pPr lvl="1"/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 err="1"/>
              <a:t>광무선</a:t>
            </a:r>
            <a:r>
              <a:rPr lang="ko-KR" altLang="en-US" dirty="0"/>
              <a:t> 전력 전송</a:t>
            </a:r>
            <a:r>
              <a:rPr lang="en-US" altLang="ko-KR" dirty="0"/>
              <a:t>(OWPT)</a:t>
            </a:r>
            <a:r>
              <a:rPr lang="ko-KR" altLang="en-US" dirty="0"/>
              <a:t>시 </a:t>
            </a:r>
            <a:r>
              <a:rPr lang="ko-KR" altLang="en-US" b="1" dirty="0"/>
              <a:t>수신부의 정확한 위치 파악 </a:t>
            </a:r>
            <a:r>
              <a:rPr lang="ko-KR" altLang="en-US" dirty="0"/>
              <a:t>및 </a:t>
            </a:r>
            <a:r>
              <a:rPr lang="ko-KR" altLang="en-US" b="1" dirty="0"/>
              <a:t>지속적 추적</a:t>
            </a:r>
            <a:r>
              <a:rPr lang="ko-KR" altLang="en-US" dirty="0"/>
              <a:t> 필수</a:t>
            </a:r>
            <a:r>
              <a:rPr lang="en-US" altLang="ko-KR" dirty="0"/>
              <a:t>[1].</a:t>
            </a:r>
          </a:p>
          <a:p>
            <a:pPr marL="742950" lvl="1" indent="-285750">
              <a:buFontTx/>
              <a:buChar char="-"/>
            </a:pPr>
            <a:r>
              <a:rPr lang="ko-KR" altLang="en-US" dirty="0"/>
              <a:t>넓은 공간을 저비용으로 커버하기위한 </a:t>
            </a:r>
            <a:r>
              <a:rPr lang="en-US" altLang="ko-KR" b="1" dirty="0"/>
              <a:t>pan-tilt </a:t>
            </a:r>
            <a:r>
              <a:rPr lang="ko-KR" altLang="en-US" b="1" dirty="0"/>
              <a:t>카메라 </a:t>
            </a:r>
            <a:r>
              <a:rPr lang="ko-KR" altLang="en-US" dirty="0"/>
              <a:t>사용</a:t>
            </a:r>
            <a:r>
              <a:rPr lang="en-US" altLang="ko-KR" dirty="0"/>
              <a:t>[2].</a:t>
            </a:r>
          </a:p>
          <a:p>
            <a:pPr marL="742950" lvl="1" indent="-285750">
              <a:buFontTx/>
              <a:buChar char="-"/>
            </a:pPr>
            <a:r>
              <a:rPr lang="ko-KR" altLang="en-US" dirty="0"/>
              <a:t>넓은 영역 커버를 위해 </a:t>
            </a:r>
            <a:r>
              <a:rPr lang="en-US" altLang="ko-KR" dirty="0"/>
              <a:t>pan-tilt</a:t>
            </a:r>
            <a:r>
              <a:rPr lang="ko-KR" altLang="en-US" dirty="0"/>
              <a:t>를 높은 각도로 스캔 시</a:t>
            </a:r>
            <a:r>
              <a:rPr lang="en-US" altLang="ko-KR" dirty="0"/>
              <a:t>, </a:t>
            </a:r>
            <a:r>
              <a:rPr lang="ko-KR" altLang="en-US" dirty="0"/>
              <a:t>프레임 간 </a:t>
            </a:r>
            <a:r>
              <a:rPr lang="ko-KR" altLang="en-US" b="1" dirty="0"/>
              <a:t>타겟 위치가 불연속적으로 급변함</a:t>
            </a:r>
            <a:r>
              <a:rPr lang="en-US" altLang="ko-KR" dirty="0"/>
              <a:t>.</a:t>
            </a:r>
          </a:p>
          <a:p>
            <a:pPr marL="742950" lvl="1" indent="-285750">
              <a:buFontTx/>
              <a:buChar char="-"/>
            </a:pPr>
            <a:r>
              <a:rPr lang="ko-KR" altLang="en-US" dirty="0"/>
              <a:t>기존 다중 객체 추적 알고리즘</a:t>
            </a:r>
            <a:r>
              <a:rPr lang="en-US" altLang="ko-KR" dirty="0"/>
              <a:t>(</a:t>
            </a:r>
            <a:r>
              <a:rPr lang="en-US" altLang="ko-KR" b="1" dirty="0"/>
              <a:t>SORT</a:t>
            </a:r>
            <a:r>
              <a:rPr lang="en-US" altLang="ko-KR" dirty="0"/>
              <a:t>)</a:t>
            </a:r>
            <a:r>
              <a:rPr lang="ko-KR" altLang="en-US" dirty="0"/>
              <a:t>는 </a:t>
            </a:r>
            <a:r>
              <a:rPr lang="en-US" altLang="ko-KR" b="1" dirty="0" err="1"/>
              <a:t>IoU</a:t>
            </a:r>
            <a:r>
              <a:rPr lang="ko-KR" altLang="en-US" b="1" dirty="0"/>
              <a:t>기반 추적 알고리즘</a:t>
            </a:r>
            <a:r>
              <a:rPr lang="ko-KR" altLang="en-US" dirty="0"/>
              <a:t>이기에 본 시스템에서 추적을 실패함</a:t>
            </a:r>
            <a:r>
              <a:rPr lang="en-US" altLang="ko-KR" dirty="0"/>
              <a:t>[3].</a:t>
            </a:r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 b="1" dirty="0"/>
              <a:t>해결 방안</a:t>
            </a:r>
            <a:endParaRPr lang="en-US" altLang="ko-KR" sz="2000" b="1" dirty="0"/>
          </a:p>
          <a:p>
            <a:pPr lvl="1"/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b="1" dirty="0"/>
              <a:t>스캔 토폴로지 기반 인접 후보군 탐색 기법 </a:t>
            </a:r>
            <a:r>
              <a:rPr lang="en-US" altLang="ko-KR" dirty="0"/>
              <a:t>: </a:t>
            </a:r>
            <a:r>
              <a:rPr lang="ko-KR" altLang="en-US" dirty="0"/>
              <a:t>물리적 위치 대신 </a:t>
            </a:r>
            <a:r>
              <a:rPr lang="ko-KR" altLang="en-US" b="1" dirty="0"/>
              <a:t>스캔 경로의 논리적 인접성</a:t>
            </a:r>
            <a:r>
              <a:rPr lang="ko-KR" altLang="en-US" dirty="0"/>
              <a:t>을 활용한 후보군 탐색 기법 제안</a:t>
            </a:r>
            <a:r>
              <a:rPr lang="en-US" altLang="ko-KR" dirty="0"/>
              <a:t>.</a:t>
            </a:r>
          </a:p>
          <a:p>
            <a:pPr marL="742950" lvl="1" indent="-285750">
              <a:buFontTx/>
              <a:buChar char="-"/>
            </a:pPr>
            <a:r>
              <a:rPr lang="ko-KR" altLang="en-US" b="1" dirty="0"/>
              <a:t>정보 보존형 격자 히스토그램 기법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시점 변화 및 정보 보존에 강인하도록 </a:t>
            </a:r>
            <a:r>
              <a:rPr lang="ko-KR" altLang="en-US" b="1" dirty="0"/>
              <a:t>격자 분할 기반의 색상</a:t>
            </a:r>
            <a:r>
              <a:rPr lang="en-US" altLang="ko-KR" b="1" dirty="0"/>
              <a:t>/</a:t>
            </a:r>
            <a:r>
              <a:rPr lang="ko-KR" altLang="en-US" b="1" dirty="0"/>
              <a:t>형태 히스토그램 코사인 매칭 </a:t>
            </a:r>
            <a:r>
              <a:rPr lang="ko-KR" altLang="en-US" dirty="0"/>
              <a:t>적용</a:t>
            </a:r>
            <a:r>
              <a:rPr lang="en-US" altLang="ko-KR" dirty="0"/>
              <a:t>.</a:t>
            </a:r>
          </a:p>
          <a:p>
            <a:pPr lvl="1"/>
            <a:endParaRPr lang="en-US" altLang="ko-KR" sz="10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867DF4-8961-8FE4-FA58-27BC8EEDF227}"/>
              </a:ext>
            </a:extLst>
          </p:cNvPr>
          <p:cNvSpPr/>
          <p:nvPr/>
        </p:nvSpPr>
        <p:spPr>
          <a:xfrm>
            <a:off x="0" y="6494516"/>
            <a:ext cx="12192000" cy="369332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/>
              <a:t>[1] S. A. H. Mohsan, H. Qian, and H. Amjad, "A Comprehensive Review of Optical Wireless Power Transfer Technology," </a:t>
            </a:r>
            <a:r>
              <a:rPr lang="en-US" altLang="ko-KR" sz="800" i="1" dirty="0"/>
              <a:t>Frontiers of Information Technology &amp; Electronic Engineering</a:t>
            </a:r>
            <a:r>
              <a:rPr lang="en-US" altLang="ko-KR" sz="800" dirty="0"/>
              <a:t>, vol. 24, no. 6, pp. 767-800, June 2023.</a:t>
            </a:r>
          </a:p>
          <a:p>
            <a:r>
              <a:rPr lang="en-US" altLang="ko-KR" sz="800" dirty="0"/>
              <a:t>[2] H. J. Lee, G. M. Been, S. M. Kim, and J. Kim, “Pan-Tilt Camera Control with Pixel-Angle Mapping for Laser Energy Transfer”, in Proc. </a:t>
            </a:r>
            <a:r>
              <a:rPr lang="en-US" altLang="ko-KR" sz="800" i="1" dirty="0"/>
              <a:t>KICS Fall Conf.</a:t>
            </a:r>
            <a:r>
              <a:rPr lang="en-US" altLang="ko-KR" sz="800" dirty="0"/>
              <a:t>, Nov. 2025.</a:t>
            </a:r>
          </a:p>
          <a:p>
            <a:r>
              <a:rPr lang="en-US" altLang="ko-KR" sz="800" dirty="0"/>
              <a:t>[3] A. Bewley, Z. Ge, L. Ott, F. Ramos, and B. Upcroft, "Simple online and </a:t>
            </a:r>
            <a:r>
              <a:rPr lang="en-US" altLang="ko-KR" sz="800" dirty="0" err="1"/>
              <a:t>realtime</a:t>
            </a:r>
            <a:r>
              <a:rPr lang="en-US" altLang="ko-KR" sz="800" dirty="0"/>
              <a:t> tracking," in Proc. </a:t>
            </a:r>
            <a:r>
              <a:rPr lang="en-US" altLang="ko-KR" sz="800" i="1" dirty="0"/>
              <a:t>IEEE ICIP</a:t>
            </a:r>
            <a:r>
              <a:rPr lang="en-US" altLang="ko-KR" sz="800" dirty="0"/>
              <a:t>, Sep. 2016.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EC7AFE-6E91-FEA1-00BF-6278A8B73CE7}"/>
              </a:ext>
            </a:extLst>
          </p:cNvPr>
          <p:cNvSpPr txBox="1"/>
          <p:nvPr/>
        </p:nvSpPr>
        <p:spPr>
          <a:xfrm>
            <a:off x="11893721" y="6506100"/>
            <a:ext cx="259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6031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A1635-3677-B2D2-D9F7-686D4A946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5AB4DC90-3E50-5D1C-C691-2F622E22B76F}"/>
              </a:ext>
            </a:extLst>
          </p:cNvPr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r">
              <a:defRPr/>
            </a:pPr>
            <a:r>
              <a:rPr lang="en-US" altLang="ko-KR" dirty="0"/>
              <a:t>2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C76EA80-D6AF-6A80-7208-02E2541027BA}"/>
              </a:ext>
            </a:extLst>
          </p:cNvPr>
          <p:cNvSpPr/>
          <p:nvPr/>
        </p:nvSpPr>
        <p:spPr>
          <a:xfrm>
            <a:off x="0" y="0"/>
            <a:ext cx="12192000" cy="6537960"/>
          </a:xfrm>
          <a:prstGeom prst="rect">
            <a:avLst/>
          </a:prstGeom>
          <a:solidFill>
            <a:srgbClr val="EF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 dirty="0">
              <a:solidFill>
                <a:schemeClr val="tx1"/>
              </a:solidFill>
              <a:latin typeface="HY헤드라인M"/>
              <a:ea typeface="HY헤드라인M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A1EDCD2-28E1-4B7E-D3A0-DCB529DDA152}"/>
              </a:ext>
            </a:extLst>
          </p:cNvPr>
          <p:cNvSpPr/>
          <p:nvPr/>
        </p:nvSpPr>
        <p:spPr>
          <a:xfrm>
            <a:off x="210786" y="149472"/>
            <a:ext cx="277368" cy="539496"/>
          </a:xfrm>
          <a:prstGeom prst="rect">
            <a:avLst/>
          </a:prstGeom>
          <a:solidFill>
            <a:srgbClr val="89C1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46BC598-2E37-B951-389D-A5F9C78F1D17}"/>
              </a:ext>
            </a:extLst>
          </p:cNvPr>
          <p:cNvSpPr/>
          <p:nvPr/>
        </p:nvSpPr>
        <p:spPr>
          <a:xfrm>
            <a:off x="305274" y="79368"/>
            <a:ext cx="5540634" cy="539496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dirty="0">
                <a:solidFill>
                  <a:schemeClr val="tx1"/>
                </a:solidFill>
                <a:latin typeface="HY헤드라인M"/>
                <a:ea typeface="HY헤드라인M"/>
              </a:rPr>
              <a:t>System model</a:t>
            </a:r>
          </a:p>
        </p:txBody>
      </p:sp>
      <p:sp>
        <p:nvSpPr>
          <p:cNvPr id="4" name="AutoShape 6">
            <a:extLst>
              <a:ext uri="{FF2B5EF4-FFF2-40B4-BE49-F238E27FC236}">
                <a16:creationId xmlns:a16="http://schemas.microsoft.com/office/drawing/2014/main" id="{DC94B238-78B9-8440-9A0D-2E3D0C7935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5591" y="1348201"/>
            <a:ext cx="667702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EEE0E5-31A3-A749-DD0D-C8F0B29142D5}"/>
              </a:ext>
            </a:extLst>
          </p:cNvPr>
          <p:cNvSpPr txBox="1"/>
          <p:nvPr/>
        </p:nvSpPr>
        <p:spPr>
          <a:xfrm>
            <a:off x="369116" y="729337"/>
            <a:ext cx="8920028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/>
              <a:t>송신부</a:t>
            </a:r>
            <a:endParaRPr lang="en-US" altLang="ko-KR" sz="2000" b="1" dirty="0"/>
          </a:p>
          <a:p>
            <a:endParaRPr lang="en-US" altLang="ko-K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b="1" dirty="0"/>
              <a:t>Pan-tilt</a:t>
            </a:r>
            <a:r>
              <a:rPr lang="en-US" altLang="ko-KR" sz="2000" dirty="0"/>
              <a:t> </a:t>
            </a:r>
            <a:r>
              <a:rPr lang="ko-KR" altLang="en-US" sz="2000" dirty="0" err="1"/>
              <a:t>구동부</a:t>
            </a:r>
            <a:r>
              <a:rPr lang="en-US" altLang="ko-KR" sz="2000" dirty="0"/>
              <a:t>, RGB </a:t>
            </a:r>
            <a:r>
              <a:rPr lang="ko-KR" altLang="en-US" sz="2000" b="1" dirty="0"/>
              <a:t>카메라</a:t>
            </a:r>
            <a:r>
              <a:rPr lang="en-US" altLang="ko-KR" sz="2000" dirty="0"/>
              <a:t>, </a:t>
            </a:r>
            <a:r>
              <a:rPr lang="en-US" altLang="ko-KR" sz="2000" b="1" dirty="0"/>
              <a:t>LED</a:t>
            </a:r>
            <a:r>
              <a:rPr lang="en-US" altLang="ko-KR" sz="2000" dirty="0"/>
              <a:t> </a:t>
            </a:r>
            <a:r>
              <a:rPr lang="ko-KR" altLang="en-US" sz="2000" dirty="0"/>
              <a:t>모듈</a:t>
            </a:r>
            <a:r>
              <a:rPr lang="en-US" altLang="ko-KR" sz="2000" dirty="0"/>
              <a:t>, </a:t>
            </a:r>
            <a:r>
              <a:rPr lang="ko-KR" altLang="en-US" sz="2000" b="1" dirty="0"/>
              <a:t>레이저</a:t>
            </a:r>
            <a:r>
              <a:rPr lang="ko-KR" altLang="en-US" sz="2000" dirty="0"/>
              <a:t> 모듈 로 구성</a:t>
            </a:r>
            <a:r>
              <a:rPr lang="en-US" altLang="ko-KR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b="1" dirty="0"/>
              <a:t>Boustrophedon </a:t>
            </a:r>
            <a:r>
              <a:rPr lang="ko-KR" altLang="en-US" sz="2000" b="1" dirty="0"/>
              <a:t>패턴</a:t>
            </a:r>
            <a:r>
              <a:rPr lang="ko-KR" altLang="en-US" sz="2000" dirty="0"/>
              <a:t>을 따라 </a:t>
            </a:r>
            <a:r>
              <a:rPr lang="en-US" altLang="ko-KR" sz="2000" dirty="0"/>
              <a:t>15° </a:t>
            </a:r>
            <a:r>
              <a:rPr lang="ko-KR" altLang="en-US" sz="2000" dirty="0"/>
              <a:t>의 간격 으로 스캔 진행</a:t>
            </a:r>
            <a:r>
              <a:rPr lang="en-US" altLang="ko-KR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r>
              <a:rPr lang="ko-KR" altLang="en-US" sz="2000" b="1" dirty="0" err="1"/>
              <a:t>수신부</a:t>
            </a:r>
            <a:endParaRPr lang="en-US" altLang="ko-KR" sz="2000" b="1" dirty="0"/>
          </a:p>
          <a:p>
            <a:endParaRPr lang="en-US" altLang="ko-KR" sz="2000" b="1" dirty="0"/>
          </a:p>
          <a:p>
            <a:endParaRPr lang="en-US" altLang="ko-KR" sz="5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/>
              <a:t>인식을 위한 빨간색 </a:t>
            </a:r>
            <a:r>
              <a:rPr lang="ko-KR" altLang="en-US" sz="2000" b="1" dirty="0"/>
              <a:t>재귀반사필름</a:t>
            </a:r>
            <a:r>
              <a:rPr lang="en-US" altLang="ko-KR" sz="2000" dirty="0"/>
              <a:t>, </a:t>
            </a:r>
            <a:r>
              <a:rPr lang="ko-KR" altLang="en-US" sz="2000" dirty="0"/>
              <a:t>에너지 변환을 위한 </a:t>
            </a:r>
            <a:r>
              <a:rPr lang="en-US" altLang="ko-KR" sz="2000" b="1" dirty="0"/>
              <a:t>Solar cell </a:t>
            </a:r>
            <a:r>
              <a:rPr lang="ko-KR" altLang="en-US" sz="2000" dirty="0"/>
              <a:t>로 구성</a:t>
            </a:r>
            <a:r>
              <a:rPr lang="en-US" altLang="ko-KR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/>
              <a:t>송신부로 </a:t>
            </a:r>
            <a:r>
              <a:rPr lang="ko-KR" altLang="en-US" sz="2000" dirty="0" err="1"/>
              <a:t>부터</a:t>
            </a:r>
            <a:r>
              <a:rPr lang="ko-KR" altLang="en-US" sz="2000" dirty="0"/>
              <a:t> </a:t>
            </a:r>
            <a:r>
              <a:rPr lang="en-US" altLang="ko-KR" sz="2000" dirty="0"/>
              <a:t>5~10 m </a:t>
            </a:r>
            <a:r>
              <a:rPr lang="ko-KR" altLang="en-US" sz="2000" dirty="0"/>
              <a:t>거리내에 </a:t>
            </a:r>
            <a:r>
              <a:rPr lang="en-US" altLang="ko-KR" sz="2000" dirty="0"/>
              <a:t>4</a:t>
            </a:r>
            <a:r>
              <a:rPr lang="ko-KR" altLang="en-US" sz="2000" dirty="0"/>
              <a:t>개 무작위 배치</a:t>
            </a:r>
            <a:r>
              <a:rPr lang="en-US" altLang="ko-KR" sz="2000" dirty="0"/>
              <a:t>.</a:t>
            </a:r>
          </a:p>
          <a:p>
            <a:endParaRPr lang="en-US" altLang="ko-KR" sz="2000" dirty="0"/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FFB4E814-5468-1CAF-E5EB-C4AF787B2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1387" y="242887"/>
            <a:ext cx="2136940" cy="2582065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6EDD0A9D-58FF-F885-8266-3147F4E24E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1387" y="3268980"/>
            <a:ext cx="2136940" cy="2766060"/>
          </a:xfrm>
          <a:prstGeom prst="rect">
            <a:avLst/>
          </a:prstGeom>
        </p:spPr>
      </p:pic>
      <p:pic>
        <p:nvPicPr>
          <p:cNvPr id="43" name="Picture 1">
            <a:extLst>
              <a:ext uri="{FF2B5EF4-FFF2-40B4-BE49-F238E27FC236}">
                <a16:creationId xmlns:a16="http://schemas.microsoft.com/office/drawing/2014/main" id="{65C1798D-21CD-03BA-C4BD-F8E047ABA6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1470" y="3966797"/>
            <a:ext cx="3715657" cy="218576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C0B2EC89-623F-220E-4C57-4B3B55FD0C22}"/>
              </a:ext>
            </a:extLst>
          </p:cNvPr>
          <p:cNvSpPr txBox="1"/>
          <p:nvPr/>
        </p:nvSpPr>
        <p:spPr>
          <a:xfrm>
            <a:off x="9695236" y="2862300"/>
            <a:ext cx="2023091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그림 </a:t>
            </a:r>
            <a:r>
              <a:rPr lang="en-US" altLang="ko-KR" b="1" dirty="0"/>
              <a:t>1. </a:t>
            </a:r>
            <a:r>
              <a:rPr lang="ko-KR" altLang="en-US" b="1" dirty="0" err="1"/>
              <a:t>송신부</a:t>
            </a:r>
            <a:endParaRPr lang="ko-KR" altLang="en-US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306B591-F111-78E8-453D-C46DE2D40E09}"/>
              </a:ext>
            </a:extLst>
          </p:cNvPr>
          <p:cNvSpPr txBox="1"/>
          <p:nvPr/>
        </p:nvSpPr>
        <p:spPr>
          <a:xfrm>
            <a:off x="9695236" y="6072388"/>
            <a:ext cx="2023091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그림 </a:t>
            </a:r>
            <a:r>
              <a:rPr lang="en-US" altLang="ko-KR" b="1" dirty="0"/>
              <a:t>2. </a:t>
            </a:r>
            <a:r>
              <a:rPr lang="ko-KR" altLang="en-US" b="1" dirty="0" err="1"/>
              <a:t>수신부</a:t>
            </a:r>
            <a:endParaRPr lang="ko-KR" altLang="en-US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1344D28-83CA-FD71-BB46-765651547A8F}"/>
              </a:ext>
            </a:extLst>
          </p:cNvPr>
          <p:cNvSpPr txBox="1"/>
          <p:nvPr/>
        </p:nvSpPr>
        <p:spPr>
          <a:xfrm>
            <a:off x="4183073" y="6157295"/>
            <a:ext cx="2472453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그림 </a:t>
            </a:r>
            <a:r>
              <a:rPr lang="en-US" altLang="ko-KR" b="1" dirty="0"/>
              <a:t>3. </a:t>
            </a:r>
            <a:r>
              <a:rPr lang="ko-KR" altLang="en-US" b="1" dirty="0"/>
              <a:t>시스템 모델</a:t>
            </a:r>
          </a:p>
        </p:txBody>
      </p:sp>
    </p:spTree>
    <p:extLst>
      <p:ext uri="{BB962C8B-B14F-4D97-AF65-F5344CB8AC3E}">
        <p14:creationId xmlns:p14="http://schemas.microsoft.com/office/powerpoint/2010/main" val="2606499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61A03-DD26-A9D4-D6E2-D772259A8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84DF0BC8-EA08-0ED0-D7D8-4CA9CFF1FC87}"/>
              </a:ext>
            </a:extLst>
          </p:cNvPr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r">
              <a:defRPr/>
            </a:pPr>
            <a:r>
              <a:rPr lang="en-US" altLang="ko-KR" dirty="0"/>
              <a:t>3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065B2B3-E247-7CC5-D17E-E4ACC2DC2BCF}"/>
              </a:ext>
            </a:extLst>
          </p:cNvPr>
          <p:cNvSpPr/>
          <p:nvPr/>
        </p:nvSpPr>
        <p:spPr>
          <a:xfrm>
            <a:off x="-7882" y="0"/>
            <a:ext cx="12230704" cy="6537960"/>
          </a:xfrm>
          <a:prstGeom prst="rect">
            <a:avLst/>
          </a:prstGeom>
          <a:solidFill>
            <a:srgbClr val="EF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 dirty="0">
              <a:solidFill>
                <a:schemeClr val="tx1"/>
              </a:solidFill>
              <a:latin typeface="HY헤드라인M"/>
              <a:ea typeface="HY헤드라인M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9A9143C-9EA2-DB96-E376-71F2AB6C935B}"/>
              </a:ext>
            </a:extLst>
          </p:cNvPr>
          <p:cNvSpPr/>
          <p:nvPr/>
        </p:nvSpPr>
        <p:spPr>
          <a:xfrm>
            <a:off x="210786" y="149472"/>
            <a:ext cx="277368" cy="539496"/>
          </a:xfrm>
          <a:prstGeom prst="rect">
            <a:avLst/>
          </a:prstGeom>
          <a:solidFill>
            <a:srgbClr val="89C1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86FFF9B-FB13-5FB7-5918-D6C4AD950810}"/>
              </a:ext>
            </a:extLst>
          </p:cNvPr>
          <p:cNvSpPr/>
          <p:nvPr/>
        </p:nvSpPr>
        <p:spPr>
          <a:xfrm>
            <a:off x="305274" y="79368"/>
            <a:ext cx="5540634" cy="539496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chemeClr val="tx1"/>
                </a:solidFill>
                <a:latin typeface="HY헤드라인M"/>
                <a:ea typeface="HY헤드라인M"/>
              </a:rPr>
              <a:t>스캔 토폴로지 기반 인접 후보군 탐색 기법</a:t>
            </a:r>
            <a:endParaRPr lang="en-US" altLang="ko-KR" dirty="0">
              <a:solidFill>
                <a:schemeClr val="tx1"/>
              </a:solidFill>
              <a:latin typeface="HY헤드라인M"/>
              <a:ea typeface="HY헤드라인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표 1">
                <a:extLst>
                  <a:ext uri="{FF2B5EF4-FFF2-40B4-BE49-F238E27FC236}">
                    <a16:creationId xmlns:a16="http://schemas.microsoft.com/office/drawing/2014/main" id="{9A6418EB-541A-977E-D651-895F42BB37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2835618"/>
                  </p:ext>
                </p:extLst>
              </p:nvPr>
            </p:nvGraphicFramePr>
            <p:xfrm>
              <a:off x="6813551" y="3535406"/>
              <a:ext cx="4811037" cy="22250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87291">
                      <a:extLst>
                        <a:ext uri="{9D8B030D-6E8A-4147-A177-3AD203B41FA5}">
                          <a16:colId xmlns:a16="http://schemas.microsoft.com/office/drawing/2014/main" val="394826141"/>
                        </a:ext>
                      </a:extLst>
                    </a:gridCol>
                    <a:gridCol w="687291">
                      <a:extLst>
                        <a:ext uri="{9D8B030D-6E8A-4147-A177-3AD203B41FA5}">
                          <a16:colId xmlns:a16="http://schemas.microsoft.com/office/drawing/2014/main" val="2774707939"/>
                        </a:ext>
                      </a:extLst>
                    </a:gridCol>
                    <a:gridCol w="687291">
                      <a:extLst>
                        <a:ext uri="{9D8B030D-6E8A-4147-A177-3AD203B41FA5}">
                          <a16:colId xmlns:a16="http://schemas.microsoft.com/office/drawing/2014/main" val="1338010762"/>
                        </a:ext>
                      </a:extLst>
                    </a:gridCol>
                    <a:gridCol w="687291">
                      <a:extLst>
                        <a:ext uri="{9D8B030D-6E8A-4147-A177-3AD203B41FA5}">
                          <a16:colId xmlns:a16="http://schemas.microsoft.com/office/drawing/2014/main" val="1238341683"/>
                        </a:ext>
                      </a:extLst>
                    </a:gridCol>
                    <a:gridCol w="687291">
                      <a:extLst>
                        <a:ext uri="{9D8B030D-6E8A-4147-A177-3AD203B41FA5}">
                          <a16:colId xmlns:a16="http://schemas.microsoft.com/office/drawing/2014/main" val="578395297"/>
                        </a:ext>
                      </a:extLst>
                    </a:gridCol>
                    <a:gridCol w="687291">
                      <a:extLst>
                        <a:ext uri="{9D8B030D-6E8A-4147-A177-3AD203B41FA5}">
                          <a16:colId xmlns:a16="http://schemas.microsoft.com/office/drawing/2014/main" val="3942528331"/>
                        </a:ext>
                      </a:extLst>
                    </a:gridCol>
                    <a:gridCol w="687291">
                      <a:extLst>
                        <a:ext uri="{9D8B030D-6E8A-4147-A177-3AD203B41FA5}">
                          <a16:colId xmlns:a16="http://schemas.microsoft.com/office/drawing/2014/main" val="325673263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341047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496845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875497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80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800" i="1" dirty="0">
                                        <a:latin typeface="Cambria Math" panose="02040503050406030204" pitchFamily="18" charset="0"/>
                                      </a:rPr>
                                      <m:t>Pan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800" i="1" dirty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  <m:r>
                                      <a:rPr lang="en-US" altLang="ko-KR" sz="800" b="0" i="1" dirty="0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  <m:r>
                                  <a:rPr lang="en-US" altLang="ko-KR" sz="800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sz="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800" i="1" dirty="0">
                                        <a:latin typeface="Cambria Math" panose="02040503050406030204" pitchFamily="18" charset="0"/>
                                      </a:rPr>
                                      <m:t>Tilt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800" i="1" dirty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b>
                                </m:sSub>
                                <m:r>
                                  <a:rPr lang="en-US" altLang="ko-KR" sz="800" i="1" dirty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800" dirty="0"/>
                        </a:p>
                      </a:txBody>
                      <a:tcPr anchor="ctr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80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800" i="1" dirty="0">
                                        <a:latin typeface="Cambria Math" panose="02040503050406030204" pitchFamily="18" charset="0"/>
                                      </a:rPr>
                                      <m:t>Pan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800" i="1" dirty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  <m:r>
                                      <a:rPr lang="en-US" altLang="ko-KR" sz="800" b="0" i="1" dirty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en-US" altLang="ko-KR" sz="800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sz="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800" i="1" dirty="0">
                                        <a:latin typeface="Cambria Math" panose="02040503050406030204" pitchFamily="18" charset="0"/>
                                      </a:rPr>
                                      <m:t>Tilt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800" i="1" dirty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b>
                                </m:sSub>
                                <m:r>
                                  <a:rPr lang="en-US" altLang="ko-KR" sz="800" i="1" dirty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800" dirty="0"/>
                        </a:p>
                      </a:txBody>
                      <a:tcPr anchor="ctr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ko-KR" sz="80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800" i="1" dirty="0">
                                        <a:latin typeface="Cambria Math" panose="02040503050406030204" pitchFamily="18" charset="0"/>
                                      </a:rPr>
                                      <m:t>Pan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800" i="1" dirty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b>
                                </m:sSub>
                                <m:r>
                                  <a:rPr lang="en-US" altLang="ko-KR" sz="800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sz="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800" i="1" dirty="0">
                                        <a:latin typeface="Cambria Math" panose="02040503050406030204" pitchFamily="18" charset="0"/>
                                      </a:rPr>
                                      <m:t>Tilt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800" i="1" dirty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b>
                                </m:sSub>
                                <m:r>
                                  <a:rPr lang="en-US" altLang="ko-KR" sz="800" i="1" dirty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856565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80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800" i="1" dirty="0">
                                        <a:latin typeface="Cambria Math" panose="02040503050406030204" pitchFamily="18" charset="0"/>
                                      </a:rPr>
                                      <m:t>Pan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800" i="1" dirty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  <m:r>
                                      <a:rPr lang="en-US" altLang="ko-KR" sz="800" b="0" i="1" dirty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en-US" altLang="ko-KR" sz="800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sz="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800" i="1" dirty="0">
                                        <a:latin typeface="Cambria Math" panose="02040503050406030204" pitchFamily="18" charset="0"/>
                                      </a:rPr>
                                      <m:t>Tilt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800" i="1" dirty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  <m:r>
                                      <a:rPr lang="en-US" altLang="ko-KR" sz="800" b="0" i="1" dirty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en-US" altLang="ko-KR" sz="800" i="1" dirty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800" dirty="0"/>
                        </a:p>
                      </a:txBody>
                      <a:tcPr anchor="ctr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80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800" i="1" dirty="0">
                                        <a:latin typeface="Cambria Math" panose="02040503050406030204" pitchFamily="18" charset="0"/>
                                      </a:rPr>
                                      <m:t>Pan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800" i="1" dirty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b>
                                </m:sSub>
                                <m:r>
                                  <a:rPr lang="en-US" altLang="ko-KR" sz="800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sz="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800" i="1" dirty="0">
                                        <a:latin typeface="Cambria Math" panose="02040503050406030204" pitchFamily="18" charset="0"/>
                                      </a:rPr>
                                      <m:t>Tilt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800" i="1" dirty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  <m:r>
                                      <a:rPr lang="en-US" altLang="ko-KR" sz="800" b="0" i="1" dirty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en-US" altLang="ko-KR" sz="800" i="1" dirty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800" dirty="0"/>
                        </a:p>
                      </a:txBody>
                      <a:tcPr anchor="ctr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80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800" i="1" dirty="0">
                                        <a:latin typeface="Cambria Math" panose="02040503050406030204" pitchFamily="18" charset="0"/>
                                      </a:rPr>
                                      <m:t>Pan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800" i="1" dirty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  <m:r>
                                      <a:rPr lang="en-US" altLang="ko-KR" sz="800" b="0" i="1" dirty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800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sz="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800" i="1" dirty="0">
                                        <a:latin typeface="Cambria Math" panose="02040503050406030204" pitchFamily="18" charset="0"/>
                                      </a:rPr>
                                      <m:t>Tilt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800" i="1" dirty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b>
                                </m:sSub>
                                <m:r>
                                  <a:rPr lang="en-US" altLang="ko-KR" sz="800" i="1" dirty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800" dirty="0"/>
                        </a:p>
                      </a:txBody>
                      <a:tcPr anchor="ctr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633400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317023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표 1">
                <a:extLst>
                  <a:ext uri="{FF2B5EF4-FFF2-40B4-BE49-F238E27FC236}">
                    <a16:creationId xmlns:a16="http://schemas.microsoft.com/office/drawing/2014/main" id="{9A6418EB-541A-977E-D651-895F42BB37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2835618"/>
                  </p:ext>
                </p:extLst>
              </p:nvPr>
            </p:nvGraphicFramePr>
            <p:xfrm>
              <a:off x="6813551" y="3535406"/>
              <a:ext cx="4811037" cy="22250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87291">
                      <a:extLst>
                        <a:ext uri="{9D8B030D-6E8A-4147-A177-3AD203B41FA5}">
                          <a16:colId xmlns:a16="http://schemas.microsoft.com/office/drawing/2014/main" val="394826141"/>
                        </a:ext>
                      </a:extLst>
                    </a:gridCol>
                    <a:gridCol w="687291">
                      <a:extLst>
                        <a:ext uri="{9D8B030D-6E8A-4147-A177-3AD203B41FA5}">
                          <a16:colId xmlns:a16="http://schemas.microsoft.com/office/drawing/2014/main" val="2774707939"/>
                        </a:ext>
                      </a:extLst>
                    </a:gridCol>
                    <a:gridCol w="687291">
                      <a:extLst>
                        <a:ext uri="{9D8B030D-6E8A-4147-A177-3AD203B41FA5}">
                          <a16:colId xmlns:a16="http://schemas.microsoft.com/office/drawing/2014/main" val="1338010762"/>
                        </a:ext>
                      </a:extLst>
                    </a:gridCol>
                    <a:gridCol w="687291">
                      <a:extLst>
                        <a:ext uri="{9D8B030D-6E8A-4147-A177-3AD203B41FA5}">
                          <a16:colId xmlns:a16="http://schemas.microsoft.com/office/drawing/2014/main" val="1238341683"/>
                        </a:ext>
                      </a:extLst>
                    </a:gridCol>
                    <a:gridCol w="687291">
                      <a:extLst>
                        <a:ext uri="{9D8B030D-6E8A-4147-A177-3AD203B41FA5}">
                          <a16:colId xmlns:a16="http://schemas.microsoft.com/office/drawing/2014/main" val="578395297"/>
                        </a:ext>
                      </a:extLst>
                    </a:gridCol>
                    <a:gridCol w="687291">
                      <a:extLst>
                        <a:ext uri="{9D8B030D-6E8A-4147-A177-3AD203B41FA5}">
                          <a16:colId xmlns:a16="http://schemas.microsoft.com/office/drawing/2014/main" val="3942528331"/>
                        </a:ext>
                      </a:extLst>
                    </a:gridCol>
                    <a:gridCol w="687291">
                      <a:extLst>
                        <a:ext uri="{9D8B030D-6E8A-4147-A177-3AD203B41FA5}">
                          <a16:colId xmlns:a16="http://schemas.microsoft.com/office/drawing/2014/main" val="325673263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341047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496845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875497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885" t="-301639" r="-401770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3571" t="-301639" r="-305357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00000" t="-301639" r="-202655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856565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3571" t="-401639" r="-305357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00000" t="-401639" r="-202655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00000" t="-401639" r="-102655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633400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3170238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3E1BF9B-B672-C4C9-F352-363F302E3BFA}"/>
              </a:ext>
            </a:extLst>
          </p:cNvPr>
          <p:cNvSpPr txBox="1"/>
          <p:nvPr/>
        </p:nvSpPr>
        <p:spPr>
          <a:xfrm>
            <a:off x="1" y="881815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  ■ 스캔 토폴로지 기반 인접 후보군 탐색 기법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2DD9190-F4E5-20B7-0069-35A4BD2A65AD}"/>
                  </a:ext>
                </a:extLst>
              </p:cNvPr>
              <p:cNvSpPr txBox="1"/>
              <p:nvPr/>
            </p:nvSpPr>
            <p:spPr>
              <a:xfrm>
                <a:off x="305274" y="1467538"/>
                <a:ext cx="11613824" cy="17595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b="0" i="0" dirty="0"/>
                  <a:t>기존 알고리즘은 후보군의 </a:t>
                </a:r>
                <a:r>
                  <a:rPr lang="ko-KR" altLang="en-US" b="1" i="0" dirty="0"/>
                  <a:t>최대 개수</a:t>
                </a:r>
                <a:r>
                  <a:rPr lang="en-US" altLang="ko-KR" b="1" i="0" dirty="0"/>
                  <a:t>(max age)</a:t>
                </a:r>
                <a:r>
                  <a:rPr lang="ko-KR" altLang="en-US" b="0" i="0" dirty="0"/>
                  <a:t>를 정한 후 후보군 생성</a:t>
                </a:r>
                <a:r>
                  <a:rPr lang="en-US" altLang="ko-KR" b="0" i="0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b="0" i="0" dirty="0"/>
                  <a:t>타겟의 정적이므로 </a:t>
                </a:r>
                <a:r>
                  <a:rPr lang="ko-KR" altLang="en-US" b="1" i="0" dirty="0"/>
                  <a:t>인접한 </a:t>
                </a:r>
                <a:r>
                  <a:rPr lang="en-US" altLang="ko-KR" b="1" dirty="0" err="1"/>
                  <a:t>pan,tilt</a:t>
                </a:r>
                <a:r>
                  <a:rPr lang="en-US" altLang="ko-KR" dirty="0"/>
                  <a:t> </a:t>
                </a:r>
                <a:r>
                  <a:rPr lang="ko-KR" altLang="en-US" dirty="0" err="1"/>
                  <a:t>일때</a:t>
                </a:r>
                <a:r>
                  <a:rPr lang="ko-KR" altLang="en-US" dirty="0"/>
                  <a:t> 탐지될 확률이 높음</a:t>
                </a:r>
                <a:r>
                  <a:rPr lang="en-US" altLang="ko-KR" dirty="0"/>
                  <a:t>.</a:t>
                </a:r>
                <a:endParaRPr lang="en-US" altLang="ko-KR" b="0" i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b="0" i="0" dirty="0"/>
                  <a:t>최대 개수를 지정하는</a:t>
                </a:r>
                <a:r>
                  <a:rPr lang="ko-KR" altLang="en-US" dirty="0"/>
                  <a:t> </a:t>
                </a:r>
                <a:r>
                  <a:rPr lang="ko-KR" altLang="en-US" b="0" i="0" dirty="0"/>
                  <a:t>대신 </a:t>
                </a:r>
                <a:r>
                  <a:rPr lang="ko-KR" altLang="en-US" b="1" i="0" dirty="0"/>
                  <a:t>스캔 토폴로지의 인접성</a:t>
                </a:r>
                <a:r>
                  <a:rPr lang="ko-KR" altLang="en-US" b="0" i="0" dirty="0"/>
                  <a:t>을 통한 비교 후보군 지정</a:t>
                </a:r>
                <a:r>
                  <a:rPr lang="en-US" altLang="ko-KR" b="0" i="0" dirty="0">
                    <a:latin typeface="Cambria Math" panose="02040503050406030204" pitchFamily="18" charset="0"/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b="0" i="0" dirty="0">
                    <a:latin typeface="Cambria Math" panose="02040503050406030204" pitchFamily="18" charset="0"/>
                  </a:rPr>
                  <a:t>현재 스캔 인덱스</a:t>
                </a:r>
                <a:r>
                  <a:rPr lang="ko-KR" altLang="en-US" dirty="0">
                    <a:latin typeface="Cambria Math" panose="02040503050406030204" pitchFamily="18" charset="0"/>
                  </a:rPr>
                  <a:t>를</a:t>
                </a:r>
                <a:r>
                  <a:rPr lang="ko-KR" altLang="en-US" b="0" i="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 dirty="0">
                            <a:latin typeface="Cambria Math" panose="02040503050406030204" pitchFamily="18" charset="0"/>
                          </a:rPr>
                          <m:t>Pan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 dirty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 dirty="0">
                            <a:latin typeface="Cambria Math" panose="02040503050406030204" pitchFamily="18" charset="0"/>
                          </a:rPr>
                          <m:t>Tilt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 dirty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라</m:t>
                    </m:r>
                  </m:oMath>
                </a14:m>
                <a:r>
                  <a:rPr lang="ko-KR" altLang="en-US" b="0" i="0" dirty="0">
                    <a:latin typeface="Cambria Math" panose="02040503050406030204" pitchFamily="18" charset="0"/>
                  </a:rPr>
                  <a:t>고 할때</a:t>
                </a:r>
                <a:r>
                  <a:rPr lang="en-US" altLang="ko-KR" b="0" i="0" dirty="0">
                    <a:latin typeface="Cambria Math" panose="02040503050406030204" pitchFamily="18" charset="0"/>
                  </a:rPr>
                  <a:t>,</a:t>
                </a:r>
                <a:r>
                  <a:rPr lang="ko-KR" altLang="en-US" b="0" i="0" dirty="0">
                    <a:latin typeface="Cambria Math" panose="02040503050406030204" pitchFamily="18" charset="0"/>
                  </a:rPr>
                  <a:t> 후보군 </a:t>
                </a:r>
                <a:r>
                  <a:rPr lang="ko-KR" altLang="en-US" dirty="0">
                    <a:latin typeface="Cambria Math" panose="02040503050406030204" pitchFamily="18" charset="0"/>
                  </a:rPr>
                  <a:t>생성</a:t>
                </a:r>
                <a:r>
                  <a:rPr lang="en-US" altLang="ko-KR" dirty="0">
                    <a:latin typeface="Cambria Math" panose="02040503050406030204" pitchFamily="18" charset="0"/>
                  </a:rPr>
                  <a:t>.</a:t>
                </a:r>
                <a:endParaRPr lang="en-US" altLang="ko-KR" b="0" i="0" dirty="0">
                  <a:latin typeface="Cambria Math" panose="02040503050406030204" pitchFamily="18" charset="0"/>
                </a:endParaRPr>
              </a:p>
              <a:p>
                <a:r>
                  <a:rPr lang="en-US" altLang="ko-KR" b="0" i="0" dirty="0">
                    <a:latin typeface="Cambria Math" panose="02040503050406030204" pitchFamily="18" charset="0"/>
                  </a:rPr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={(</m:t>
                      </m:r>
                      <m:sSub>
                        <m:sSub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Pan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Tilt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),(</m:t>
                      </m:r>
                      <m:sSub>
                        <m:sSubPr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i="1" dirty="0">
                              <a:latin typeface="Cambria Math" panose="02040503050406030204" pitchFamily="18" charset="0"/>
                            </a:rPr>
                            <m:t>Pan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i="1" dirty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i="1" dirty="0">
                              <a:latin typeface="Cambria Math" panose="02040503050406030204" pitchFamily="18" charset="0"/>
                            </a:rPr>
                            <m:t>Tilt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i="1" dirty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,(</m:t>
                      </m:r>
                      <m:sSub>
                        <m:sSubPr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i="1" dirty="0">
                              <a:latin typeface="Cambria Math" panose="02040503050406030204" pitchFamily="18" charset="0"/>
                            </a:rPr>
                            <m:t>Pan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i="1" dirty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i="1" dirty="0">
                              <a:latin typeface="Cambria Math" panose="02040503050406030204" pitchFamily="18" charset="0"/>
                            </a:rPr>
                            <m:t>Tilt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i="1" dirty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,(</m:t>
                      </m:r>
                      <m:sSub>
                        <m:sSubPr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i="1" dirty="0">
                              <a:latin typeface="Cambria Math" panose="02040503050406030204" pitchFamily="18" charset="0"/>
                            </a:rPr>
                            <m:t>Pan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i="1" dirty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i="1" dirty="0">
                              <a:latin typeface="Cambria Math" panose="02040503050406030204" pitchFamily="18" charset="0"/>
                            </a:rPr>
                            <m:t>Tilt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,(</m:t>
                      </m:r>
                      <m:sSub>
                        <m:sSubPr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i="1" dirty="0">
                              <a:latin typeface="Cambria Math" panose="02040503050406030204" pitchFamily="18" charset="0"/>
                            </a:rPr>
                            <m:t>Pan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i="1" dirty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i="1" dirty="0">
                              <a:latin typeface="Cambria Math" panose="02040503050406030204" pitchFamily="18" charset="0"/>
                            </a:rPr>
                            <m:t>Tilt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i="1" dirty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ko-KR" b="0" i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2DD9190-F4E5-20B7-0069-35A4BD2A65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274" y="1467538"/>
                <a:ext cx="11613824" cy="1759521"/>
              </a:xfrm>
              <a:prstGeom prst="rect">
                <a:avLst/>
              </a:prstGeom>
              <a:blipFill>
                <a:blip r:embed="rId4"/>
                <a:stretch>
                  <a:fillRect l="-315" t="-2083" b="-312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" name="표 17">
                <a:extLst>
                  <a:ext uri="{FF2B5EF4-FFF2-40B4-BE49-F238E27FC236}">
                    <a16:creationId xmlns:a16="http://schemas.microsoft.com/office/drawing/2014/main" id="{6D9D0929-91A1-A02E-2DCD-FA8C1CDEFC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35403439"/>
                  </p:ext>
                </p:extLst>
              </p:nvPr>
            </p:nvGraphicFramePr>
            <p:xfrm>
              <a:off x="997316" y="3535406"/>
              <a:ext cx="4811037" cy="22250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87291">
                      <a:extLst>
                        <a:ext uri="{9D8B030D-6E8A-4147-A177-3AD203B41FA5}">
                          <a16:colId xmlns:a16="http://schemas.microsoft.com/office/drawing/2014/main" val="394826141"/>
                        </a:ext>
                      </a:extLst>
                    </a:gridCol>
                    <a:gridCol w="687291">
                      <a:extLst>
                        <a:ext uri="{9D8B030D-6E8A-4147-A177-3AD203B41FA5}">
                          <a16:colId xmlns:a16="http://schemas.microsoft.com/office/drawing/2014/main" val="2774707939"/>
                        </a:ext>
                      </a:extLst>
                    </a:gridCol>
                    <a:gridCol w="687291">
                      <a:extLst>
                        <a:ext uri="{9D8B030D-6E8A-4147-A177-3AD203B41FA5}">
                          <a16:colId xmlns:a16="http://schemas.microsoft.com/office/drawing/2014/main" val="1338010762"/>
                        </a:ext>
                      </a:extLst>
                    </a:gridCol>
                    <a:gridCol w="687291">
                      <a:extLst>
                        <a:ext uri="{9D8B030D-6E8A-4147-A177-3AD203B41FA5}">
                          <a16:colId xmlns:a16="http://schemas.microsoft.com/office/drawing/2014/main" val="1238341683"/>
                        </a:ext>
                      </a:extLst>
                    </a:gridCol>
                    <a:gridCol w="687291">
                      <a:extLst>
                        <a:ext uri="{9D8B030D-6E8A-4147-A177-3AD203B41FA5}">
                          <a16:colId xmlns:a16="http://schemas.microsoft.com/office/drawing/2014/main" val="578395297"/>
                        </a:ext>
                      </a:extLst>
                    </a:gridCol>
                    <a:gridCol w="687291">
                      <a:extLst>
                        <a:ext uri="{9D8B030D-6E8A-4147-A177-3AD203B41FA5}">
                          <a16:colId xmlns:a16="http://schemas.microsoft.com/office/drawing/2014/main" val="3942528331"/>
                        </a:ext>
                      </a:extLst>
                    </a:gridCol>
                    <a:gridCol w="687291">
                      <a:extLst>
                        <a:ext uri="{9D8B030D-6E8A-4147-A177-3AD203B41FA5}">
                          <a16:colId xmlns:a16="http://schemas.microsoft.com/office/drawing/2014/main" val="325673263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341047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496845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875497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4</a:t>
                          </a:r>
                          <a:endParaRPr lang="ko-KR" altLang="en-US" sz="1200" dirty="0"/>
                        </a:p>
                      </a:txBody>
                      <a:tcPr anchor="ctr">
                        <a:solidFill>
                          <a:srgbClr val="96DC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3</a:t>
                          </a:r>
                          <a:endParaRPr lang="ko-KR" altLang="en-US" sz="1200" dirty="0"/>
                        </a:p>
                      </a:txBody>
                      <a:tcPr anchor="ctr">
                        <a:solidFill>
                          <a:srgbClr val="96DC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2</a:t>
                          </a:r>
                          <a:endParaRPr lang="ko-KR" altLang="en-US" sz="1200" dirty="0"/>
                        </a:p>
                      </a:txBody>
                      <a:tcPr anchor="ctr">
                        <a:solidFill>
                          <a:srgbClr val="96DC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1</a:t>
                          </a:r>
                          <a:endParaRPr lang="ko-KR" altLang="en-US" sz="1200" dirty="0"/>
                        </a:p>
                      </a:txBody>
                      <a:tcPr anchor="ctr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ko-KR" sz="80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800" i="1" dirty="0">
                                        <a:latin typeface="Cambria Math" panose="02040503050406030204" pitchFamily="18" charset="0"/>
                                      </a:rPr>
                                      <m:t>Pan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800" i="1" dirty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b>
                                </m:sSub>
                                <m:r>
                                  <a:rPr lang="en-US" altLang="ko-KR" sz="800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sz="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800" i="1" dirty="0">
                                        <a:latin typeface="Cambria Math" panose="02040503050406030204" pitchFamily="18" charset="0"/>
                                      </a:rPr>
                                      <m:t>Tilt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800" i="1" dirty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b>
                                </m:sSub>
                                <m:r>
                                  <a:rPr lang="en-US" altLang="ko-KR" sz="800" i="1" dirty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856565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5</a:t>
                          </a:r>
                          <a:endParaRPr lang="ko-KR" altLang="en-US" sz="1200" dirty="0"/>
                        </a:p>
                      </a:txBody>
                      <a:tcPr anchor="ctr">
                        <a:solidFill>
                          <a:srgbClr val="96DC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6</a:t>
                          </a:r>
                          <a:endParaRPr lang="ko-KR" altLang="en-US" sz="1200" dirty="0"/>
                        </a:p>
                      </a:txBody>
                      <a:tcPr anchor="ctr">
                        <a:solidFill>
                          <a:srgbClr val="96DC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7</a:t>
                          </a:r>
                          <a:endParaRPr lang="ko-KR" altLang="en-US" sz="1200" dirty="0"/>
                        </a:p>
                      </a:txBody>
                      <a:tcPr anchor="ctr">
                        <a:solidFill>
                          <a:srgbClr val="96DC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8</a:t>
                          </a:r>
                          <a:endParaRPr lang="ko-KR" altLang="en-US" sz="1200" dirty="0"/>
                        </a:p>
                      </a:txBody>
                      <a:tcPr anchor="ctr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9</a:t>
                          </a:r>
                          <a:endParaRPr lang="ko-KR" altLang="en-US" sz="1200" dirty="0"/>
                        </a:p>
                      </a:txBody>
                      <a:tcPr anchor="ctr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10</a:t>
                          </a:r>
                          <a:endParaRPr lang="ko-KR" altLang="en-US" sz="1200" dirty="0"/>
                        </a:p>
                      </a:txBody>
                      <a:tcPr anchor="ctr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633400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3170238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" name="표 17">
                <a:extLst>
                  <a:ext uri="{FF2B5EF4-FFF2-40B4-BE49-F238E27FC236}">
                    <a16:creationId xmlns:a16="http://schemas.microsoft.com/office/drawing/2014/main" id="{6D9D0929-91A1-A02E-2DCD-FA8C1CDEFC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35403439"/>
                  </p:ext>
                </p:extLst>
              </p:nvPr>
            </p:nvGraphicFramePr>
            <p:xfrm>
              <a:off x="997316" y="3535406"/>
              <a:ext cx="4811037" cy="22250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87291">
                      <a:extLst>
                        <a:ext uri="{9D8B030D-6E8A-4147-A177-3AD203B41FA5}">
                          <a16:colId xmlns:a16="http://schemas.microsoft.com/office/drawing/2014/main" val="394826141"/>
                        </a:ext>
                      </a:extLst>
                    </a:gridCol>
                    <a:gridCol w="687291">
                      <a:extLst>
                        <a:ext uri="{9D8B030D-6E8A-4147-A177-3AD203B41FA5}">
                          <a16:colId xmlns:a16="http://schemas.microsoft.com/office/drawing/2014/main" val="2774707939"/>
                        </a:ext>
                      </a:extLst>
                    </a:gridCol>
                    <a:gridCol w="687291">
                      <a:extLst>
                        <a:ext uri="{9D8B030D-6E8A-4147-A177-3AD203B41FA5}">
                          <a16:colId xmlns:a16="http://schemas.microsoft.com/office/drawing/2014/main" val="1338010762"/>
                        </a:ext>
                      </a:extLst>
                    </a:gridCol>
                    <a:gridCol w="687291">
                      <a:extLst>
                        <a:ext uri="{9D8B030D-6E8A-4147-A177-3AD203B41FA5}">
                          <a16:colId xmlns:a16="http://schemas.microsoft.com/office/drawing/2014/main" val="1238341683"/>
                        </a:ext>
                      </a:extLst>
                    </a:gridCol>
                    <a:gridCol w="687291">
                      <a:extLst>
                        <a:ext uri="{9D8B030D-6E8A-4147-A177-3AD203B41FA5}">
                          <a16:colId xmlns:a16="http://schemas.microsoft.com/office/drawing/2014/main" val="578395297"/>
                        </a:ext>
                      </a:extLst>
                    </a:gridCol>
                    <a:gridCol w="687291">
                      <a:extLst>
                        <a:ext uri="{9D8B030D-6E8A-4147-A177-3AD203B41FA5}">
                          <a16:colId xmlns:a16="http://schemas.microsoft.com/office/drawing/2014/main" val="3942528331"/>
                        </a:ext>
                      </a:extLst>
                    </a:gridCol>
                    <a:gridCol w="687291">
                      <a:extLst>
                        <a:ext uri="{9D8B030D-6E8A-4147-A177-3AD203B41FA5}">
                          <a16:colId xmlns:a16="http://schemas.microsoft.com/office/drawing/2014/main" val="325673263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341047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496845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875497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4</a:t>
                          </a:r>
                          <a:endParaRPr lang="ko-KR" altLang="en-US" sz="1200" dirty="0"/>
                        </a:p>
                      </a:txBody>
                      <a:tcPr anchor="ctr">
                        <a:solidFill>
                          <a:srgbClr val="96DC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3</a:t>
                          </a:r>
                          <a:endParaRPr lang="ko-KR" altLang="en-US" sz="1200" dirty="0"/>
                        </a:p>
                      </a:txBody>
                      <a:tcPr anchor="ctr">
                        <a:solidFill>
                          <a:srgbClr val="96DC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2</a:t>
                          </a:r>
                          <a:endParaRPr lang="ko-KR" altLang="en-US" sz="1200" dirty="0"/>
                        </a:p>
                      </a:txBody>
                      <a:tcPr anchor="ctr">
                        <a:solidFill>
                          <a:srgbClr val="96DC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1</a:t>
                          </a:r>
                          <a:endParaRPr lang="ko-KR" altLang="en-US" sz="1200" dirty="0"/>
                        </a:p>
                      </a:txBody>
                      <a:tcPr anchor="ctr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00000" t="-301639" r="-201770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856565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5</a:t>
                          </a:r>
                          <a:endParaRPr lang="ko-KR" altLang="en-US" sz="1200" dirty="0"/>
                        </a:p>
                      </a:txBody>
                      <a:tcPr anchor="ctr">
                        <a:solidFill>
                          <a:srgbClr val="96DC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6</a:t>
                          </a:r>
                          <a:endParaRPr lang="ko-KR" altLang="en-US" sz="1200" dirty="0"/>
                        </a:p>
                      </a:txBody>
                      <a:tcPr anchor="ctr">
                        <a:solidFill>
                          <a:srgbClr val="96DC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7</a:t>
                          </a:r>
                          <a:endParaRPr lang="ko-KR" altLang="en-US" sz="1200" dirty="0"/>
                        </a:p>
                      </a:txBody>
                      <a:tcPr anchor="ctr">
                        <a:solidFill>
                          <a:srgbClr val="96DC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8</a:t>
                          </a:r>
                          <a:endParaRPr lang="ko-KR" altLang="en-US" sz="1200" dirty="0"/>
                        </a:p>
                      </a:txBody>
                      <a:tcPr anchor="ctr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9</a:t>
                          </a:r>
                          <a:endParaRPr lang="ko-KR" altLang="en-US" sz="1200" dirty="0"/>
                        </a:p>
                      </a:txBody>
                      <a:tcPr anchor="ctr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10</a:t>
                          </a:r>
                          <a:endParaRPr lang="ko-KR" altLang="en-US" sz="1200" dirty="0"/>
                        </a:p>
                      </a:txBody>
                      <a:tcPr anchor="ctr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633400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31702383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9" name="그룹 18">
            <a:extLst>
              <a:ext uri="{FF2B5EF4-FFF2-40B4-BE49-F238E27FC236}">
                <a16:creationId xmlns:a16="http://schemas.microsoft.com/office/drawing/2014/main" id="{7BFF82C5-BD9F-7443-8D27-F3FA0BD5110D}"/>
              </a:ext>
            </a:extLst>
          </p:cNvPr>
          <p:cNvGrpSpPr/>
          <p:nvPr/>
        </p:nvGrpSpPr>
        <p:grpSpPr>
          <a:xfrm>
            <a:off x="1162050" y="4878275"/>
            <a:ext cx="4368800" cy="693034"/>
            <a:chOff x="1756954" y="4878275"/>
            <a:chExt cx="7622177" cy="693034"/>
          </a:xfrm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42C19690-E528-F371-FAB7-CFF2FC83436E}"/>
                </a:ext>
              </a:extLst>
            </p:cNvPr>
            <p:cNvCxnSpPr>
              <a:cxnSpLocks/>
            </p:cNvCxnSpPr>
            <p:nvPr/>
          </p:nvCxnSpPr>
          <p:spPr>
            <a:xfrm>
              <a:off x="1756954" y="5571309"/>
              <a:ext cx="7622177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9FACF957-8810-2C93-0E08-B60B8B465DA7}"/>
                </a:ext>
              </a:extLst>
            </p:cNvPr>
            <p:cNvCxnSpPr>
              <a:cxnSpLocks/>
            </p:cNvCxnSpPr>
            <p:nvPr/>
          </p:nvCxnSpPr>
          <p:spPr>
            <a:xfrm>
              <a:off x="2161903" y="5231675"/>
              <a:ext cx="7210697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0C7DEF3-7901-1E07-D99D-E6CA88309EAC}"/>
                </a:ext>
              </a:extLst>
            </p:cNvPr>
            <p:cNvCxnSpPr>
              <a:cxnSpLocks/>
            </p:cNvCxnSpPr>
            <p:nvPr/>
          </p:nvCxnSpPr>
          <p:spPr>
            <a:xfrm>
              <a:off x="9354737" y="5231675"/>
              <a:ext cx="6531" cy="339634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8828A93A-19E2-ED30-D499-8DE2C4F5DE71}"/>
                </a:ext>
              </a:extLst>
            </p:cNvPr>
            <p:cNvCxnSpPr>
              <a:cxnSpLocks/>
            </p:cNvCxnSpPr>
            <p:nvPr/>
          </p:nvCxnSpPr>
          <p:spPr>
            <a:xfrm>
              <a:off x="2181003" y="4897303"/>
              <a:ext cx="0" cy="339634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9689A8C4-3E6C-F803-2614-31854D3F5248}"/>
                </a:ext>
              </a:extLst>
            </p:cNvPr>
            <p:cNvCxnSpPr>
              <a:cxnSpLocks/>
            </p:cNvCxnSpPr>
            <p:nvPr/>
          </p:nvCxnSpPr>
          <p:spPr>
            <a:xfrm>
              <a:off x="2161953" y="4878275"/>
              <a:ext cx="372631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4460B963-1411-0741-B5D0-58619A3403F7}"/>
              </a:ext>
            </a:extLst>
          </p:cNvPr>
          <p:cNvSpPr txBox="1"/>
          <p:nvPr/>
        </p:nvSpPr>
        <p:spPr>
          <a:xfrm>
            <a:off x="812367" y="5836126"/>
            <a:ext cx="5180934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그림 </a:t>
            </a:r>
            <a:r>
              <a:rPr lang="en-US" altLang="ko-KR" b="1" dirty="0"/>
              <a:t>4. Max age =10 </a:t>
            </a:r>
            <a:r>
              <a:rPr lang="ko-KR" altLang="en-US" b="1" dirty="0"/>
              <a:t>인 기존 알고리즘 후보군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86241937-27DD-4C46-FAAE-2082BADACB81}"/>
              </a:ext>
            </a:extLst>
          </p:cNvPr>
          <p:cNvGrpSpPr/>
          <p:nvPr/>
        </p:nvGrpSpPr>
        <p:grpSpPr>
          <a:xfrm>
            <a:off x="6978650" y="4878275"/>
            <a:ext cx="4368800" cy="693034"/>
            <a:chOff x="1756954" y="4878275"/>
            <a:chExt cx="7622177" cy="693034"/>
          </a:xfrm>
        </p:grpSpPr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CFBF2BB6-3CE9-C8DC-4D54-82A8B7C29112}"/>
                </a:ext>
              </a:extLst>
            </p:cNvPr>
            <p:cNvCxnSpPr>
              <a:cxnSpLocks/>
            </p:cNvCxnSpPr>
            <p:nvPr/>
          </p:nvCxnSpPr>
          <p:spPr>
            <a:xfrm>
              <a:off x="1756954" y="5571309"/>
              <a:ext cx="7622177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0AFFBE3D-3140-89FE-7333-F08B9CEE4BB8}"/>
                </a:ext>
              </a:extLst>
            </p:cNvPr>
            <p:cNvCxnSpPr>
              <a:cxnSpLocks/>
            </p:cNvCxnSpPr>
            <p:nvPr/>
          </p:nvCxnSpPr>
          <p:spPr>
            <a:xfrm>
              <a:off x="2161903" y="5231675"/>
              <a:ext cx="7210697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48FB7E2C-F5E4-D9E0-6C16-BA5320C175B3}"/>
                </a:ext>
              </a:extLst>
            </p:cNvPr>
            <p:cNvCxnSpPr>
              <a:cxnSpLocks/>
            </p:cNvCxnSpPr>
            <p:nvPr/>
          </p:nvCxnSpPr>
          <p:spPr>
            <a:xfrm>
              <a:off x="9354737" y="5231675"/>
              <a:ext cx="6531" cy="339634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1ED4E145-EDA9-521E-300E-59FEBFC4AE04}"/>
                </a:ext>
              </a:extLst>
            </p:cNvPr>
            <p:cNvCxnSpPr>
              <a:cxnSpLocks/>
            </p:cNvCxnSpPr>
            <p:nvPr/>
          </p:nvCxnSpPr>
          <p:spPr>
            <a:xfrm>
              <a:off x="2181003" y="4897303"/>
              <a:ext cx="0" cy="339634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1BD45F98-08C8-9205-91BF-4A0BACED417C}"/>
                </a:ext>
              </a:extLst>
            </p:cNvPr>
            <p:cNvCxnSpPr>
              <a:cxnSpLocks/>
            </p:cNvCxnSpPr>
            <p:nvPr/>
          </p:nvCxnSpPr>
          <p:spPr>
            <a:xfrm>
              <a:off x="2161953" y="4878275"/>
              <a:ext cx="372631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A40B1421-0513-F25D-9ACF-E123F0499832}"/>
              </a:ext>
            </a:extLst>
          </p:cNvPr>
          <p:cNvSpPr txBox="1"/>
          <p:nvPr/>
        </p:nvSpPr>
        <p:spPr>
          <a:xfrm>
            <a:off x="7491273" y="5836126"/>
            <a:ext cx="3455591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그림 </a:t>
            </a:r>
            <a:r>
              <a:rPr lang="en-US" altLang="ko-KR" b="1" dirty="0"/>
              <a:t>5. </a:t>
            </a:r>
            <a:r>
              <a:rPr lang="ko-KR" altLang="en-US" b="1" dirty="0"/>
              <a:t>제안하는 기법의 후보군</a:t>
            </a:r>
          </a:p>
        </p:txBody>
      </p:sp>
    </p:spTree>
    <p:extLst>
      <p:ext uri="{BB962C8B-B14F-4D97-AF65-F5344CB8AC3E}">
        <p14:creationId xmlns:p14="http://schemas.microsoft.com/office/powerpoint/2010/main" val="1394760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C08DE-C172-F3E5-E51D-4CDD0B238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32E71A2D-EF06-8F8C-602F-53FCD0A17C27}"/>
              </a:ext>
            </a:extLst>
          </p:cNvPr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r">
              <a:defRPr/>
            </a:pPr>
            <a:r>
              <a:rPr lang="en-US" altLang="ko-KR" dirty="0"/>
              <a:t>                        4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87DE56A-38B5-5DEE-1165-1BC3E9FA54CE}"/>
              </a:ext>
            </a:extLst>
          </p:cNvPr>
          <p:cNvSpPr/>
          <p:nvPr/>
        </p:nvSpPr>
        <p:spPr>
          <a:xfrm>
            <a:off x="-7882" y="0"/>
            <a:ext cx="12230704" cy="6537960"/>
          </a:xfrm>
          <a:prstGeom prst="rect">
            <a:avLst/>
          </a:prstGeom>
          <a:solidFill>
            <a:srgbClr val="EF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 dirty="0">
              <a:solidFill>
                <a:schemeClr val="tx1"/>
              </a:solidFill>
              <a:latin typeface="HY헤드라인M"/>
              <a:ea typeface="HY헤드라인M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2E989BB-5F79-6DA5-1634-5DFA417527EC}"/>
              </a:ext>
            </a:extLst>
          </p:cNvPr>
          <p:cNvSpPr/>
          <p:nvPr/>
        </p:nvSpPr>
        <p:spPr>
          <a:xfrm>
            <a:off x="210786" y="149472"/>
            <a:ext cx="277368" cy="539496"/>
          </a:xfrm>
          <a:prstGeom prst="rect">
            <a:avLst/>
          </a:prstGeom>
          <a:solidFill>
            <a:srgbClr val="89C1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D64FEFB-26FC-C719-1717-69299E77FCD4}"/>
              </a:ext>
            </a:extLst>
          </p:cNvPr>
          <p:cNvSpPr/>
          <p:nvPr/>
        </p:nvSpPr>
        <p:spPr>
          <a:xfrm>
            <a:off x="305274" y="79368"/>
            <a:ext cx="5540634" cy="539496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chemeClr val="tx1"/>
                </a:solidFill>
                <a:latin typeface="HY헤드라인M"/>
                <a:ea typeface="HY헤드라인M"/>
              </a:rPr>
              <a:t>정보 보존형 격자 히스토그램 기법</a:t>
            </a:r>
            <a:endParaRPr lang="en-US" altLang="ko-KR" dirty="0">
              <a:solidFill>
                <a:schemeClr val="tx1"/>
              </a:solidFill>
              <a:latin typeface="HY헤드라인M"/>
              <a:ea typeface="HY헤드라인M"/>
            </a:endParaRPr>
          </a:p>
        </p:txBody>
      </p:sp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48F61B87-C5FC-A00D-AA84-C5E2549E1CA1}"/>
              </a:ext>
            </a:extLst>
          </p:cNvPr>
          <p:cNvSpPr/>
          <p:nvPr/>
        </p:nvSpPr>
        <p:spPr>
          <a:xfrm>
            <a:off x="488154" y="882650"/>
            <a:ext cx="553246" cy="5585206"/>
          </a:xfrm>
          <a:prstGeom prst="downArrow">
            <a:avLst/>
          </a:prstGeom>
          <a:solidFill>
            <a:srgbClr val="96DCF8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DD02E95-730B-F072-7EC9-3BD423F78810}"/>
              </a:ext>
            </a:extLst>
          </p:cNvPr>
          <p:cNvGrpSpPr/>
          <p:nvPr/>
        </p:nvGrpSpPr>
        <p:grpSpPr>
          <a:xfrm>
            <a:off x="764777" y="882650"/>
            <a:ext cx="2670573" cy="609600"/>
            <a:chOff x="363186" y="231768"/>
            <a:chExt cx="5635122" cy="60960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0768864-A62F-85B8-6ABF-A55FF3B4E0E1}"/>
                </a:ext>
              </a:extLst>
            </p:cNvPr>
            <p:cNvSpPr/>
            <p:nvPr/>
          </p:nvSpPr>
          <p:spPr>
            <a:xfrm>
              <a:off x="363186" y="301872"/>
              <a:ext cx="277368" cy="539496"/>
            </a:xfrm>
            <a:prstGeom prst="rect">
              <a:avLst/>
            </a:prstGeom>
            <a:solidFill>
              <a:srgbClr val="89C1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30C2E6E-D8BC-AE0F-F96C-5AE4D478A023}"/>
                </a:ext>
              </a:extLst>
            </p:cNvPr>
            <p:cNvSpPr/>
            <p:nvPr/>
          </p:nvSpPr>
          <p:spPr>
            <a:xfrm>
              <a:off x="457674" y="231768"/>
              <a:ext cx="5540634" cy="539496"/>
            </a:xfrm>
            <a:prstGeom prst="rect">
              <a:avLst/>
            </a:prstGeom>
            <a:solidFill>
              <a:srgbClr val="5894C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>
                <a:defRPr/>
              </a:pPr>
              <a:r>
                <a:rPr lang="en-US" altLang="ko-KR" sz="1100" dirty="0">
                  <a:solidFill>
                    <a:schemeClr val="tx1"/>
                  </a:solidFill>
                  <a:latin typeface="HY헤드라인M"/>
                  <a:ea typeface="HY헤드라인M"/>
                </a:rPr>
                <a:t>1. </a:t>
              </a:r>
              <a:r>
                <a:rPr lang="ko-KR" altLang="en-US" sz="1100" dirty="0">
                  <a:solidFill>
                    <a:schemeClr val="tx1"/>
                  </a:solidFill>
                  <a:latin typeface="HY헤드라인M"/>
                  <a:ea typeface="HY헤드라인M"/>
                </a:rPr>
                <a:t>프레임 촬영</a:t>
              </a:r>
              <a:endParaRPr lang="en-US" altLang="ko-KR" sz="1100" dirty="0">
                <a:solidFill>
                  <a:schemeClr val="tx1"/>
                </a:solidFill>
                <a:latin typeface="HY헤드라인M"/>
                <a:ea typeface="HY헤드라인M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26A1A5A7-7265-ABB2-E0BB-62CDB77FA1A2}"/>
              </a:ext>
            </a:extLst>
          </p:cNvPr>
          <p:cNvGrpSpPr/>
          <p:nvPr/>
        </p:nvGrpSpPr>
        <p:grpSpPr>
          <a:xfrm>
            <a:off x="764777" y="1714500"/>
            <a:ext cx="2670573" cy="609600"/>
            <a:chOff x="363186" y="231768"/>
            <a:chExt cx="5635122" cy="609600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789FF23A-F24A-2339-B288-910C2039F882}"/>
                </a:ext>
              </a:extLst>
            </p:cNvPr>
            <p:cNvSpPr/>
            <p:nvPr/>
          </p:nvSpPr>
          <p:spPr>
            <a:xfrm>
              <a:off x="363186" y="301872"/>
              <a:ext cx="277368" cy="539496"/>
            </a:xfrm>
            <a:prstGeom prst="rect">
              <a:avLst/>
            </a:prstGeom>
            <a:solidFill>
              <a:srgbClr val="89C1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EBC99101-08D4-23B9-99EF-39896F7E0B99}"/>
                </a:ext>
              </a:extLst>
            </p:cNvPr>
            <p:cNvSpPr/>
            <p:nvPr/>
          </p:nvSpPr>
          <p:spPr>
            <a:xfrm>
              <a:off x="457674" y="231768"/>
              <a:ext cx="5540634" cy="539496"/>
            </a:xfrm>
            <a:prstGeom prst="rect">
              <a:avLst/>
            </a:prstGeom>
            <a:solidFill>
              <a:srgbClr val="5894C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>
                <a:defRPr/>
              </a:pPr>
              <a:r>
                <a:rPr lang="en-US" altLang="ko-KR" sz="1100" dirty="0">
                  <a:solidFill>
                    <a:schemeClr val="tx1"/>
                  </a:solidFill>
                  <a:latin typeface="HY헤드라인M"/>
                  <a:ea typeface="HY헤드라인M"/>
                </a:rPr>
                <a:t>2. </a:t>
              </a:r>
              <a:r>
                <a:rPr lang="ko-KR" altLang="en-US" sz="1100" dirty="0" err="1">
                  <a:solidFill>
                    <a:schemeClr val="tx1"/>
                  </a:solidFill>
                  <a:latin typeface="HY헤드라인M"/>
                  <a:ea typeface="HY헤드라인M"/>
                </a:rPr>
                <a:t>수신부</a:t>
              </a:r>
              <a:r>
                <a:rPr lang="ko-KR" altLang="en-US" sz="1100" dirty="0">
                  <a:solidFill>
                    <a:schemeClr val="tx1"/>
                  </a:solidFill>
                  <a:latin typeface="HY헤드라인M"/>
                  <a:ea typeface="HY헤드라인M"/>
                </a:rPr>
                <a:t> 탐지</a:t>
              </a:r>
              <a:endParaRPr lang="en-US" altLang="ko-KR" sz="1100" dirty="0">
                <a:solidFill>
                  <a:schemeClr val="tx1"/>
                </a:solidFill>
                <a:latin typeface="HY헤드라인M"/>
                <a:ea typeface="HY헤드라인M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86734043-F61E-F2BC-0FFF-92CA1630DB98}"/>
              </a:ext>
            </a:extLst>
          </p:cNvPr>
          <p:cNvGrpSpPr/>
          <p:nvPr/>
        </p:nvGrpSpPr>
        <p:grpSpPr>
          <a:xfrm>
            <a:off x="764777" y="2582919"/>
            <a:ext cx="2670573" cy="609600"/>
            <a:chOff x="363186" y="231768"/>
            <a:chExt cx="5635122" cy="609600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F52F5FAF-E3FD-D1B2-5B9B-5E9C3E2147E4}"/>
                </a:ext>
              </a:extLst>
            </p:cNvPr>
            <p:cNvSpPr/>
            <p:nvPr/>
          </p:nvSpPr>
          <p:spPr>
            <a:xfrm>
              <a:off x="363186" y="301872"/>
              <a:ext cx="277368" cy="539496"/>
            </a:xfrm>
            <a:prstGeom prst="rect">
              <a:avLst/>
            </a:prstGeom>
            <a:solidFill>
              <a:srgbClr val="89C1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87DBCF1E-33A8-0670-A83C-A796F55297D7}"/>
                </a:ext>
              </a:extLst>
            </p:cNvPr>
            <p:cNvSpPr/>
            <p:nvPr/>
          </p:nvSpPr>
          <p:spPr>
            <a:xfrm>
              <a:off x="457674" y="231768"/>
              <a:ext cx="5540634" cy="539496"/>
            </a:xfrm>
            <a:prstGeom prst="rect">
              <a:avLst/>
            </a:prstGeom>
            <a:solidFill>
              <a:srgbClr val="5894C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>
                <a:defRPr/>
              </a:pPr>
              <a:r>
                <a:rPr lang="en-US" altLang="ko-KR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Y헤드라인M"/>
                  <a:ea typeface="HY헤드라인M"/>
                </a:rPr>
                <a:t>3. ROI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BA3FC71-7F99-06C6-66EF-666865E9EB82}"/>
              </a:ext>
            </a:extLst>
          </p:cNvPr>
          <p:cNvGrpSpPr/>
          <p:nvPr/>
        </p:nvGrpSpPr>
        <p:grpSpPr>
          <a:xfrm>
            <a:off x="764777" y="3481578"/>
            <a:ext cx="2670573" cy="609600"/>
            <a:chOff x="363186" y="231768"/>
            <a:chExt cx="5635122" cy="609600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73E53FB4-7246-8865-5287-F882C4426180}"/>
                </a:ext>
              </a:extLst>
            </p:cNvPr>
            <p:cNvSpPr/>
            <p:nvPr/>
          </p:nvSpPr>
          <p:spPr>
            <a:xfrm>
              <a:off x="363186" y="301872"/>
              <a:ext cx="277368" cy="539496"/>
            </a:xfrm>
            <a:prstGeom prst="rect">
              <a:avLst/>
            </a:prstGeom>
            <a:solidFill>
              <a:srgbClr val="89C1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>
                <a:defRPr/>
              </a:pPr>
              <a:endParaRPr lang="ko-KR" alt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BEEC98E-4934-E448-1E29-1BDAA9E42EC6}"/>
                </a:ext>
              </a:extLst>
            </p:cNvPr>
            <p:cNvSpPr/>
            <p:nvPr/>
          </p:nvSpPr>
          <p:spPr>
            <a:xfrm>
              <a:off x="457674" y="231768"/>
              <a:ext cx="5540634" cy="539496"/>
            </a:xfrm>
            <a:prstGeom prst="rect">
              <a:avLst/>
            </a:prstGeom>
            <a:solidFill>
              <a:srgbClr val="5894C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>
                <a:defRPr/>
              </a:pPr>
              <a:r>
                <a:rPr lang="en-US" altLang="ko-KR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Y헤드라인M"/>
                  <a:ea typeface="HY헤드라인M"/>
                </a:rPr>
                <a:t>4. </a:t>
              </a:r>
              <a:r>
                <a:rPr lang="ko-KR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Y헤드라인M"/>
                  <a:ea typeface="HY헤드라인M"/>
                </a:rPr>
                <a:t>격자 생성</a:t>
              </a:r>
              <a:endPara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Y헤드라인M"/>
                <a:ea typeface="HY헤드라인M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406F3C08-BEEB-BB5C-7F6D-D71266F1C69E}"/>
              </a:ext>
            </a:extLst>
          </p:cNvPr>
          <p:cNvGrpSpPr/>
          <p:nvPr/>
        </p:nvGrpSpPr>
        <p:grpSpPr>
          <a:xfrm>
            <a:off x="764777" y="4372998"/>
            <a:ext cx="2670573" cy="609600"/>
            <a:chOff x="363186" y="231768"/>
            <a:chExt cx="5635122" cy="609600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8E64D2C5-1927-A581-F862-484128775568}"/>
                </a:ext>
              </a:extLst>
            </p:cNvPr>
            <p:cNvSpPr/>
            <p:nvPr/>
          </p:nvSpPr>
          <p:spPr>
            <a:xfrm>
              <a:off x="363186" y="301872"/>
              <a:ext cx="277368" cy="539496"/>
            </a:xfrm>
            <a:prstGeom prst="rect">
              <a:avLst/>
            </a:prstGeom>
            <a:solidFill>
              <a:srgbClr val="89C1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>
                <a:defRPr/>
              </a:pPr>
              <a:endParaRPr lang="ko-KR" alt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87A676BF-E87C-3F00-4D0A-2492075CF428}"/>
                </a:ext>
              </a:extLst>
            </p:cNvPr>
            <p:cNvSpPr/>
            <p:nvPr/>
          </p:nvSpPr>
          <p:spPr>
            <a:xfrm>
              <a:off x="457674" y="231768"/>
              <a:ext cx="5540634" cy="539496"/>
            </a:xfrm>
            <a:prstGeom prst="rect">
              <a:avLst/>
            </a:prstGeom>
            <a:solidFill>
              <a:srgbClr val="5894C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>
                <a:defRPr/>
              </a:pPr>
              <a:r>
                <a:rPr lang="en-US" altLang="ko-KR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Y헤드라인M"/>
                  <a:ea typeface="HY헤드라인M"/>
                </a:rPr>
                <a:t>5. </a:t>
              </a:r>
              <a:r>
                <a:rPr lang="ko-KR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Y헤드라인M"/>
                  <a:ea typeface="HY헤드라인M"/>
                </a:rPr>
                <a:t>히스토그램 추출</a:t>
              </a:r>
              <a:endPara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Y헤드라인M"/>
                <a:ea typeface="HY헤드라인M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9809BD81-C603-3F8C-06DD-B795A46E9733}"/>
              </a:ext>
            </a:extLst>
          </p:cNvPr>
          <p:cNvGrpSpPr/>
          <p:nvPr/>
        </p:nvGrpSpPr>
        <p:grpSpPr>
          <a:xfrm>
            <a:off x="764777" y="5353805"/>
            <a:ext cx="2670573" cy="609600"/>
            <a:chOff x="363186" y="231768"/>
            <a:chExt cx="5635122" cy="609600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AEF09003-E1C7-118B-9B9A-5AF3153B7415}"/>
                </a:ext>
              </a:extLst>
            </p:cNvPr>
            <p:cNvSpPr/>
            <p:nvPr/>
          </p:nvSpPr>
          <p:spPr>
            <a:xfrm>
              <a:off x="363186" y="301872"/>
              <a:ext cx="277368" cy="539496"/>
            </a:xfrm>
            <a:prstGeom prst="rect">
              <a:avLst/>
            </a:prstGeom>
            <a:solidFill>
              <a:srgbClr val="89C1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>
                <a:defRPr/>
              </a:pPr>
              <a:endParaRPr lang="ko-KR" alt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65C90D20-1729-8461-2436-343CA6ED7B06}"/>
                </a:ext>
              </a:extLst>
            </p:cNvPr>
            <p:cNvSpPr/>
            <p:nvPr/>
          </p:nvSpPr>
          <p:spPr>
            <a:xfrm>
              <a:off x="457674" y="231768"/>
              <a:ext cx="5540634" cy="539496"/>
            </a:xfrm>
            <a:prstGeom prst="rect">
              <a:avLst/>
            </a:prstGeom>
            <a:solidFill>
              <a:srgbClr val="5894C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>
                <a:defRPr/>
              </a:pPr>
              <a:r>
                <a:rPr lang="en-US" altLang="ko-KR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Y헤드라인M"/>
                  <a:ea typeface="HY헤드라인M"/>
                </a:rPr>
                <a:t>6. </a:t>
              </a:r>
              <a:r>
                <a:rPr lang="ko-KR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Y헤드라인M"/>
                  <a:ea typeface="HY헤드라인M"/>
                </a:rPr>
                <a:t>비교 및 최적 매칭 </a:t>
              </a:r>
              <a:endPara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Y헤드라인M"/>
                <a:ea typeface="HY헤드라인M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DAC08111-DE88-B066-EAEE-48DE8D74F6DF}"/>
              </a:ext>
            </a:extLst>
          </p:cNvPr>
          <p:cNvSpPr txBox="1"/>
          <p:nvPr/>
        </p:nvSpPr>
        <p:spPr>
          <a:xfrm>
            <a:off x="3435350" y="829342"/>
            <a:ext cx="86840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  ■ </a:t>
            </a:r>
            <a:r>
              <a:rPr lang="en-US" altLang="ko-KR" sz="2400" b="1" dirty="0"/>
              <a:t>1. </a:t>
            </a:r>
            <a:r>
              <a:rPr lang="ko-KR" altLang="en-US" sz="2400" b="1" dirty="0"/>
              <a:t>프레임 촬영 </a:t>
            </a:r>
            <a:r>
              <a:rPr lang="en-US" altLang="ko-KR" sz="2400" b="1" dirty="0"/>
              <a:t>, 2. </a:t>
            </a:r>
            <a:r>
              <a:rPr lang="ko-KR" altLang="en-US" sz="2400" b="1" dirty="0" err="1"/>
              <a:t>수신부</a:t>
            </a:r>
            <a:r>
              <a:rPr lang="ko-KR" altLang="en-US" sz="2400" b="1" dirty="0"/>
              <a:t> 탐지</a:t>
            </a:r>
          </a:p>
        </p:txBody>
      </p:sp>
      <p:pic>
        <p:nvPicPr>
          <p:cNvPr id="40" name="그림 39" descr="실내, 가구, 벽, 컴퓨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F51B3B6-C77B-E018-1D73-564CB4738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518" y="1714500"/>
            <a:ext cx="6120853" cy="3768435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ED143248-4887-CCC5-F3B1-54336DD24D54}"/>
              </a:ext>
            </a:extLst>
          </p:cNvPr>
          <p:cNvSpPr txBox="1"/>
          <p:nvPr/>
        </p:nvSpPr>
        <p:spPr>
          <a:xfrm>
            <a:off x="5380380" y="5623553"/>
            <a:ext cx="3837127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그림 </a:t>
            </a:r>
            <a:r>
              <a:rPr lang="en-US" altLang="ko-KR" b="1" dirty="0"/>
              <a:t>6. </a:t>
            </a:r>
            <a:r>
              <a:rPr lang="ko-KR" altLang="en-US" b="1" dirty="0"/>
              <a:t>프레임 촬영 및 </a:t>
            </a:r>
            <a:r>
              <a:rPr lang="ko-KR" altLang="en-US" b="1" dirty="0" err="1"/>
              <a:t>수신부</a:t>
            </a:r>
            <a:r>
              <a:rPr lang="ko-KR" altLang="en-US" b="1" dirty="0"/>
              <a:t> 탐지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5C68120-E9C9-A2F5-AB15-66BBC762FAF1}"/>
              </a:ext>
            </a:extLst>
          </p:cNvPr>
          <p:cNvSpPr/>
          <p:nvPr/>
        </p:nvSpPr>
        <p:spPr>
          <a:xfrm>
            <a:off x="5033963" y="2744390"/>
            <a:ext cx="173832" cy="1500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079C084-1B0B-0430-3726-7B7814D35203}"/>
              </a:ext>
            </a:extLst>
          </p:cNvPr>
          <p:cNvSpPr/>
          <p:nvPr/>
        </p:nvSpPr>
        <p:spPr>
          <a:xfrm>
            <a:off x="6073090" y="3861990"/>
            <a:ext cx="173832" cy="1500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523D83EE-58DF-C857-0948-170D72EAFB4D}"/>
              </a:ext>
            </a:extLst>
          </p:cNvPr>
          <p:cNvSpPr/>
          <p:nvPr/>
        </p:nvSpPr>
        <p:spPr>
          <a:xfrm>
            <a:off x="9724340" y="2560240"/>
            <a:ext cx="173832" cy="1500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4452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95A29-3CAA-0C64-B3B1-9D8234A54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2AD6B6D3-F75A-DC1D-0E68-46FCA18F7706}"/>
              </a:ext>
            </a:extLst>
          </p:cNvPr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r">
              <a:defRPr/>
            </a:pPr>
            <a:r>
              <a:rPr lang="en-US" altLang="ko-KR" dirty="0"/>
              <a:t>5           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72E68C3-6FD5-FB7B-A37F-5343C875FC78}"/>
              </a:ext>
            </a:extLst>
          </p:cNvPr>
          <p:cNvSpPr/>
          <p:nvPr/>
        </p:nvSpPr>
        <p:spPr>
          <a:xfrm>
            <a:off x="-7882" y="0"/>
            <a:ext cx="12230704" cy="6537960"/>
          </a:xfrm>
          <a:prstGeom prst="rect">
            <a:avLst/>
          </a:prstGeom>
          <a:solidFill>
            <a:srgbClr val="EF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 dirty="0">
              <a:solidFill>
                <a:schemeClr val="tx1"/>
              </a:solidFill>
              <a:latin typeface="HY헤드라인M"/>
              <a:ea typeface="HY헤드라인M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9ABA164-8ECB-46C7-C2D4-106EC1C67028}"/>
              </a:ext>
            </a:extLst>
          </p:cNvPr>
          <p:cNvSpPr/>
          <p:nvPr/>
        </p:nvSpPr>
        <p:spPr>
          <a:xfrm>
            <a:off x="210786" y="149472"/>
            <a:ext cx="277368" cy="539496"/>
          </a:xfrm>
          <a:prstGeom prst="rect">
            <a:avLst/>
          </a:prstGeom>
          <a:solidFill>
            <a:srgbClr val="89C1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8BFBE81-23AD-E718-2197-8E4692AA0414}"/>
              </a:ext>
            </a:extLst>
          </p:cNvPr>
          <p:cNvSpPr/>
          <p:nvPr/>
        </p:nvSpPr>
        <p:spPr>
          <a:xfrm>
            <a:off x="305274" y="79368"/>
            <a:ext cx="5540634" cy="539496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chemeClr val="tx1"/>
                </a:solidFill>
                <a:latin typeface="HY헤드라인M"/>
                <a:ea typeface="HY헤드라인M"/>
              </a:rPr>
              <a:t>정보 보존형 격자 히스토그램 기법</a:t>
            </a:r>
            <a:endParaRPr lang="en-US" altLang="ko-KR" dirty="0">
              <a:solidFill>
                <a:schemeClr val="tx1"/>
              </a:solidFill>
              <a:latin typeface="HY헤드라인M"/>
              <a:ea typeface="HY헤드라인M"/>
            </a:endParaRPr>
          </a:p>
        </p:txBody>
      </p:sp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B7CA5307-9222-C7C4-162A-98EE2FAADB43}"/>
              </a:ext>
            </a:extLst>
          </p:cNvPr>
          <p:cNvSpPr/>
          <p:nvPr/>
        </p:nvSpPr>
        <p:spPr>
          <a:xfrm>
            <a:off x="488154" y="882650"/>
            <a:ext cx="553246" cy="5585206"/>
          </a:xfrm>
          <a:prstGeom prst="downArrow">
            <a:avLst/>
          </a:prstGeom>
          <a:solidFill>
            <a:srgbClr val="96DCF8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64341E68-4C93-5370-1761-594943F8FD82}"/>
              </a:ext>
            </a:extLst>
          </p:cNvPr>
          <p:cNvGrpSpPr/>
          <p:nvPr/>
        </p:nvGrpSpPr>
        <p:grpSpPr>
          <a:xfrm>
            <a:off x="764777" y="882650"/>
            <a:ext cx="2670573" cy="609600"/>
            <a:chOff x="363186" y="231768"/>
            <a:chExt cx="5635122" cy="60960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9BCA010-AD2D-4BFD-AE6B-7AC3C60F74B7}"/>
                </a:ext>
              </a:extLst>
            </p:cNvPr>
            <p:cNvSpPr/>
            <p:nvPr/>
          </p:nvSpPr>
          <p:spPr>
            <a:xfrm>
              <a:off x="363186" y="301872"/>
              <a:ext cx="277368" cy="539496"/>
            </a:xfrm>
            <a:prstGeom prst="rect">
              <a:avLst/>
            </a:prstGeom>
            <a:solidFill>
              <a:srgbClr val="89C1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30B8B4C-B559-D572-8530-3E2EEF6790D2}"/>
                </a:ext>
              </a:extLst>
            </p:cNvPr>
            <p:cNvSpPr/>
            <p:nvPr/>
          </p:nvSpPr>
          <p:spPr>
            <a:xfrm>
              <a:off x="457674" y="231768"/>
              <a:ext cx="5540634" cy="539496"/>
            </a:xfrm>
            <a:prstGeom prst="rect">
              <a:avLst/>
            </a:prstGeom>
            <a:solidFill>
              <a:srgbClr val="5894C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>
                <a:defRPr/>
              </a:pPr>
              <a:r>
                <a:rPr lang="en-US" altLang="ko-KR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Y헤드라인M"/>
                  <a:ea typeface="HY헤드라인M"/>
                </a:rPr>
                <a:t>1. </a:t>
              </a:r>
              <a:r>
                <a:rPr lang="ko-KR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Y헤드라인M"/>
                  <a:ea typeface="HY헤드라인M"/>
                </a:rPr>
                <a:t>프레임 촬영</a:t>
              </a:r>
              <a:endPara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Y헤드라인M"/>
                <a:ea typeface="HY헤드라인M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67D82759-63BF-E222-B7B4-35CED6F8B96A}"/>
              </a:ext>
            </a:extLst>
          </p:cNvPr>
          <p:cNvGrpSpPr/>
          <p:nvPr/>
        </p:nvGrpSpPr>
        <p:grpSpPr>
          <a:xfrm>
            <a:off x="764777" y="1714500"/>
            <a:ext cx="2670573" cy="609600"/>
            <a:chOff x="363186" y="231768"/>
            <a:chExt cx="5635122" cy="609600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65D6F6FF-3E40-5978-5515-6D9E071755AD}"/>
                </a:ext>
              </a:extLst>
            </p:cNvPr>
            <p:cNvSpPr/>
            <p:nvPr/>
          </p:nvSpPr>
          <p:spPr>
            <a:xfrm>
              <a:off x="363186" y="301872"/>
              <a:ext cx="277368" cy="539496"/>
            </a:xfrm>
            <a:prstGeom prst="rect">
              <a:avLst/>
            </a:prstGeom>
            <a:solidFill>
              <a:srgbClr val="89C1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F37F2C53-1A71-F02F-D38B-A925214FD7FB}"/>
                </a:ext>
              </a:extLst>
            </p:cNvPr>
            <p:cNvSpPr/>
            <p:nvPr/>
          </p:nvSpPr>
          <p:spPr>
            <a:xfrm>
              <a:off x="457674" y="231768"/>
              <a:ext cx="5540634" cy="539496"/>
            </a:xfrm>
            <a:prstGeom prst="rect">
              <a:avLst/>
            </a:prstGeom>
            <a:solidFill>
              <a:srgbClr val="5894C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>
                <a:defRPr/>
              </a:pPr>
              <a:r>
                <a:rPr lang="en-US" altLang="ko-KR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Y헤드라인M"/>
                  <a:ea typeface="HY헤드라인M"/>
                </a:rPr>
                <a:t>2. </a:t>
              </a:r>
              <a:r>
                <a:rPr lang="ko-KR" altLang="en-US" sz="11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HY헤드라인M"/>
                  <a:ea typeface="HY헤드라인M"/>
                </a:rPr>
                <a:t>수신부</a:t>
              </a:r>
              <a:r>
                <a:rPr lang="ko-KR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Y헤드라인M"/>
                  <a:ea typeface="HY헤드라인M"/>
                </a:rPr>
                <a:t> 탐지</a:t>
              </a:r>
              <a:endPara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Y헤드라인M"/>
                <a:ea typeface="HY헤드라인M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FA93CBB-C3FF-F7FD-D75A-2EBCBA7E5D11}"/>
              </a:ext>
            </a:extLst>
          </p:cNvPr>
          <p:cNvGrpSpPr/>
          <p:nvPr/>
        </p:nvGrpSpPr>
        <p:grpSpPr>
          <a:xfrm>
            <a:off x="764777" y="2582919"/>
            <a:ext cx="2670573" cy="609600"/>
            <a:chOff x="363186" y="231768"/>
            <a:chExt cx="5635122" cy="609600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4711F70E-2EE8-7993-E014-286560E07112}"/>
                </a:ext>
              </a:extLst>
            </p:cNvPr>
            <p:cNvSpPr/>
            <p:nvPr/>
          </p:nvSpPr>
          <p:spPr>
            <a:xfrm>
              <a:off x="363186" y="301872"/>
              <a:ext cx="277368" cy="539496"/>
            </a:xfrm>
            <a:prstGeom prst="rect">
              <a:avLst/>
            </a:prstGeom>
            <a:solidFill>
              <a:srgbClr val="89C1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22403641-BD66-16C6-6826-F0F77D3F0F6B}"/>
                </a:ext>
              </a:extLst>
            </p:cNvPr>
            <p:cNvSpPr/>
            <p:nvPr/>
          </p:nvSpPr>
          <p:spPr>
            <a:xfrm>
              <a:off x="457674" y="231768"/>
              <a:ext cx="5540634" cy="539496"/>
            </a:xfrm>
            <a:prstGeom prst="rect">
              <a:avLst/>
            </a:prstGeom>
            <a:solidFill>
              <a:srgbClr val="5894C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>
                <a:defRPr/>
              </a:pPr>
              <a:r>
                <a:rPr lang="en-US" altLang="ko-KR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HY헤드라인M"/>
                  <a:ea typeface="HY헤드라인M"/>
                </a:rPr>
                <a:t>3. ROI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0CA253A-D79B-CCA7-A4BE-40631D538CA4}"/>
              </a:ext>
            </a:extLst>
          </p:cNvPr>
          <p:cNvGrpSpPr/>
          <p:nvPr/>
        </p:nvGrpSpPr>
        <p:grpSpPr>
          <a:xfrm>
            <a:off x="764777" y="3481578"/>
            <a:ext cx="2670573" cy="609600"/>
            <a:chOff x="363186" y="231768"/>
            <a:chExt cx="5635122" cy="609600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0C4F9B15-AB28-9811-BB1B-0AF3C03E33CF}"/>
                </a:ext>
              </a:extLst>
            </p:cNvPr>
            <p:cNvSpPr/>
            <p:nvPr/>
          </p:nvSpPr>
          <p:spPr>
            <a:xfrm>
              <a:off x="363186" y="301872"/>
              <a:ext cx="277368" cy="539496"/>
            </a:xfrm>
            <a:prstGeom prst="rect">
              <a:avLst/>
            </a:prstGeom>
            <a:solidFill>
              <a:srgbClr val="89C1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>
                <a:defRPr/>
              </a:pPr>
              <a:endParaRPr lang="ko-KR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CDD66214-1E67-D403-2EA9-DB509542A63E}"/>
                </a:ext>
              </a:extLst>
            </p:cNvPr>
            <p:cNvSpPr/>
            <p:nvPr/>
          </p:nvSpPr>
          <p:spPr>
            <a:xfrm>
              <a:off x="457674" y="231768"/>
              <a:ext cx="5540634" cy="539496"/>
            </a:xfrm>
            <a:prstGeom prst="rect">
              <a:avLst/>
            </a:prstGeom>
            <a:solidFill>
              <a:srgbClr val="5894C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>
                <a:defRPr/>
              </a:pPr>
              <a:r>
                <a:rPr lang="en-US" altLang="ko-KR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HY헤드라인M"/>
                  <a:ea typeface="HY헤드라인M"/>
                </a:rPr>
                <a:t>4. </a:t>
              </a:r>
              <a:r>
                <a:rPr lang="ko-KR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HY헤드라인M"/>
                  <a:ea typeface="HY헤드라인M"/>
                </a:rPr>
                <a:t>격자 생성</a:t>
              </a:r>
              <a:endPara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HY헤드라인M"/>
                <a:ea typeface="HY헤드라인M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DDB980B1-8394-E5DA-9E23-381B0C0B22E3}"/>
              </a:ext>
            </a:extLst>
          </p:cNvPr>
          <p:cNvGrpSpPr/>
          <p:nvPr/>
        </p:nvGrpSpPr>
        <p:grpSpPr>
          <a:xfrm>
            <a:off x="764777" y="4372998"/>
            <a:ext cx="2670573" cy="609600"/>
            <a:chOff x="363186" y="231768"/>
            <a:chExt cx="5635122" cy="609600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7F14364C-5F8A-39BF-D059-35EB9E8B06E7}"/>
                </a:ext>
              </a:extLst>
            </p:cNvPr>
            <p:cNvSpPr/>
            <p:nvPr/>
          </p:nvSpPr>
          <p:spPr>
            <a:xfrm>
              <a:off x="363186" y="301872"/>
              <a:ext cx="277368" cy="539496"/>
            </a:xfrm>
            <a:prstGeom prst="rect">
              <a:avLst/>
            </a:prstGeom>
            <a:solidFill>
              <a:srgbClr val="89C1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>
                <a:defRPr/>
              </a:pPr>
              <a:endParaRPr lang="ko-KR" alt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B57E01DA-3A74-0C7F-60C8-2F32AF90878E}"/>
                </a:ext>
              </a:extLst>
            </p:cNvPr>
            <p:cNvSpPr/>
            <p:nvPr/>
          </p:nvSpPr>
          <p:spPr>
            <a:xfrm>
              <a:off x="457674" y="231768"/>
              <a:ext cx="5540634" cy="539496"/>
            </a:xfrm>
            <a:prstGeom prst="rect">
              <a:avLst/>
            </a:prstGeom>
            <a:solidFill>
              <a:srgbClr val="5894C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>
                <a:defRPr/>
              </a:pPr>
              <a:r>
                <a:rPr lang="en-US" altLang="ko-KR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Y헤드라인M"/>
                  <a:ea typeface="HY헤드라인M"/>
                </a:rPr>
                <a:t>5. </a:t>
              </a:r>
              <a:r>
                <a:rPr lang="ko-KR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Y헤드라인M"/>
                  <a:ea typeface="HY헤드라인M"/>
                </a:rPr>
                <a:t>히스토그램 추출</a:t>
              </a:r>
              <a:endPara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Y헤드라인M"/>
                <a:ea typeface="HY헤드라인M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BE37BF2C-CC5F-1954-F7BE-528B56EC69CE}"/>
              </a:ext>
            </a:extLst>
          </p:cNvPr>
          <p:cNvGrpSpPr/>
          <p:nvPr/>
        </p:nvGrpSpPr>
        <p:grpSpPr>
          <a:xfrm>
            <a:off x="764777" y="5353805"/>
            <a:ext cx="2670573" cy="609600"/>
            <a:chOff x="363186" y="231768"/>
            <a:chExt cx="5635122" cy="609600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A95E6BD6-9DDB-1E77-7C1A-91D800940F4A}"/>
                </a:ext>
              </a:extLst>
            </p:cNvPr>
            <p:cNvSpPr/>
            <p:nvPr/>
          </p:nvSpPr>
          <p:spPr>
            <a:xfrm>
              <a:off x="363186" y="301872"/>
              <a:ext cx="277368" cy="539496"/>
            </a:xfrm>
            <a:prstGeom prst="rect">
              <a:avLst/>
            </a:prstGeom>
            <a:solidFill>
              <a:srgbClr val="89C1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>
                <a:defRPr/>
              </a:pPr>
              <a:endParaRPr lang="ko-KR" alt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307D67C6-6DAB-16AA-8C57-AE4121A08CB5}"/>
                </a:ext>
              </a:extLst>
            </p:cNvPr>
            <p:cNvSpPr/>
            <p:nvPr/>
          </p:nvSpPr>
          <p:spPr>
            <a:xfrm>
              <a:off x="457674" y="231768"/>
              <a:ext cx="5540634" cy="539496"/>
            </a:xfrm>
            <a:prstGeom prst="rect">
              <a:avLst/>
            </a:prstGeom>
            <a:solidFill>
              <a:srgbClr val="5894C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>
                <a:defRPr/>
              </a:pPr>
              <a:r>
                <a:rPr lang="en-US" altLang="ko-KR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Y헤드라인M"/>
                  <a:ea typeface="HY헤드라인M"/>
                </a:rPr>
                <a:t>6. </a:t>
              </a:r>
              <a:r>
                <a:rPr lang="ko-KR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Y헤드라인M"/>
                  <a:ea typeface="HY헤드라인M"/>
                </a:rPr>
                <a:t>비교 및 최적 매칭 </a:t>
              </a:r>
              <a:endPara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Y헤드라인M"/>
                <a:ea typeface="HY헤드라인M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A30D36EF-4ADD-ED23-2B32-679446650F70}"/>
              </a:ext>
            </a:extLst>
          </p:cNvPr>
          <p:cNvSpPr txBox="1"/>
          <p:nvPr/>
        </p:nvSpPr>
        <p:spPr>
          <a:xfrm>
            <a:off x="3435351" y="829342"/>
            <a:ext cx="8756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  ■ </a:t>
            </a:r>
            <a:r>
              <a:rPr lang="en-US" altLang="ko-KR" sz="2400" b="1" dirty="0"/>
              <a:t>3. ROI , 4. </a:t>
            </a:r>
            <a:r>
              <a:rPr lang="ko-KR" altLang="en-US" sz="2400" b="1" dirty="0"/>
              <a:t>격자 생성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4698BD4-E547-396E-132C-269C776E779A}"/>
              </a:ext>
            </a:extLst>
          </p:cNvPr>
          <p:cNvGrpSpPr/>
          <p:nvPr/>
        </p:nvGrpSpPr>
        <p:grpSpPr>
          <a:xfrm>
            <a:off x="4603542" y="1435506"/>
            <a:ext cx="6420267" cy="2362962"/>
            <a:chOff x="4084150" y="2375178"/>
            <a:chExt cx="6420267" cy="2362962"/>
          </a:xfrm>
        </p:grpSpPr>
        <p:pic>
          <p:nvPicPr>
            <p:cNvPr id="2" name="그림 1" descr="실내, 라우드스피커, 벽, 오디오 장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221A2E6D-AF13-C985-C67B-4103A7D61D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28199" y="2375178"/>
              <a:ext cx="1923526" cy="1923526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E8028D4-CE5A-578A-ACAC-F9CABF3F9F83}"/>
                </a:ext>
              </a:extLst>
            </p:cNvPr>
            <p:cNvSpPr txBox="1"/>
            <p:nvPr/>
          </p:nvSpPr>
          <p:spPr>
            <a:xfrm>
              <a:off x="4084150" y="4368808"/>
              <a:ext cx="2411623" cy="369332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그림 </a:t>
              </a:r>
              <a:r>
                <a:rPr lang="en-US" altLang="ko-KR" b="1" dirty="0"/>
                <a:t>7. 300x300 ROI</a:t>
              </a:r>
              <a:endParaRPr lang="ko-KR" altLang="en-US" b="1" dirty="0"/>
            </a:p>
          </p:txBody>
        </p:sp>
        <p:pic>
          <p:nvPicPr>
            <p:cNvPr id="4" name="그림 3" descr="사각형, 스크린샷, 다채로움, 예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7D8DF395-DB11-B2F9-CDEC-C3D564295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80173" y="2376304"/>
              <a:ext cx="1922400" cy="19224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064AF10-35E7-8B2B-55DB-FAEB0E72B3D9}"/>
                </a:ext>
              </a:extLst>
            </p:cNvPr>
            <p:cNvSpPr txBox="1"/>
            <p:nvPr/>
          </p:nvSpPr>
          <p:spPr>
            <a:xfrm>
              <a:off x="7778328" y="4368808"/>
              <a:ext cx="2726089" cy="369332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그림 </a:t>
              </a:r>
              <a:r>
                <a:rPr lang="en-US" altLang="ko-KR" b="1" dirty="0"/>
                <a:t>8. 11x11 </a:t>
              </a:r>
              <a:r>
                <a:rPr lang="ko-KR" altLang="en-US" b="1" dirty="0"/>
                <a:t>격자 생성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42A1317-2008-F117-53CC-08FBAF95C629}"/>
              </a:ext>
            </a:extLst>
          </p:cNvPr>
          <p:cNvSpPr txBox="1"/>
          <p:nvPr/>
        </p:nvSpPr>
        <p:spPr>
          <a:xfrm>
            <a:off x="3756752" y="4299616"/>
            <a:ext cx="82383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i="0" dirty="0">
                <a:latin typeface="Cambria Math" panose="02040503050406030204" pitchFamily="18" charset="0"/>
              </a:rPr>
              <a:t>ROI </a:t>
            </a:r>
            <a:r>
              <a:rPr lang="en-US" altLang="ko-KR" b="0" i="0" dirty="0">
                <a:latin typeface="Cambria Math" panose="02040503050406030204" pitchFamily="18" charset="0"/>
              </a:rPr>
              <a:t>: </a:t>
            </a:r>
            <a:r>
              <a:rPr lang="ko-KR" altLang="en-US" b="0" i="0" dirty="0" err="1">
                <a:latin typeface="Cambria Math" panose="02040503050406030204" pitchFamily="18" charset="0"/>
              </a:rPr>
              <a:t>수신부</a:t>
            </a:r>
            <a:r>
              <a:rPr lang="ko-KR" altLang="en-US" b="0" i="0" dirty="0">
                <a:latin typeface="Cambria Math" panose="02040503050406030204" pitchFamily="18" charset="0"/>
              </a:rPr>
              <a:t> 및 배경 정보를 추출하기위한 </a:t>
            </a:r>
            <a:r>
              <a:rPr lang="en-US" altLang="ko-KR" b="0" i="0" dirty="0">
                <a:latin typeface="Cambria Math" panose="02040503050406030204" pitchFamily="18" charset="0"/>
              </a:rPr>
              <a:t>ROI </a:t>
            </a:r>
            <a:r>
              <a:rPr lang="ko-KR" altLang="en-US" b="0" i="0" dirty="0">
                <a:latin typeface="Cambria Math" panose="02040503050406030204" pitchFamily="18" charset="0"/>
              </a:rPr>
              <a:t>생성</a:t>
            </a:r>
            <a:r>
              <a:rPr lang="en-US" altLang="ko-KR" b="0" i="0" dirty="0">
                <a:latin typeface="Cambria Math" panose="020405030504060302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0" i="0" dirty="0">
              <a:latin typeface="Cambria Math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i="0" dirty="0">
                <a:latin typeface="Cambria Math" panose="02040503050406030204" pitchFamily="18" charset="0"/>
              </a:rPr>
              <a:t>격자 생성 </a:t>
            </a:r>
            <a:r>
              <a:rPr lang="ko-KR" altLang="en-US" b="0" i="0" dirty="0">
                <a:latin typeface="Cambria Math" panose="02040503050406030204" pitchFamily="18" charset="0"/>
              </a:rPr>
              <a:t> </a:t>
            </a:r>
            <a:r>
              <a:rPr lang="en-US" altLang="ko-KR" b="0" i="0" dirty="0">
                <a:latin typeface="Cambria Math" panose="02040503050406030204" pitchFamily="18" charset="0"/>
              </a:rPr>
              <a:t>: </a:t>
            </a:r>
            <a:r>
              <a:rPr lang="ko-KR" altLang="en-US" b="0" i="0" dirty="0">
                <a:latin typeface="Cambria Math" panose="02040503050406030204" pitchFamily="18" charset="0"/>
              </a:rPr>
              <a:t>정보 추출 시</a:t>
            </a:r>
            <a:r>
              <a:rPr lang="en-US" altLang="ko-KR" b="0" i="0" dirty="0">
                <a:latin typeface="Cambria Math" panose="02040503050406030204" pitchFamily="18" charset="0"/>
              </a:rPr>
              <a:t>, </a:t>
            </a:r>
            <a:r>
              <a:rPr lang="ko-KR" altLang="en-US" b="0" i="0" dirty="0">
                <a:latin typeface="Cambria Math" panose="02040503050406030204" pitchFamily="18" charset="0"/>
              </a:rPr>
              <a:t>공간정보를 보존하기 위한 격자 생성</a:t>
            </a:r>
            <a:r>
              <a:rPr lang="en-US" altLang="ko-KR" dirty="0">
                <a:latin typeface="Cambria Math" panose="02040503050406030204" pitchFamily="18" charset="0"/>
              </a:rPr>
              <a:t>.</a:t>
            </a:r>
            <a:endParaRPr lang="en-US" altLang="ko-KR" b="0" i="0" dirty="0"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428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EB1EF-85CF-B2DA-2B94-B6014887D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DD7E80D5-EE04-C4D1-76B0-439C2A33A4A2}"/>
              </a:ext>
            </a:extLst>
          </p:cNvPr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sz="800" dirty="0"/>
              <a:t>[4] H. W. Kuhn, "The Hungarian method for the assignment problem," Naval Research Logistics Quarterly, vol. 2, no. 1-2, pp. 83-97, 1955.                                                                                                                                                      </a:t>
            </a:r>
            <a:r>
              <a:rPr lang="en-US" altLang="ko-KR" dirty="0"/>
              <a:t>6           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9F3BCE3-4C2F-3506-D81C-E32527D22416}"/>
              </a:ext>
            </a:extLst>
          </p:cNvPr>
          <p:cNvSpPr/>
          <p:nvPr/>
        </p:nvSpPr>
        <p:spPr>
          <a:xfrm>
            <a:off x="-7882" y="0"/>
            <a:ext cx="12230704" cy="6537960"/>
          </a:xfrm>
          <a:prstGeom prst="rect">
            <a:avLst/>
          </a:prstGeom>
          <a:solidFill>
            <a:srgbClr val="EF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 dirty="0">
              <a:solidFill>
                <a:schemeClr val="tx1"/>
              </a:solidFill>
              <a:latin typeface="HY헤드라인M"/>
              <a:ea typeface="HY헤드라인M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BF4A208-EA1C-3CE1-9737-9A9D6E2FEB7A}"/>
              </a:ext>
            </a:extLst>
          </p:cNvPr>
          <p:cNvSpPr/>
          <p:nvPr/>
        </p:nvSpPr>
        <p:spPr>
          <a:xfrm>
            <a:off x="210786" y="149472"/>
            <a:ext cx="277368" cy="539496"/>
          </a:xfrm>
          <a:prstGeom prst="rect">
            <a:avLst/>
          </a:prstGeom>
          <a:solidFill>
            <a:srgbClr val="89C1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F9DD71D-AD1B-CAE6-5111-1D32A7E220EA}"/>
              </a:ext>
            </a:extLst>
          </p:cNvPr>
          <p:cNvSpPr/>
          <p:nvPr/>
        </p:nvSpPr>
        <p:spPr>
          <a:xfrm>
            <a:off x="305274" y="79368"/>
            <a:ext cx="5540634" cy="539496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chemeClr val="tx1"/>
                </a:solidFill>
                <a:latin typeface="HY헤드라인M"/>
                <a:ea typeface="HY헤드라인M"/>
              </a:rPr>
              <a:t>정보 보존형 격자 히스토그램 기법</a:t>
            </a:r>
            <a:endParaRPr lang="en-US" altLang="ko-KR" dirty="0">
              <a:solidFill>
                <a:schemeClr val="tx1"/>
              </a:solidFill>
              <a:latin typeface="HY헤드라인M"/>
              <a:ea typeface="HY헤드라인M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73F660B-4C81-6462-E8C4-22CF0D1B124F}"/>
              </a:ext>
            </a:extLst>
          </p:cNvPr>
          <p:cNvGrpSpPr/>
          <p:nvPr/>
        </p:nvGrpSpPr>
        <p:grpSpPr>
          <a:xfrm>
            <a:off x="488154" y="882650"/>
            <a:ext cx="2947196" cy="5585206"/>
            <a:chOff x="488154" y="882650"/>
            <a:chExt cx="2947196" cy="5585206"/>
          </a:xfrm>
        </p:grpSpPr>
        <p:sp>
          <p:nvSpPr>
            <p:cNvPr id="5" name="화살표: 아래쪽 4">
              <a:extLst>
                <a:ext uri="{FF2B5EF4-FFF2-40B4-BE49-F238E27FC236}">
                  <a16:creationId xmlns:a16="http://schemas.microsoft.com/office/drawing/2014/main" id="{882BD669-30E6-DFD8-58BD-02F7A395B9C0}"/>
                </a:ext>
              </a:extLst>
            </p:cNvPr>
            <p:cNvSpPr/>
            <p:nvPr/>
          </p:nvSpPr>
          <p:spPr>
            <a:xfrm>
              <a:off x="488154" y="882650"/>
              <a:ext cx="553246" cy="5585206"/>
            </a:xfrm>
            <a:prstGeom prst="downArrow">
              <a:avLst/>
            </a:prstGeom>
            <a:solidFill>
              <a:srgbClr val="96DCF8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A70B7F65-AA46-567A-110F-60A7969DC746}"/>
                </a:ext>
              </a:extLst>
            </p:cNvPr>
            <p:cNvGrpSpPr/>
            <p:nvPr/>
          </p:nvGrpSpPr>
          <p:grpSpPr>
            <a:xfrm>
              <a:off x="764777" y="882650"/>
              <a:ext cx="2670573" cy="609600"/>
              <a:chOff x="363186" y="231768"/>
              <a:chExt cx="5635122" cy="609600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215A08B0-5B91-91AC-9F0C-80F8971DFC68}"/>
                  </a:ext>
                </a:extLst>
              </p:cNvPr>
              <p:cNvSpPr/>
              <p:nvPr/>
            </p:nvSpPr>
            <p:spPr>
              <a:xfrm>
                <a:off x="363186" y="301872"/>
                <a:ext cx="277368" cy="539496"/>
              </a:xfrm>
              <a:prstGeom prst="rect">
                <a:avLst/>
              </a:prstGeom>
              <a:solidFill>
                <a:srgbClr val="89C1E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endParaRPr lang="ko-KR" altLang="en-US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F852F7B2-8EE3-181D-44B4-3D43EB657549}"/>
                  </a:ext>
                </a:extLst>
              </p:cNvPr>
              <p:cNvSpPr/>
              <p:nvPr/>
            </p:nvSpPr>
            <p:spPr>
              <a:xfrm>
                <a:off x="457674" y="231768"/>
                <a:ext cx="5540634" cy="539496"/>
              </a:xfrm>
              <a:prstGeom prst="rect">
                <a:avLst/>
              </a:prstGeom>
              <a:solidFill>
                <a:srgbClr val="5894C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>
                  <a:defRPr/>
                </a:pPr>
                <a:r>
                  <a:rPr lang="en-US" altLang="ko-KR" sz="11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Y헤드라인M"/>
                    <a:ea typeface="HY헤드라인M"/>
                  </a:rPr>
                  <a:t>1. </a:t>
                </a:r>
                <a:r>
                  <a:rPr lang="ko-KR" altLang="en-US" sz="11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Y헤드라인M"/>
                    <a:ea typeface="HY헤드라인M"/>
                  </a:rPr>
                  <a:t>프레임 촬영</a:t>
                </a:r>
                <a:endParaRPr lang="en-US" altLang="ko-KR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Y헤드라인M"/>
                  <a:ea typeface="HY헤드라인M"/>
                </a:endParaRPr>
              </a:p>
            </p:txBody>
          </p:sp>
        </p:grp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C840B2B7-485F-2B44-FB50-B01648A3AC5D}"/>
                </a:ext>
              </a:extLst>
            </p:cNvPr>
            <p:cNvGrpSpPr/>
            <p:nvPr/>
          </p:nvGrpSpPr>
          <p:grpSpPr>
            <a:xfrm>
              <a:off x="764777" y="1714500"/>
              <a:ext cx="2670573" cy="609600"/>
              <a:chOff x="363186" y="231768"/>
              <a:chExt cx="5635122" cy="609600"/>
            </a:xfrm>
          </p:grpSpPr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7C47CDE7-2A38-EF46-2ABA-6898730B70F1}"/>
                  </a:ext>
                </a:extLst>
              </p:cNvPr>
              <p:cNvSpPr/>
              <p:nvPr/>
            </p:nvSpPr>
            <p:spPr>
              <a:xfrm>
                <a:off x="363186" y="301872"/>
                <a:ext cx="277368" cy="539496"/>
              </a:xfrm>
              <a:prstGeom prst="rect">
                <a:avLst/>
              </a:prstGeom>
              <a:solidFill>
                <a:srgbClr val="89C1E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endParaRPr lang="ko-KR" altLang="en-US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225ACAB8-26C2-980B-FF57-0660E5DCEEA1}"/>
                  </a:ext>
                </a:extLst>
              </p:cNvPr>
              <p:cNvSpPr/>
              <p:nvPr/>
            </p:nvSpPr>
            <p:spPr>
              <a:xfrm>
                <a:off x="457674" y="231768"/>
                <a:ext cx="5540634" cy="539496"/>
              </a:xfrm>
              <a:prstGeom prst="rect">
                <a:avLst/>
              </a:prstGeom>
              <a:solidFill>
                <a:srgbClr val="5894C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>
                  <a:defRPr/>
                </a:pPr>
                <a:r>
                  <a:rPr lang="en-US" altLang="ko-KR" sz="11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Y헤드라인M"/>
                    <a:ea typeface="HY헤드라인M"/>
                  </a:rPr>
                  <a:t>2. </a:t>
                </a:r>
                <a:r>
                  <a:rPr lang="ko-KR" altLang="en-US" sz="11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Y헤드라인M"/>
                    <a:ea typeface="HY헤드라인M"/>
                  </a:rPr>
                  <a:t>수신부</a:t>
                </a:r>
                <a:r>
                  <a:rPr lang="ko-KR" altLang="en-US" sz="11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Y헤드라인M"/>
                    <a:ea typeface="HY헤드라인M"/>
                  </a:rPr>
                  <a:t> 탐지</a:t>
                </a:r>
                <a:endParaRPr lang="en-US" altLang="ko-KR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Y헤드라인M"/>
                  <a:ea typeface="HY헤드라인M"/>
                </a:endParaRPr>
              </a:p>
            </p:txBody>
          </p:sp>
        </p:grp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154F7C03-3BA6-A0F8-2012-C18F50C0BE8A}"/>
                </a:ext>
              </a:extLst>
            </p:cNvPr>
            <p:cNvGrpSpPr/>
            <p:nvPr/>
          </p:nvGrpSpPr>
          <p:grpSpPr>
            <a:xfrm>
              <a:off x="764777" y="2582919"/>
              <a:ext cx="2670573" cy="609600"/>
              <a:chOff x="363186" y="231768"/>
              <a:chExt cx="5635122" cy="609600"/>
            </a:xfrm>
          </p:grpSpPr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160BDB33-AFA9-51DF-A0F0-3B87F2D1674E}"/>
                  </a:ext>
                </a:extLst>
              </p:cNvPr>
              <p:cNvSpPr/>
              <p:nvPr/>
            </p:nvSpPr>
            <p:spPr>
              <a:xfrm>
                <a:off x="363186" y="301872"/>
                <a:ext cx="277368" cy="539496"/>
              </a:xfrm>
              <a:prstGeom prst="rect">
                <a:avLst/>
              </a:prstGeom>
              <a:solidFill>
                <a:srgbClr val="89C1E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endParaRPr lang="ko-KR" altLang="en-US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C66D3FB7-1592-74A3-301B-6059DCF988D4}"/>
                  </a:ext>
                </a:extLst>
              </p:cNvPr>
              <p:cNvSpPr/>
              <p:nvPr/>
            </p:nvSpPr>
            <p:spPr>
              <a:xfrm>
                <a:off x="457674" y="231768"/>
                <a:ext cx="5540634" cy="539496"/>
              </a:xfrm>
              <a:prstGeom prst="rect">
                <a:avLst/>
              </a:prstGeom>
              <a:solidFill>
                <a:srgbClr val="5894C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>
                  <a:defRPr/>
                </a:pPr>
                <a:r>
                  <a:rPr lang="en-US" altLang="ko-KR" sz="11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Y헤드라인M"/>
                    <a:ea typeface="HY헤드라인M"/>
                  </a:rPr>
                  <a:t>3. ROI</a:t>
                </a:r>
              </a:p>
            </p:txBody>
          </p:sp>
        </p:grp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CAA4141C-3C34-D8C8-A556-5AFDF8974B66}"/>
                </a:ext>
              </a:extLst>
            </p:cNvPr>
            <p:cNvGrpSpPr/>
            <p:nvPr/>
          </p:nvGrpSpPr>
          <p:grpSpPr>
            <a:xfrm>
              <a:off x="764777" y="3481578"/>
              <a:ext cx="2670573" cy="609600"/>
              <a:chOff x="363186" y="231768"/>
              <a:chExt cx="5635122" cy="609600"/>
            </a:xfrm>
          </p:grpSpPr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2EE98CF6-0BE4-AC42-F168-7A1BAD3ABF57}"/>
                  </a:ext>
                </a:extLst>
              </p:cNvPr>
              <p:cNvSpPr/>
              <p:nvPr/>
            </p:nvSpPr>
            <p:spPr>
              <a:xfrm>
                <a:off x="363186" y="301872"/>
                <a:ext cx="277368" cy="539496"/>
              </a:xfrm>
              <a:prstGeom prst="rect">
                <a:avLst/>
              </a:prstGeom>
              <a:solidFill>
                <a:srgbClr val="89C1E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>
                  <a:defRPr/>
                </a:pPr>
                <a:endParaRPr lang="ko-KR" altLang="en-US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B24BCE29-1241-6356-3943-BC546160AD52}"/>
                  </a:ext>
                </a:extLst>
              </p:cNvPr>
              <p:cNvSpPr/>
              <p:nvPr/>
            </p:nvSpPr>
            <p:spPr>
              <a:xfrm>
                <a:off x="457674" y="231768"/>
                <a:ext cx="5540634" cy="539496"/>
              </a:xfrm>
              <a:prstGeom prst="rect">
                <a:avLst/>
              </a:prstGeom>
              <a:solidFill>
                <a:srgbClr val="5894C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>
                  <a:defRPr/>
                </a:pPr>
                <a:r>
                  <a:rPr lang="en-US" altLang="ko-KR" sz="11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Y헤드라인M"/>
                    <a:ea typeface="HY헤드라인M"/>
                  </a:rPr>
                  <a:t>4. </a:t>
                </a:r>
                <a:r>
                  <a:rPr lang="ko-KR" altLang="en-US" sz="11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Y헤드라인M"/>
                    <a:ea typeface="HY헤드라인M"/>
                  </a:rPr>
                  <a:t>격자 생성</a:t>
                </a:r>
                <a:endParaRPr lang="en-US" altLang="ko-KR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HY헤드라인M"/>
                  <a:ea typeface="HY헤드라인M"/>
                </a:endParaRPr>
              </a:p>
            </p:txBody>
          </p:sp>
        </p:grp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D13690A0-93A6-817F-8D64-E197C7088C9B}"/>
                </a:ext>
              </a:extLst>
            </p:cNvPr>
            <p:cNvGrpSpPr/>
            <p:nvPr/>
          </p:nvGrpSpPr>
          <p:grpSpPr>
            <a:xfrm>
              <a:off x="764777" y="4372998"/>
              <a:ext cx="2670573" cy="609600"/>
              <a:chOff x="363186" y="231768"/>
              <a:chExt cx="5635122" cy="609600"/>
            </a:xfrm>
          </p:grpSpPr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5E23A233-B076-8306-49A0-59611F731B60}"/>
                  </a:ext>
                </a:extLst>
              </p:cNvPr>
              <p:cNvSpPr/>
              <p:nvPr/>
            </p:nvSpPr>
            <p:spPr>
              <a:xfrm>
                <a:off x="363186" y="301872"/>
                <a:ext cx="277368" cy="539496"/>
              </a:xfrm>
              <a:prstGeom prst="rect">
                <a:avLst/>
              </a:prstGeom>
              <a:solidFill>
                <a:srgbClr val="89C1E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>
                  <a:defRPr/>
                </a:pPr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CEE46A54-8978-F20F-E34D-2F1FA36CB22E}"/>
                  </a:ext>
                </a:extLst>
              </p:cNvPr>
              <p:cNvSpPr/>
              <p:nvPr/>
            </p:nvSpPr>
            <p:spPr>
              <a:xfrm>
                <a:off x="457674" y="231768"/>
                <a:ext cx="5540634" cy="539496"/>
              </a:xfrm>
              <a:prstGeom prst="rect">
                <a:avLst/>
              </a:prstGeom>
              <a:solidFill>
                <a:srgbClr val="5894C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>
                  <a:defRPr/>
                </a:pPr>
                <a:r>
                  <a:rPr lang="en-US" altLang="ko-KR" sz="1100" dirty="0">
                    <a:solidFill>
                      <a:schemeClr val="tx1"/>
                    </a:solidFill>
                    <a:latin typeface="HY헤드라인M"/>
                    <a:ea typeface="HY헤드라인M"/>
                  </a:rPr>
                  <a:t>5. </a:t>
                </a:r>
                <a:r>
                  <a:rPr lang="ko-KR" altLang="en-US" sz="1100" dirty="0">
                    <a:solidFill>
                      <a:schemeClr val="tx1"/>
                    </a:solidFill>
                    <a:latin typeface="HY헤드라인M"/>
                    <a:ea typeface="HY헤드라인M"/>
                  </a:rPr>
                  <a:t>히스토그램 추출</a:t>
                </a:r>
                <a:endParaRPr lang="en-US" altLang="ko-KR" sz="1100" dirty="0">
                  <a:solidFill>
                    <a:schemeClr val="tx1"/>
                  </a:solidFill>
                  <a:latin typeface="HY헤드라인M"/>
                  <a:ea typeface="HY헤드라인M"/>
                </a:endParaRPr>
              </a:p>
            </p:txBody>
          </p:sp>
        </p:grp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D1F27DAD-E6F3-8D6F-6101-F1C1375B1D7A}"/>
                </a:ext>
              </a:extLst>
            </p:cNvPr>
            <p:cNvGrpSpPr/>
            <p:nvPr/>
          </p:nvGrpSpPr>
          <p:grpSpPr>
            <a:xfrm>
              <a:off x="764777" y="5353805"/>
              <a:ext cx="2670573" cy="609600"/>
              <a:chOff x="363186" y="231768"/>
              <a:chExt cx="5635122" cy="609600"/>
            </a:xfrm>
          </p:grpSpPr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ADBACA19-B1CC-71D6-31ED-184304EAF339}"/>
                  </a:ext>
                </a:extLst>
              </p:cNvPr>
              <p:cNvSpPr/>
              <p:nvPr/>
            </p:nvSpPr>
            <p:spPr>
              <a:xfrm>
                <a:off x="363186" y="301872"/>
                <a:ext cx="277368" cy="539496"/>
              </a:xfrm>
              <a:prstGeom prst="rect">
                <a:avLst/>
              </a:prstGeom>
              <a:solidFill>
                <a:srgbClr val="89C1E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>
                  <a:defRPr/>
                </a:pPr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2E3C616D-4581-43CE-48DA-94CD5035399F}"/>
                  </a:ext>
                </a:extLst>
              </p:cNvPr>
              <p:cNvSpPr/>
              <p:nvPr/>
            </p:nvSpPr>
            <p:spPr>
              <a:xfrm>
                <a:off x="457674" y="231768"/>
                <a:ext cx="5540634" cy="539496"/>
              </a:xfrm>
              <a:prstGeom prst="rect">
                <a:avLst/>
              </a:prstGeom>
              <a:solidFill>
                <a:srgbClr val="5894C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>
                  <a:defRPr/>
                </a:pPr>
                <a:r>
                  <a:rPr lang="en-US" altLang="ko-KR" sz="1100" dirty="0">
                    <a:solidFill>
                      <a:schemeClr val="tx1"/>
                    </a:solidFill>
                    <a:latin typeface="HY헤드라인M"/>
                    <a:ea typeface="HY헤드라인M"/>
                  </a:rPr>
                  <a:t>6. </a:t>
                </a:r>
                <a:r>
                  <a:rPr lang="ko-KR" altLang="en-US" sz="1100" dirty="0">
                    <a:solidFill>
                      <a:schemeClr val="tx1"/>
                    </a:solidFill>
                    <a:latin typeface="HY헤드라인M"/>
                    <a:ea typeface="HY헤드라인M"/>
                  </a:rPr>
                  <a:t>비교 및 최적 매칭 </a:t>
                </a:r>
                <a:endParaRPr lang="en-US" altLang="ko-KR" sz="1100" dirty="0">
                  <a:solidFill>
                    <a:schemeClr val="tx1"/>
                  </a:solidFill>
                  <a:latin typeface="HY헤드라인M"/>
                  <a:ea typeface="HY헤드라인M"/>
                </a:endParaRPr>
              </a:p>
            </p:txBody>
          </p:sp>
        </p:grp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57EF4E93-59CC-F1CA-7653-D820DF63AB15}"/>
              </a:ext>
            </a:extLst>
          </p:cNvPr>
          <p:cNvSpPr txBox="1"/>
          <p:nvPr/>
        </p:nvSpPr>
        <p:spPr>
          <a:xfrm>
            <a:off x="3435351" y="816642"/>
            <a:ext cx="8756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  ■ </a:t>
            </a:r>
            <a:r>
              <a:rPr lang="en-US" altLang="ko-KR" sz="2400" b="1" dirty="0"/>
              <a:t>5. </a:t>
            </a:r>
            <a:r>
              <a:rPr lang="ko-KR" altLang="en-US" sz="2400" b="1" dirty="0"/>
              <a:t>히스토그램 추출</a:t>
            </a:r>
            <a:r>
              <a:rPr lang="en-US" altLang="ko-KR" sz="2400" b="1" dirty="0"/>
              <a:t>, 6. </a:t>
            </a:r>
            <a:r>
              <a:rPr lang="ko-KR" altLang="en-US" sz="2400" b="1" dirty="0"/>
              <a:t>비교 및 최적 매칭</a:t>
            </a:r>
          </a:p>
        </p:txBody>
      </p:sp>
      <p:pic>
        <p:nvPicPr>
          <p:cNvPr id="2" name="그림 1" descr="사각형, 스크린샷, 다채로움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2D1EA21-3EB8-88B7-CC1B-0352733BA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091" y="1375475"/>
            <a:ext cx="1922400" cy="1922400"/>
          </a:xfrm>
          <a:prstGeom prst="rect">
            <a:avLst/>
          </a:prstGeom>
        </p:spPr>
      </p:pic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D90AC04-D52D-A647-3937-82B96F7BAD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6714783"/>
              </p:ext>
            </p:extLst>
          </p:nvPr>
        </p:nvGraphicFramePr>
        <p:xfrm>
          <a:off x="7065028" y="2146048"/>
          <a:ext cx="4429761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2823">
                  <a:extLst>
                    <a:ext uri="{9D8B030D-6E8A-4147-A177-3AD203B41FA5}">
                      <a16:colId xmlns:a16="http://schemas.microsoft.com/office/drawing/2014/main" val="1837605475"/>
                    </a:ext>
                  </a:extLst>
                </a:gridCol>
                <a:gridCol w="632823">
                  <a:extLst>
                    <a:ext uri="{9D8B030D-6E8A-4147-A177-3AD203B41FA5}">
                      <a16:colId xmlns:a16="http://schemas.microsoft.com/office/drawing/2014/main" val="2581652568"/>
                    </a:ext>
                  </a:extLst>
                </a:gridCol>
                <a:gridCol w="632823">
                  <a:extLst>
                    <a:ext uri="{9D8B030D-6E8A-4147-A177-3AD203B41FA5}">
                      <a16:colId xmlns:a16="http://schemas.microsoft.com/office/drawing/2014/main" val="118755435"/>
                    </a:ext>
                  </a:extLst>
                </a:gridCol>
                <a:gridCol w="632823">
                  <a:extLst>
                    <a:ext uri="{9D8B030D-6E8A-4147-A177-3AD203B41FA5}">
                      <a16:colId xmlns:a16="http://schemas.microsoft.com/office/drawing/2014/main" val="186498471"/>
                    </a:ext>
                  </a:extLst>
                </a:gridCol>
                <a:gridCol w="632823">
                  <a:extLst>
                    <a:ext uri="{9D8B030D-6E8A-4147-A177-3AD203B41FA5}">
                      <a16:colId xmlns:a16="http://schemas.microsoft.com/office/drawing/2014/main" val="1414557490"/>
                    </a:ext>
                  </a:extLst>
                </a:gridCol>
                <a:gridCol w="632823">
                  <a:extLst>
                    <a:ext uri="{9D8B030D-6E8A-4147-A177-3AD203B41FA5}">
                      <a16:colId xmlns:a16="http://schemas.microsoft.com/office/drawing/2014/main" val="3317799468"/>
                    </a:ext>
                  </a:extLst>
                </a:gridCol>
                <a:gridCol w="632823">
                  <a:extLst>
                    <a:ext uri="{9D8B030D-6E8A-4147-A177-3AD203B41FA5}">
                      <a16:colId xmlns:a16="http://schemas.microsoft.com/office/drawing/2014/main" val="5446559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22757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6FB5E6E-48B9-BBED-CDBD-AE228FBC05A3}"/>
              </a:ext>
            </a:extLst>
          </p:cNvPr>
          <p:cNvSpPr txBox="1"/>
          <p:nvPr/>
        </p:nvSpPr>
        <p:spPr>
          <a:xfrm>
            <a:off x="9382268" y="2070385"/>
            <a:ext cx="1529972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. . .</a:t>
            </a:r>
            <a:endParaRPr lang="ko-KR" altLang="en-US" dirty="0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32600353-B2CA-DEFD-2D90-C13E16465CC3}"/>
              </a:ext>
            </a:extLst>
          </p:cNvPr>
          <p:cNvCxnSpPr/>
          <p:nvPr/>
        </p:nvCxnSpPr>
        <p:spPr>
          <a:xfrm>
            <a:off x="6388005" y="2350166"/>
            <a:ext cx="61414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1EC5ECD3-4755-F2DA-77AC-21FD173C0F7B}"/>
              </a:ext>
            </a:extLst>
          </p:cNvPr>
          <p:cNvCxnSpPr>
            <a:cxnSpLocks/>
          </p:cNvCxnSpPr>
          <p:nvPr/>
        </p:nvCxnSpPr>
        <p:spPr>
          <a:xfrm>
            <a:off x="4484143" y="1469883"/>
            <a:ext cx="2915256" cy="88028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8FBA19F-E1D3-3D0B-D9C4-EA63466D6073}"/>
              </a:ext>
            </a:extLst>
          </p:cNvPr>
          <p:cNvSpPr txBox="1"/>
          <p:nvPr/>
        </p:nvSpPr>
        <p:spPr>
          <a:xfrm>
            <a:off x="6322491" y="1645967"/>
            <a:ext cx="1922399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히스토그램 추출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EB28EE9-54FD-73CA-AD05-01F276EB5BC9}"/>
                  </a:ext>
                </a:extLst>
              </p:cNvPr>
              <p:cNvSpPr txBox="1"/>
              <p:nvPr/>
            </p:nvSpPr>
            <p:spPr>
              <a:xfrm>
                <a:off x="3756752" y="3397734"/>
                <a:ext cx="8085998" cy="31505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b="1" dirty="0">
                    <a:latin typeface="Cambria Math" panose="02040503050406030204" pitchFamily="18" charset="0"/>
                  </a:rPr>
                  <a:t>히스토그램 추출 </a:t>
                </a:r>
                <a:r>
                  <a:rPr lang="en-US" altLang="ko-KR" b="1" dirty="0">
                    <a:latin typeface="Cambria Math" panose="02040503050406030204" pitchFamily="18" charset="0"/>
                  </a:rPr>
                  <a:t>: </a:t>
                </a:r>
                <a:r>
                  <a:rPr lang="ko-KR" altLang="en-US" dirty="0">
                    <a:latin typeface="Cambria Math" panose="02040503050406030204" pitchFamily="18" charset="0"/>
                  </a:rPr>
                  <a:t>격자별 </a:t>
                </a:r>
                <a:r>
                  <a:rPr lang="en-US" altLang="ko-KR" dirty="0">
                    <a:latin typeface="Cambria Math" panose="02040503050406030204" pitchFamily="18" charset="0"/>
                  </a:rPr>
                  <a:t>HSV, Grayscale </a:t>
                </a:r>
                <a:r>
                  <a:rPr lang="ko-KR" altLang="en-US" dirty="0">
                    <a:latin typeface="Cambria Math" panose="02040503050406030204" pitchFamily="18" charset="0"/>
                  </a:rPr>
                  <a:t>에서의 히스토그램 추출</a:t>
                </a:r>
                <a:r>
                  <a:rPr lang="en-US" altLang="ko-KR" dirty="0">
                    <a:latin typeface="Cambria Math" panose="02040503050406030204" pitchFamily="18" charset="0"/>
                  </a:rPr>
                  <a:t> </a:t>
                </a:r>
                <a:r>
                  <a:rPr lang="ko-KR" altLang="en-US" dirty="0">
                    <a:latin typeface="Cambria Math" panose="02040503050406030204" pitchFamily="18" charset="0"/>
                  </a:rPr>
                  <a:t>및 특징 벡터 생성</a:t>
                </a:r>
                <a:r>
                  <a:rPr lang="en-US" altLang="ko-KR" dirty="0">
                    <a:latin typeface="Cambria Math" panose="02040503050406030204" pitchFamily="18" charset="0"/>
                  </a:rPr>
                  <a:t>.</a:t>
                </a:r>
              </a:p>
              <a:p>
                <a:r>
                  <a:rPr lang="en-US" altLang="ko-KR" dirty="0">
                    <a:latin typeface="Cambria Math" panose="02040503050406030204" pitchFamily="18" charset="0"/>
                  </a:rPr>
                  <a:t> </a:t>
                </a:r>
                <a:endParaRPr lang="en-US" altLang="ko-KR" b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b="1" dirty="0">
                    <a:latin typeface="Cambria Math" panose="02040503050406030204" pitchFamily="18" charset="0"/>
                  </a:rPr>
                  <a:t>코사인 유사도</a:t>
                </a:r>
                <a:r>
                  <a:rPr lang="ko-KR" altLang="en-US" b="0" i="0" dirty="0">
                    <a:latin typeface="Cambria Math" panose="02040503050406030204" pitchFamily="18" charset="0"/>
                  </a:rPr>
                  <a:t> </a:t>
                </a:r>
                <a:r>
                  <a:rPr lang="en-US" altLang="ko-KR" b="0" i="0" dirty="0">
                    <a:latin typeface="Cambria Math" panose="02040503050406030204" pitchFamily="18" charset="0"/>
                  </a:rPr>
                  <a:t>: </a:t>
                </a:r>
                <a:r>
                  <a:rPr lang="ko-KR" altLang="en-US" b="0" i="0" dirty="0">
                    <a:latin typeface="Cambria Math" panose="02040503050406030204" pitchFamily="18" charset="0"/>
                  </a:rPr>
                  <a:t>특징 벡터 간의 각도를 계산하여 유사도 측정</a:t>
                </a:r>
                <a:r>
                  <a:rPr lang="en-US" altLang="ko-KR" b="0" i="0" dirty="0">
                    <a:latin typeface="Cambria Math" panose="02040503050406030204" pitchFamily="18" charset="0"/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b="0" i="0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1" smtClean="0">
                          <a:latin typeface="Cambria Math" panose="02040503050406030204" pitchFamily="18" charset="0"/>
                        </a:rPr>
                        <m:t>Similarity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ko-KR" b="0" i="1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altLang="ko-KR" b="0" i="1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 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</m:oMath>
                  </m:oMathPara>
                </a14:m>
                <a:endParaRPr lang="en-US" altLang="ko-KR" b="0" i="0" dirty="0">
                  <a:latin typeface="Cambria Math" panose="02040503050406030204" pitchFamily="18" charset="0"/>
                </a:endParaRPr>
              </a:p>
              <a:p>
                <a:pPr algn="ctr"/>
                <a:endParaRPr lang="en-US" altLang="ko-KR" b="0" i="0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b="1" i="0" dirty="0">
                    <a:latin typeface="Cambria Math" panose="02040503050406030204" pitchFamily="18" charset="0"/>
                  </a:rPr>
                  <a:t>최적화</a:t>
                </a:r>
                <a:r>
                  <a:rPr lang="ko-KR" altLang="en-US" b="0" i="0" dirty="0">
                    <a:latin typeface="Cambria Math" panose="02040503050406030204" pitchFamily="18" charset="0"/>
                  </a:rPr>
                  <a:t> </a:t>
                </a:r>
                <a:r>
                  <a:rPr lang="en-US" altLang="ko-KR" b="0" i="0" dirty="0">
                    <a:latin typeface="Cambria Math" panose="02040503050406030204" pitchFamily="18" charset="0"/>
                  </a:rPr>
                  <a:t>: </a:t>
                </a:r>
                <a:r>
                  <a:rPr lang="ko-KR" altLang="en-US" b="0" i="0" dirty="0">
                    <a:latin typeface="Cambria Math" panose="02040503050406030204" pitchFamily="18" charset="0"/>
                  </a:rPr>
                  <a:t>헝가리안 알고리즘을 사용하여 </a:t>
                </a:r>
                <a:r>
                  <a:rPr lang="ko-KR" altLang="en-US" dirty="0">
                    <a:latin typeface="Cambria Math" panose="02040503050406030204" pitchFamily="18" charset="0"/>
                  </a:rPr>
                  <a:t>최적 매칭 수행</a:t>
                </a:r>
                <a:r>
                  <a:rPr lang="en-US" altLang="ko-KR" dirty="0"/>
                  <a:t>[4]</a:t>
                </a:r>
                <a:r>
                  <a:rPr lang="en-US" altLang="ko-KR" dirty="0">
                    <a:latin typeface="Cambria Math" panose="02040503050406030204" pitchFamily="18" charset="0"/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b="0" i="0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b="1" dirty="0">
                    <a:latin typeface="Cambria Math" panose="02040503050406030204" pitchFamily="18" charset="0"/>
                  </a:rPr>
                  <a:t>ID Assignment : </a:t>
                </a:r>
                <a:r>
                  <a:rPr lang="ko-KR" altLang="en-US" dirty="0">
                    <a:latin typeface="Cambria Math" panose="02040503050406030204" pitchFamily="18" charset="0"/>
                  </a:rPr>
                  <a:t>코사인 유사도 값이 일정 값 보다 낮을 때</a:t>
                </a:r>
                <a:r>
                  <a:rPr lang="en-US" altLang="ko-KR" dirty="0">
                    <a:latin typeface="Cambria Math" panose="02040503050406030204" pitchFamily="18" charset="0"/>
                  </a:rPr>
                  <a:t>,</a:t>
                </a:r>
                <a:r>
                  <a:rPr lang="ko-KR" altLang="en-US" dirty="0">
                    <a:latin typeface="Cambria Math" panose="02040503050406030204" pitchFamily="18" charset="0"/>
                  </a:rPr>
                  <a:t> 새로운 </a:t>
                </a:r>
                <a:r>
                  <a:rPr lang="en-US" altLang="ko-KR" dirty="0">
                    <a:latin typeface="Cambria Math" panose="02040503050406030204" pitchFamily="18" charset="0"/>
                  </a:rPr>
                  <a:t>ID </a:t>
                </a:r>
                <a:r>
                  <a:rPr lang="ko-KR" altLang="en-US" dirty="0">
                    <a:latin typeface="Cambria Math" panose="02040503050406030204" pitchFamily="18" charset="0"/>
                  </a:rPr>
                  <a:t>부여</a:t>
                </a:r>
                <a:r>
                  <a:rPr lang="en-US" altLang="ko-KR" dirty="0">
                    <a:latin typeface="Cambria Math" panose="02040503050406030204" pitchFamily="18" charset="0"/>
                  </a:rPr>
                  <a:t>.</a:t>
                </a:r>
                <a:endParaRPr lang="en-US" altLang="ko-KR" b="0" i="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EB28EE9-54FD-73CA-AD05-01F276EB5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6752" y="3397734"/>
                <a:ext cx="8085998" cy="3150542"/>
              </a:xfrm>
              <a:prstGeom prst="rect">
                <a:avLst/>
              </a:prstGeom>
              <a:blipFill>
                <a:blip r:embed="rId4"/>
                <a:stretch>
                  <a:fillRect l="-452" t="-967" b="-193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13B0D577-225D-0E61-7593-26D1CB4B2BF5}"/>
              </a:ext>
            </a:extLst>
          </p:cNvPr>
          <p:cNvSpPr txBox="1"/>
          <p:nvPr/>
        </p:nvSpPr>
        <p:spPr>
          <a:xfrm>
            <a:off x="7065028" y="2668001"/>
            <a:ext cx="1203254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특징 벡터</a:t>
            </a:r>
          </a:p>
        </p:txBody>
      </p:sp>
    </p:spTree>
    <p:extLst>
      <p:ext uri="{BB962C8B-B14F-4D97-AF65-F5344CB8AC3E}">
        <p14:creationId xmlns:p14="http://schemas.microsoft.com/office/powerpoint/2010/main" val="2040734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35EE4-9FA8-A41A-FDE5-23286AA1C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350AC225-BD28-A372-8F78-98DB416A587E}"/>
              </a:ext>
            </a:extLst>
          </p:cNvPr>
          <p:cNvSpPr/>
          <p:nvPr/>
        </p:nvSpPr>
        <p:spPr>
          <a:xfrm>
            <a:off x="0" y="6536360"/>
            <a:ext cx="12192000" cy="323240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sz="800" dirty="0"/>
              <a:t>[5] X. Wang </a:t>
            </a:r>
            <a:r>
              <a:rPr lang="en-US" altLang="ko-KR" sz="800" i="1" dirty="0"/>
              <a:t>et al</a:t>
            </a:r>
            <a:r>
              <a:rPr lang="en-US" altLang="ko-KR" sz="800" dirty="0"/>
              <a:t>., "</a:t>
            </a:r>
            <a:r>
              <a:rPr lang="en-US" altLang="ko-KR" sz="800" dirty="0" err="1"/>
              <a:t>MCTrack</a:t>
            </a:r>
            <a:r>
              <a:rPr lang="en-US" altLang="ko-KR" sz="800" dirty="0"/>
              <a:t>: A Unified 3D Multi-Object Tracking Framework for Autonomous Driving," </a:t>
            </a:r>
            <a:r>
              <a:rPr lang="en-US" altLang="ko-KR" sz="800" i="1" dirty="0"/>
              <a:t>2025 IEEE/RSJ International Conference on Intelligent Robots and Systems (IROS)</a:t>
            </a:r>
            <a:r>
              <a:rPr lang="en-US" altLang="ko-KR" sz="800" dirty="0"/>
              <a:t>, Hangzhou, China, 2025                                                           </a:t>
            </a:r>
            <a:r>
              <a:rPr lang="en-US" altLang="ko-KR" dirty="0"/>
              <a:t>7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FC5284B-96D8-ED3C-F1C5-146E487D93FB}"/>
              </a:ext>
            </a:extLst>
          </p:cNvPr>
          <p:cNvSpPr/>
          <p:nvPr/>
        </p:nvSpPr>
        <p:spPr>
          <a:xfrm>
            <a:off x="-7882" y="0"/>
            <a:ext cx="12230704" cy="6537960"/>
          </a:xfrm>
          <a:prstGeom prst="rect">
            <a:avLst/>
          </a:prstGeom>
          <a:solidFill>
            <a:srgbClr val="EF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 dirty="0">
              <a:solidFill>
                <a:schemeClr val="tx1"/>
              </a:solidFill>
              <a:latin typeface="HY헤드라인M"/>
              <a:ea typeface="HY헤드라인M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3117118-068C-1061-FEB3-0573061E3184}"/>
              </a:ext>
            </a:extLst>
          </p:cNvPr>
          <p:cNvSpPr/>
          <p:nvPr/>
        </p:nvSpPr>
        <p:spPr>
          <a:xfrm>
            <a:off x="210786" y="149472"/>
            <a:ext cx="277368" cy="539496"/>
          </a:xfrm>
          <a:prstGeom prst="rect">
            <a:avLst/>
          </a:prstGeom>
          <a:solidFill>
            <a:srgbClr val="89C1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0D5AABD-7ED9-FCA1-3D7E-A80F1136E2EC}"/>
              </a:ext>
            </a:extLst>
          </p:cNvPr>
          <p:cNvSpPr/>
          <p:nvPr/>
        </p:nvSpPr>
        <p:spPr>
          <a:xfrm>
            <a:off x="305274" y="79368"/>
            <a:ext cx="5540634" cy="539496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chemeClr val="tx1"/>
                </a:solidFill>
                <a:latin typeface="HY헤드라인M"/>
                <a:ea typeface="HY헤드라인M"/>
              </a:rPr>
              <a:t>성능 평가</a:t>
            </a:r>
            <a:endParaRPr lang="en-US" altLang="ko-KR" dirty="0">
              <a:solidFill>
                <a:schemeClr val="tx1"/>
              </a:solidFill>
              <a:latin typeface="HY헤드라인M"/>
              <a:ea typeface="HY헤드라인M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071F9A1-9B27-6ADE-31A5-C8FF5C811B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343741"/>
              </p:ext>
            </p:extLst>
          </p:nvPr>
        </p:nvGraphicFramePr>
        <p:xfrm>
          <a:off x="368555" y="1658833"/>
          <a:ext cx="5739890" cy="18373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6135">
                  <a:extLst>
                    <a:ext uri="{9D8B030D-6E8A-4147-A177-3AD203B41FA5}">
                      <a16:colId xmlns:a16="http://schemas.microsoft.com/office/drawing/2014/main" val="1248245821"/>
                    </a:ext>
                  </a:extLst>
                </a:gridCol>
                <a:gridCol w="1513755">
                  <a:extLst>
                    <a:ext uri="{9D8B030D-6E8A-4147-A177-3AD203B41FA5}">
                      <a16:colId xmlns:a16="http://schemas.microsoft.com/office/drawing/2014/main" val="1363305588"/>
                    </a:ext>
                  </a:extLst>
                </a:gridCol>
              </a:tblGrid>
              <a:tr h="306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파라미터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/>
                        <a:t>값</a:t>
                      </a:r>
                      <a:endParaRPr lang="ko-KR" alt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392871"/>
                  </a:ext>
                </a:extLst>
              </a:tr>
              <a:tr h="306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실제 타겟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/>
                        <a:t>4 </a:t>
                      </a:r>
                      <a:r>
                        <a:rPr lang="ko-KR" altLang="en-US" sz="1300" b="0" dirty="0"/>
                        <a:t>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696609"/>
                  </a:ext>
                </a:extLst>
              </a:tr>
              <a:tr h="306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식별 타겟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/>
                        <a:t>10 </a:t>
                      </a:r>
                      <a:r>
                        <a:rPr lang="ko-KR" altLang="en-US" sz="1300" b="0" dirty="0"/>
                        <a:t>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3321197"/>
                  </a:ext>
                </a:extLst>
              </a:tr>
              <a:tr h="3062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/>
                        <a:t>MOTA(</a:t>
                      </a:r>
                      <a:r>
                        <a:rPr lang="ko-KR" altLang="en-US" sz="1300" b="0" dirty="0"/>
                        <a:t>↑</a:t>
                      </a:r>
                      <a:r>
                        <a:rPr lang="en-US" altLang="ko-KR" sz="1300" b="0" dirty="0"/>
                        <a:t>)</a:t>
                      </a:r>
                      <a:endParaRPr lang="ko-KR" altLang="en-US" sz="13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/>
                        <a:t>94.5%</a:t>
                      </a:r>
                      <a:endParaRPr lang="ko-KR" altLang="en-US" sz="13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5870170"/>
                  </a:ext>
                </a:extLst>
              </a:tr>
              <a:tr h="3062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/>
                        <a:t>IDSW(</a:t>
                      </a:r>
                      <a:r>
                        <a:rPr lang="ko-KR" altLang="en-US" sz="1300" b="0" dirty="0"/>
                        <a:t>↓</a:t>
                      </a:r>
                      <a:r>
                        <a:rPr lang="en-US" altLang="ko-KR" sz="1300" b="0" dirty="0"/>
                        <a:t>)</a:t>
                      </a:r>
                      <a:endParaRPr lang="ko-KR" altLang="en-US" sz="13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/>
                        <a:t>6</a:t>
                      </a:r>
                      <a:r>
                        <a:rPr lang="ko-KR" altLang="en-US" sz="1300" b="0" dirty="0"/>
                        <a:t>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207077"/>
                  </a:ext>
                </a:extLst>
              </a:tr>
              <a:tr h="3062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/>
                        <a:t>ID</a:t>
                      </a:r>
                      <a:r>
                        <a:rPr lang="ko-KR" altLang="en-US" sz="1300" b="0" dirty="0"/>
                        <a:t> </a:t>
                      </a:r>
                      <a:r>
                        <a:rPr lang="en-US" altLang="ko-KR" sz="1300" b="0" dirty="0"/>
                        <a:t>Purity(</a:t>
                      </a:r>
                      <a:r>
                        <a:rPr lang="ko-KR" altLang="en-US" sz="1300" b="0" dirty="0"/>
                        <a:t>↑</a:t>
                      </a:r>
                      <a:r>
                        <a:rPr lang="en-US" altLang="ko-KR" sz="1300" b="0" dirty="0"/>
                        <a:t>)</a:t>
                      </a:r>
                      <a:endParaRPr lang="ko-KR" altLang="en-US" sz="13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/>
                        <a:t>100%</a:t>
                      </a:r>
                      <a:endParaRPr lang="ko-KR" altLang="en-US" sz="13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61730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823AAD7-B6FC-EB0A-B77C-6BA4E6C84CCE}"/>
              </a:ext>
            </a:extLst>
          </p:cNvPr>
          <p:cNvSpPr txBox="1"/>
          <p:nvPr/>
        </p:nvSpPr>
        <p:spPr>
          <a:xfrm>
            <a:off x="1" y="881815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  ■ 검증 결과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131AD9A-0C01-EF4A-EC54-56F0CDCAB555}"/>
                  </a:ext>
                </a:extLst>
              </p:cNvPr>
              <p:cNvSpPr txBox="1"/>
              <p:nvPr/>
            </p:nvSpPr>
            <p:spPr>
              <a:xfrm>
                <a:off x="305274" y="4061895"/>
                <a:ext cx="8019576" cy="13823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b="0" i="0" dirty="0">
                    <a:latin typeface="Cambria Math" panose="02040503050406030204" pitchFamily="18" charset="0"/>
                  </a:rPr>
                  <a:t>실내 환경에서 </a:t>
                </a:r>
                <a:r>
                  <a:rPr lang="en-US" altLang="ko-KR" b="0" i="0" dirty="0">
                    <a:latin typeface="Cambria Math" panose="02040503050406030204" pitchFamily="18" charset="0"/>
                  </a:rPr>
                  <a:t>5-10m </a:t>
                </a:r>
                <a:r>
                  <a:rPr lang="ko-KR" altLang="en-US" b="0" i="0" dirty="0">
                    <a:latin typeface="Cambria Math" panose="02040503050406030204" pitchFamily="18" charset="0"/>
                  </a:rPr>
                  <a:t>거리에 수신부를 배치하여 획득한 데이터 셋 활용</a:t>
                </a:r>
                <a:r>
                  <a:rPr lang="en-US" altLang="ko-KR" b="0" i="0" dirty="0">
                    <a:latin typeface="Cambria Math" panose="02040503050406030204" pitchFamily="18" charset="0"/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MOTA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MOT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accuracy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) = 1 − 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  <m:brk m:alnAt="9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  <m:sup/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FN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 + 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FP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 + 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IDSW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  <m:brk m:alnAt="7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GT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p>
                            </m:sSup>
                          </m:e>
                        </m:nary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ko-KR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dirty="0"/>
                  <a:t>표</a:t>
                </a:r>
                <a:r>
                  <a:rPr lang="en-US" altLang="ko-KR" dirty="0"/>
                  <a:t>2</a:t>
                </a:r>
                <a:r>
                  <a:rPr lang="ko-KR" altLang="en-US" dirty="0"/>
                  <a:t>는 </a:t>
                </a:r>
                <a:r>
                  <a:rPr lang="en-US" altLang="ko-KR" dirty="0"/>
                  <a:t>KITTI test set </a:t>
                </a:r>
                <a:r>
                  <a:rPr lang="ko-KR" altLang="en-US" dirty="0" err="1"/>
                  <a:t>에대한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MOTA </a:t>
                </a:r>
                <a:r>
                  <a:rPr lang="ko-KR" altLang="en-US" dirty="0"/>
                  <a:t>결과표로 </a:t>
                </a:r>
                <a:r>
                  <a:rPr lang="en-US" altLang="ko-KR" dirty="0"/>
                  <a:t>90%</a:t>
                </a:r>
                <a:r>
                  <a:rPr lang="ko-KR" altLang="en-US" dirty="0"/>
                  <a:t>대의 결과를 보여줌</a:t>
                </a:r>
                <a:r>
                  <a:rPr lang="en-US" altLang="ko-KR" dirty="0"/>
                  <a:t>[5].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dirty="0"/>
                  <a:t>제안하는 기법은 정적인 수신부임에 따라 보다 높은 </a:t>
                </a:r>
                <a:r>
                  <a:rPr lang="en-US" altLang="ko-KR" dirty="0"/>
                  <a:t>MOTA </a:t>
                </a:r>
                <a:r>
                  <a:rPr lang="ko-KR" altLang="en-US" dirty="0"/>
                  <a:t>기록</a:t>
                </a:r>
                <a:r>
                  <a:rPr lang="en-US" altLang="ko-KR" dirty="0"/>
                  <a:t>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131AD9A-0C01-EF4A-EC54-56F0CDCAB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274" y="4061895"/>
                <a:ext cx="8019576" cy="1382366"/>
              </a:xfrm>
              <a:prstGeom prst="rect">
                <a:avLst/>
              </a:prstGeom>
              <a:blipFill>
                <a:blip r:embed="rId3"/>
                <a:stretch>
                  <a:fillRect l="-456" t="-2203" b="-572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6F4F592-0963-1ED0-BE5F-A3F52593EA81}"/>
                  </a:ext>
                </a:extLst>
              </p:cNvPr>
              <p:cNvSpPr txBox="1"/>
              <p:nvPr/>
            </p:nvSpPr>
            <p:spPr>
              <a:xfrm>
                <a:off x="8089827" y="4061895"/>
                <a:ext cx="4336868" cy="1777987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altLang="ko-KR" dirty="0"/>
                  <a:t> : </a:t>
                </a:r>
                <a:r>
                  <a:rPr lang="ko-KR" altLang="en-US" dirty="0"/>
                  <a:t>프레임 인덱스</a:t>
                </a:r>
                <a:r>
                  <a:rPr lang="en-US" altLang="ko-KR" dirty="0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FN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altLang="ko-KR" dirty="0"/>
                  <a:t>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i="1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ko-KR" altLang="en-US" dirty="0"/>
                  <a:t>서의 </a:t>
                </a:r>
                <a:r>
                  <a:rPr lang="ko-KR" altLang="en-US" dirty="0" err="1"/>
                  <a:t>미검출</a:t>
                </a:r>
                <a:r>
                  <a:rPr lang="ko-KR" altLang="en-US" dirty="0"/>
                  <a:t> 수</a:t>
                </a:r>
                <a:r>
                  <a:rPr lang="en-US" altLang="ko-KR" dirty="0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FP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altLang="ko-KR" dirty="0"/>
                  <a:t>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i="1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ko-KR" altLang="en-US" dirty="0"/>
                  <a:t>서의 </a:t>
                </a:r>
                <a:r>
                  <a:rPr lang="ko-KR" altLang="en-US" dirty="0" err="1"/>
                  <a:t>오검출</a:t>
                </a:r>
                <a:r>
                  <a:rPr lang="ko-KR" altLang="en-US" dirty="0"/>
                  <a:t> 수</a:t>
                </a:r>
                <a:r>
                  <a:rPr lang="en-US" altLang="ko-KR" dirty="0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IDSW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altLang="ko-KR" dirty="0"/>
                  <a:t> : ID </a:t>
                </a:r>
                <a:r>
                  <a:rPr lang="ko-KR" altLang="en-US" dirty="0" err="1"/>
                  <a:t>스위칭</a:t>
                </a:r>
                <a:r>
                  <a:rPr lang="ko-KR" altLang="en-US" dirty="0"/>
                  <a:t> 수</a:t>
                </a:r>
                <a:r>
                  <a:rPr lang="en-US" altLang="ko-KR" dirty="0"/>
                  <a:t>.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GT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r>
                  <a:rPr lang="en-US" altLang="ko-KR" dirty="0"/>
                  <a:t>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i="1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ko-KR" altLang="en-US" dirty="0"/>
                  <a:t> 존재하는 실제 타겟의 총 수</a:t>
                </a:r>
                <a:r>
                  <a:rPr lang="en-US" altLang="ko-KR" dirty="0"/>
                  <a:t>.</a:t>
                </a:r>
              </a:p>
              <a:p>
                <a:endParaRPr lang="ko-KR" alt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6F4F592-0963-1ED0-BE5F-A3F52593EA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9827" y="4061895"/>
                <a:ext cx="4336868" cy="1777987"/>
              </a:xfrm>
              <a:prstGeom prst="rect">
                <a:avLst/>
              </a:prstGeom>
              <a:blipFill>
                <a:blip r:embed="rId4"/>
                <a:stretch>
                  <a:fillRect t="-17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EA11118-CCC7-ABBD-51EE-5594F8FA5484}"/>
              </a:ext>
            </a:extLst>
          </p:cNvPr>
          <p:cNvSpPr txBox="1"/>
          <p:nvPr/>
        </p:nvSpPr>
        <p:spPr>
          <a:xfrm>
            <a:off x="2275491" y="1266129"/>
            <a:ext cx="1600200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표</a:t>
            </a:r>
            <a:r>
              <a:rPr lang="en-US" altLang="ko-KR" b="1" dirty="0"/>
              <a:t>1. </a:t>
            </a:r>
            <a:r>
              <a:rPr lang="ko-KR" altLang="en-US" b="1" dirty="0"/>
              <a:t>검증결과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93B0232-B7F7-A70A-DC52-207F3E2A11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4048401"/>
              </p:ext>
            </p:extLst>
          </p:nvPr>
        </p:nvGraphicFramePr>
        <p:xfrm>
          <a:off x="6343905" y="1658833"/>
          <a:ext cx="5739890" cy="18373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6135">
                  <a:extLst>
                    <a:ext uri="{9D8B030D-6E8A-4147-A177-3AD203B41FA5}">
                      <a16:colId xmlns:a16="http://schemas.microsoft.com/office/drawing/2014/main" val="1248245821"/>
                    </a:ext>
                  </a:extLst>
                </a:gridCol>
                <a:gridCol w="1513755">
                  <a:extLst>
                    <a:ext uri="{9D8B030D-6E8A-4147-A177-3AD203B41FA5}">
                      <a16:colId xmlns:a16="http://schemas.microsoft.com/office/drawing/2014/main" val="1363305588"/>
                    </a:ext>
                  </a:extLst>
                </a:gridCol>
              </a:tblGrid>
              <a:tr h="306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기법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MOTA</a:t>
                      </a:r>
                      <a:endParaRPr lang="ko-KR" alt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392871"/>
                  </a:ext>
                </a:extLst>
              </a:tr>
              <a:tr h="3062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 err="1"/>
                        <a:t>MCTrack</a:t>
                      </a:r>
                      <a:endParaRPr lang="ko-KR" altLang="en-US" sz="13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/>
                        <a:t>91.62%</a:t>
                      </a:r>
                      <a:endParaRPr lang="ko-KR" altLang="en-US" sz="13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696609"/>
                  </a:ext>
                </a:extLst>
              </a:tr>
              <a:tr h="3062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 err="1"/>
                        <a:t>CasTrack</a:t>
                      </a:r>
                      <a:endParaRPr lang="ko-KR" altLang="en-US" sz="13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/>
                        <a:t>91.91%</a:t>
                      </a:r>
                      <a:endParaRPr lang="ko-KR" altLang="en-US" sz="13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3321197"/>
                  </a:ext>
                </a:extLst>
              </a:tr>
              <a:tr h="3062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/>
                        <a:t>RAM</a:t>
                      </a:r>
                      <a:endParaRPr lang="ko-KR" altLang="en-US" sz="13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/>
                        <a:t>91.61%</a:t>
                      </a:r>
                      <a:endParaRPr lang="ko-KR" altLang="en-US" sz="13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5870170"/>
                  </a:ext>
                </a:extLst>
              </a:tr>
              <a:tr h="3062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/>
                        <a:t>OC-SORT</a:t>
                      </a:r>
                      <a:endParaRPr lang="ko-KR" altLang="en-US" sz="13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/>
                        <a:t>90.28%</a:t>
                      </a:r>
                      <a:endParaRPr lang="ko-KR" altLang="en-US" sz="13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207077"/>
                  </a:ext>
                </a:extLst>
              </a:tr>
              <a:tr h="3062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 err="1"/>
                        <a:t>BiTrack</a:t>
                      </a:r>
                      <a:endParaRPr lang="ko-KR" altLang="en-US" sz="13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/>
                        <a:t>91.52%</a:t>
                      </a:r>
                      <a:endParaRPr lang="ko-KR" altLang="en-US" sz="13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61730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569836F-0DD1-A057-1FBD-AE5B82E0F968}"/>
              </a:ext>
            </a:extLst>
          </p:cNvPr>
          <p:cNvSpPr txBox="1"/>
          <p:nvPr/>
        </p:nvSpPr>
        <p:spPr>
          <a:xfrm>
            <a:off x="7848874" y="1271074"/>
            <a:ext cx="2755352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표</a:t>
            </a:r>
            <a:r>
              <a:rPr lang="en-US" altLang="ko-KR" b="1" dirty="0"/>
              <a:t>2. </a:t>
            </a:r>
            <a:r>
              <a:rPr lang="ko-KR" altLang="en-US" b="1" dirty="0"/>
              <a:t>타 </a:t>
            </a:r>
            <a:r>
              <a:rPr lang="en-US" altLang="ko-KR" b="1" dirty="0"/>
              <a:t>Method</a:t>
            </a:r>
            <a:r>
              <a:rPr lang="ko-KR" altLang="en-US" b="1" dirty="0"/>
              <a:t> </a:t>
            </a:r>
            <a:r>
              <a:rPr lang="en-US" altLang="ko-KR" b="1" dirty="0"/>
              <a:t>MOTA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387734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EE743-634B-0FF0-9F5B-FE5D53903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16A86122-D666-B78C-BED2-3309EB5A04D8}"/>
              </a:ext>
            </a:extLst>
          </p:cNvPr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r">
              <a:defRPr/>
            </a:pPr>
            <a:r>
              <a:rPr lang="en-US" altLang="ko-KR" dirty="0"/>
              <a:t>8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48E9A74-0064-0215-634F-6EBEADAE1E0A}"/>
              </a:ext>
            </a:extLst>
          </p:cNvPr>
          <p:cNvSpPr/>
          <p:nvPr/>
        </p:nvSpPr>
        <p:spPr>
          <a:xfrm>
            <a:off x="-7882" y="0"/>
            <a:ext cx="12230704" cy="6537960"/>
          </a:xfrm>
          <a:prstGeom prst="rect">
            <a:avLst/>
          </a:prstGeom>
          <a:solidFill>
            <a:srgbClr val="EF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 dirty="0">
              <a:solidFill>
                <a:schemeClr val="tx1"/>
              </a:solidFill>
              <a:latin typeface="HY헤드라인M"/>
              <a:ea typeface="HY헤드라인M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AAB0DB6-2B85-73C3-7E7E-8C00C65E86F9}"/>
              </a:ext>
            </a:extLst>
          </p:cNvPr>
          <p:cNvSpPr/>
          <p:nvPr/>
        </p:nvSpPr>
        <p:spPr>
          <a:xfrm>
            <a:off x="210786" y="149472"/>
            <a:ext cx="277368" cy="539496"/>
          </a:xfrm>
          <a:prstGeom prst="rect">
            <a:avLst/>
          </a:prstGeom>
          <a:solidFill>
            <a:srgbClr val="89C1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210D006-5256-8D15-F740-1E156FA04C81}"/>
              </a:ext>
            </a:extLst>
          </p:cNvPr>
          <p:cNvSpPr/>
          <p:nvPr/>
        </p:nvSpPr>
        <p:spPr>
          <a:xfrm>
            <a:off x="305274" y="79368"/>
            <a:ext cx="5540634" cy="539496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chemeClr val="tx1"/>
                </a:solidFill>
                <a:latin typeface="HY헤드라인M"/>
                <a:ea typeface="HY헤드라인M"/>
              </a:rPr>
              <a:t>성능 평가</a:t>
            </a:r>
            <a:endParaRPr lang="en-US" altLang="ko-KR" dirty="0">
              <a:solidFill>
                <a:schemeClr val="tx1"/>
              </a:solidFill>
              <a:latin typeface="HY헤드라인M"/>
              <a:ea typeface="HY헤드라인M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FA772AD8-0720-A649-0F73-24B31A71A2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6523721"/>
              </p:ext>
            </p:extLst>
          </p:nvPr>
        </p:nvGraphicFramePr>
        <p:xfrm>
          <a:off x="1479676" y="1417795"/>
          <a:ext cx="9232647" cy="18373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5139">
                  <a:extLst>
                    <a:ext uri="{9D8B030D-6E8A-4147-A177-3AD203B41FA5}">
                      <a16:colId xmlns:a16="http://schemas.microsoft.com/office/drawing/2014/main" val="1248245821"/>
                    </a:ext>
                  </a:extLst>
                </a:gridCol>
                <a:gridCol w="1359377">
                  <a:extLst>
                    <a:ext uri="{9D8B030D-6E8A-4147-A177-3AD203B41FA5}">
                      <a16:colId xmlns:a16="http://schemas.microsoft.com/office/drawing/2014/main" val="1363305588"/>
                    </a:ext>
                  </a:extLst>
                </a:gridCol>
                <a:gridCol w="1359377">
                  <a:extLst>
                    <a:ext uri="{9D8B030D-6E8A-4147-A177-3AD203B41FA5}">
                      <a16:colId xmlns:a16="http://schemas.microsoft.com/office/drawing/2014/main" val="3606208719"/>
                    </a:ext>
                  </a:extLst>
                </a:gridCol>
                <a:gridCol w="1359377">
                  <a:extLst>
                    <a:ext uri="{9D8B030D-6E8A-4147-A177-3AD203B41FA5}">
                      <a16:colId xmlns:a16="http://schemas.microsoft.com/office/drawing/2014/main" val="1015508491"/>
                    </a:ext>
                  </a:extLst>
                </a:gridCol>
                <a:gridCol w="1359377">
                  <a:extLst>
                    <a:ext uri="{9D8B030D-6E8A-4147-A177-3AD203B41FA5}">
                      <a16:colId xmlns:a16="http://schemas.microsoft.com/office/drawing/2014/main" val="1205453412"/>
                    </a:ext>
                  </a:extLst>
                </a:gridCol>
              </a:tblGrid>
              <a:tr h="3062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Method</a:t>
                      </a:r>
                      <a:endParaRPr lang="ko-KR" alt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ID Purity(</a:t>
                      </a:r>
                      <a:r>
                        <a:rPr lang="ko-KR" altLang="en-US" sz="1300" dirty="0"/>
                        <a:t>↑</a:t>
                      </a:r>
                      <a:r>
                        <a:rPr lang="en-US" altLang="ko-KR" sz="1300" dirty="0"/>
                        <a:t>)</a:t>
                      </a:r>
                      <a:endParaRPr lang="ko-KR" alt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IDSW(</a:t>
                      </a:r>
                      <a:r>
                        <a:rPr lang="ko-KR" altLang="en-US" sz="1300" dirty="0"/>
                        <a:t>↓</a:t>
                      </a:r>
                      <a:r>
                        <a:rPr lang="en-US" altLang="ko-KR" sz="1300" dirty="0"/>
                        <a:t>)</a:t>
                      </a:r>
                      <a:endParaRPr lang="ko-KR" alt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err="1"/>
                        <a:t>AssA</a:t>
                      </a:r>
                      <a:r>
                        <a:rPr lang="en-US" altLang="ko-KR" sz="1300" dirty="0"/>
                        <a:t>(</a:t>
                      </a:r>
                      <a:r>
                        <a:rPr lang="ko-KR" altLang="en-US" sz="1300" dirty="0"/>
                        <a:t>↑</a:t>
                      </a:r>
                      <a:r>
                        <a:rPr lang="en-US" altLang="ko-KR" sz="1300" dirty="0"/>
                        <a:t>)</a:t>
                      </a:r>
                      <a:endParaRPr lang="ko-KR" alt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MOTA(</a:t>
                      </a:r>
                      <a:r>
                        <a:rPr lang="ko-KR" altLang="en-US" sz="1300" dirty="0"/>
                        <a:t>↑</a:t>
                      </a:r>
                      <a:r>
                        <a:rPr lang="en-US" altLang="ko-KR" sz="1300" dirty="0"/>
                        <a:t>)</a:t>
                      </a:r>
                      <a:endParaRPr lang="ko-KR" alt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392871"/>
                  </a:ext>
                </a:extLst>
              </a:tr>
              <a:tr h="306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스캔 토폴로지 기반 인접 후보군</a:t>
                      </a:r>
                      <a:r>
                        <a:rPr lang="en-US" altLang="ko-KR" sz="1300" b="0" dirty="0"/>
                        <a:t>, </a:t>
                      </a:r>
                      <a:r>
                        <a:rPr lang="ko-KR" altLang="en-US" sz="1300" b="0" dirty="0"/>
                        <a:t>격자</a:t>
                      </a:r>
                      <a:r>
                        <a:rPr lang="en-US" altLang="ko-KR" sz="1300" b="0" dirty="0"/>
                        <a:t>(11x11)</a:t>
                      </a:r>
                      <a:endParaRPr lang="ko-KR" altLang="en-US" sz="13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/>
                        <a:t>100%</a:t>
                      </a:r>
                      <a:endParaRPr lang="ko-KR" altLang="en-US" sz="13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/>
                        <a:t>6</a:t>
                      </a:r>
                      <a:r>
                        <a:rPr lang="ko-KR" altLang="en-US" sz="1300" b="0" dirty="0"/>
                        <a:t>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/>
                        <a:t>0.76</a:t>
                      </a:r>
                      <a:endParaRPr lang="ko-KR" altLang="en-US" sz="13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/>
                        <a:t>94.5%</a:t>
                      </a:r>
                      <a:endParaRPr lang="ko-KR" altLang="en-US" sz="13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696609"/>
                  </a:ext>
                </a:extLst>
              </a:tr>
              <a:tr h="306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스캔 토폴로지 기반 인접 후보군</a:t>
                      </a:r>
                      <a:r>
                        <a:rPr lang="en-US" altLang="ko-KR" sz="1300" b="0" dirty="0"/>
                        <a:t>, </a:t>
                      </a:r>
                      <a:r>
                        <a:rPr lang="ko-KR" altLang="en-US" sz="1300" b="0" dirty="0"/>
                        <a:t>격자</a:t>
                      </a:r>
                      <a:r>
                        <a:rPr lang="en-US" altLang="ko-KR" sz="1300" b="0" dirty="0"/>
                        <a:t>(5x5)</a:t>
                      </a:r>
                      <a:endParaRPr lang="ko-KR" altLang="en-US" sz="13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/>
                        <a:t>75.5%</a:t>
                      </a:r>
                      <a:endParaRPr lang="ko-KR" altLang="en-US" sz="13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/>
                        <a:t>1</a:t>
                      </a:r>
                      <a:r>
                        <a:rPr lang="ko-KR" altLang="en-US" sz="1300" b="1" dirty="0"/>
                        <a:t>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/>
                        <a:t>0.73</a:t>
                      </a:r>
                      <a:endParaRPr lang="ko-KR" altLang="en-US" sz="13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/>
                        <a:t>99.1%</a:t>
                      </a:r>
                      <a:endParaRPr lang="ko-KR" altLang="en-US" sz="13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6771039"/>
                  </a:ext>
                </a:extLst>
              </a:tr>
              <a:tr h="306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/>
                        <a:t>스캔 토폴로지 기반 인접 후보군</a:t>
                      </a:r>
                      <a:r>
                        <a:rPr lang="en-US" altLang="ko-KR" sz="1300" b="0" dirty="0"/>
                        <a:t>, </a:t>
                      </a:r>
                      <a:r>
                        <a:rPr lang="ko-KR" altLang="en-US" sz="1300" b="0" dirty="0"/>
                        <a:t>격자</a:t>
                      </a:r>
                      <a:r>
                        <a:rPr lang="en-US" altLang="ko-KR" sz="1300" b="0" dirty="0"/>
                        <a:t> </a:t>
                      </a:r>
                      <a:r>
                        <a:rPr lang="ko-KR" altLang="en-US" sz="1300" b="0" dirty="0"/>
                        <a:t>미적용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/>
                        <a:t>32.7%</a:t>
                      </a:r>
                      <a:endParaRPr lang="ko-KR" altLang="en-US" sz="13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/>
                        <a:t>2</a:t>
                      </a:r>
                      <a:r>
                        <a:rPr lang="ko-KR" altLang="en-US" sz="1300" b="0" dirty="0"/>
                        <a:t>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/>
                        <a:t>0.25</a:t>
                      </a:r>
                      <a:endParaRPr lang="ko-KR" altLang="en-US" sz="13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/>
                        <a:t>98.2%</a:t>
                      </a:r>
                      <a:endParaRPr lang="ko-KR" altLang="en-US" sz="13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5870170"/>
                  </a:ext>
                </a:extLst>
              </a:tr>
              <a:tr h="3062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/>
                        <a:t>Max age = 5, </a:t>
                      </a:r>
                      <a:r>
                        <a:rPr lang="ko-KR" altLang="en-US" sz="1300" b="0" dirty="0"/>
                        <a:t>격자</a:t>
                      </a:r>
                      <a:r>
                        <a:rPr lang="en-US" altLang="ko-KR" sz="1300" b="0" dirty="0"/>
                        <a:t>(11x11)</a:t>
                      </a:r>
                      <a:endParaRPr lang="ko-KR" altLang="en-US" sz="13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/>
                        <a:t>100%</a:t>
                      </a:r>
                      <a:endParaRPr lang="ko-KR" altLang="en-US" sz="13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/>
                        <a:t>6</a:t>
                      </a:r>
                      <a:r>
                        <a:rPr lang="ko-KR" altLang="en-US" sz="1300" b="0" dirty="0"/>
                        <a:t>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/>
                        <a:t>0.58</a:t>
                      </a:r>
                      <a:endParaRPr lang="ko-KR" altLang="en-US" sz="13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/>
                        <a:t>94.5%</a:t>
                      </a:r>
                      <a:endParaRPr lang="ko-KR" altLang="en-US" sz="13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484651"/>
                  </a:ext>
                </a:extLst>
              </a:tr>
              <a:tr h="3062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/>
                        <a:t>Max age = 5, </a:t>
                      </a:r>
                      <a:r>
                        <a:rPr lang="ko-KR" altLang="en-US" sz="1300" b="0" dirty="0"/>
                        <a:t>격자</a:t>
                      </a:r>
                      <a:r>
                        <a:rPr lang="en-US" altLang="ko-KR" sz="1300" b="0" dirty="0"/>
                        <a:t> </a:t>
                      </a:r>
                      <a:r>
                        <a:rPr lang="ko-KR" altLang="en-US" sz="1300" b="0" dirty="0"/>
                        <a:t>미적용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/>
                        <a:t>31.8%</a:t>
                      </a:r>
                      <a:endParaRPr lang="ko-KR" altLang="en-US" sz="13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/>
                        <a:t>2</a:t>
                      </a:r>
                      <a:r>
                        <a:rPr lang="ko-KR" altLang="en-US" sz="1300" b="0" dirty="0"/>
                        <a:t>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/>
                        <a:t>0.24</a:t>
                      </a:r>
                      <a:endParaRPr lang="ko-KR" altLang="en-US" sz="13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/>
                        <a:t>98.2%</a:t>
                      </a:r>
                      <a:endParaRPr lang="ko-KR" altLang="en-US" sz="13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20707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84C3478-3D34-51A9-7ADD-E273EBB32B69}"/>
              </a:ext>
            </a:extLst>
          </p:cNvPr>
          <p:cNvSpPr txBox="1"/>
          <p:nvPr/>
        </p:nvSpPr>
        <p:spPr>
          <a:xfrm>
            <a:off x="3877726" y="947854"/>
            <a:ext cx="4436545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표</a:t>
            </a:r>
            <a:r>
              <a:rPr lang="en-US" altLang="ko-KR" b="1" dirty="0"/>
              <a:t>3.  </a:t>
            </a:r>
            <a:r>
              <a:rPr lang="ko-KR" altLang="en-US" b="1" dirty="0"/>
              <a:t>제안 기법의 파라미터별 성능 평가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048C60-0D0E-B316-1028-CF1F19C6C431}"/>
              </a:ext>
            </a:extLst>
          </p:cNvPr>
          <p:cNvSpPr txBox="1"/>
          <p:nvPr/>
        </p:nvSpPr>
        <p:spPr>
          <a:xfrm>
            <a:off x="349469" y="3584159"/>
            <a:ext cx="1134178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b="0" i="0" dirty="0">
              <a:latin typeface="Cambria Math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격자의 정보보존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단일 히스토그램</a:t>
            </a:r>
            <a:r>
              <a:rPr lang="en-US" altLang="ko-KR" dirty="0"/>
              <a:t>(Grid </a:t>
            </a:r>
            <a:r>
              <a:rPr lang="ko-KR" altLang="en-US" dirty="0"/>
              <a:t>미적용</a:t>
            </a:r>
            <a:r>
              <a:rPr lang="en-US" altLang="ko-KR" dirty="0"/>
              <a:t>)</a:t>
            </a:r>
            <a:r>
              <a:rPr lang="ko-KR" altLang="en-US" dirty="0"/>
              <a:t>은 정보의 부족으로 인한 객체 구분 실패로 인해</a:t>
            </a:r>
            <a:r>
              <a:rPr lang="en-US" altLang="ko-KR" dirty="0"/>
              <a:t>, ID Purity</a:t>
            </a:r>
            <a:r>
              <a:rPr lang="ko-KR" altLang="en-US" dirty="0"/>
              <a:t>매우 낮은 값 도출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토폴로지 기반 후보군</a:t>
            </a:r>
            <a:r>
              <a:rPr lang="en-US" altLang="ko-KR" dirty="0"/>
              <a:t> : </a:t>
            </a:r>
            <a:r>
              <a:rPr lang="ko-KR" altLang="en-US" dirty="0"/>
              <a:t>트랙 파편화를 억제하여 높은 </a:t>
            </a:r>
            <a:r>
              <a:rPr lang="en-US" altLang="ko-KR" dirty="0" err="1"/>
              <a:t>AssA</a:t>
            </a:r>
            <a:r>
              <a:rPr lang="en-US" altLang="ko-KR" dirty="0"/>
              <a:t> </a:t>
            </a:r>
            <a:r>
              <a:rPr lang="ko-KR" altLang="en-US" dirty="0"/>
              <a:t>도출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병합 오류 방지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일부 높은 </a:t>
            </a:r>
            <a:r>
              <a:rPr lang="en-US" altLang="ko-KR" dirty="0"/>
              <a:t>MOTA </a:t>
            </a:r>
            <a:r>
              <a:rPr lang="ko-KR" altLang="en-US" dirty="0"/>
              <a:t>값은</a:t>
            </a:r>
            <a:r>
              <a:rPr lang="en-US" altLang="ko-KR" dirty="0"/>
              <a:t> </a:t>
            </a:r>
            <a:r>
              <a:rPr lang="ko-KR" altLang="en-US" dirty="0"/>
              <a:t>낮은 비교 성능으로 인한 </a:t>
            </a:r>
            <a:r>
              <a:rPr lang="en-US" altLang="ko-KR" dirty="0"/>
              <a:t>ID </a:t>
            </a:r>
            <a:r>
              <a:rPr lang="ko-KR" altLang="en-US" dirty="0"/>
              <a:t>병합에 의한 값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09961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BC24A-A7D3-5AFC-160F-DA07CF194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DD6DD8C6-8903-A2F3-6D63-4D642F6D4301}"/>
              </a:ext>
            </a:extLst>
          </p:cNvPr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r">
              <a:defRPr/>
            </a:pPr>
            <a:r>
              <a:rPr lang="en-US" altLang="ko-KR" dirty="0"/>
              <a:t>9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D377B73-8EC7-2921-BAA5-C4A93D2F6CBE}"/>
              </a:ext>
            </a:extLst>
          </p:cNvPr>
          <p:cNvSpPr/>
          <p:nvPr/>
        </p:nvSpPr>
        <p:spPr>
          <a:xfrm>
            <a:off x="-7882" y="0"/>
            <a:ext cx="12230704" cy="6537960"/>
          </a:xfrm>
          <a:prstGeom prst="rect">
            <a:avLst/>
          </a:prstGeom>
          <a:solidFill>
            <a:srgbClr val="EF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 dirty="0">
              <a:solidFill>
                <a:schemeClr val="tx1"/>
              </a:solidFill>
              <a:latin typeface="HY헤드라인M"/>
              <a:ea typeface="HY헤드라인M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524A1ED-2259-FFAE-9EEF-088830E28F66}"/>
              </a:ext>
            </a:extLst>
          </p:cNvPr>
          <p:cNvSpPr/>
          <p:nvPr/>
        </p:nvSpPr>
        <p:spPr>
          <a:xfrm>
            <a:off x="210786" y="149472"/>
            <a:ext cx="277368" cy="539496"/>
          </a:xfrm>
          <a:prstGeom prst="rect">
            <a:avLst/>
          </a:prstGeom>
          <a:solidFill>
            <a:srgbClr val="89C1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A7F7D12-9076-11E2-F7BC-DB061A1275F6}"/>
              </a:ext>
            </a:extLst>
          </p:cNvPr>
          <p:cNvSpPr/>
          <p:nvPr/>
        </p:nvSpPr>
        <p:spPr>
          <a:xfrm>
            <a:off x="305274" y="79368"/>
            <a:ext cx="5540634" cy="539496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chemeClr val="tx1"/>
                </a:solidFill>
                <a:latin typeface="HY헤드라인M"/>
                <a:ea typeface="HY헤드라인M"/>
              </a:rPr>
              <a:t>결론</a:t>
            </a:r>
            <a:endParaRPr lang="en-US" altLang="ko-KR" dirty="0">
              <a:solidFill>
                <a:schemeClr val="tx1"/>
              </a:solidFill>
              <a:latin typeface="HY헤드라인M"/>
              <a:ea typeface="HY헤드라인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E827D8-2454-37D3-9A46-975D6E7CDAEB}"/>
              </a:ext>
            </a:extLst>
          </p:cNvPr>
          <p:cNvSpPr txBox="1"/>
          <p:nvPr/>
        </p:nvSpPr>
        <p:spPr>
          <a:xfrm>
            <a:off x="1" y="881058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  ■ 결론</a:t>
            </a:r>
            <a:r>
              <a:rPr lang="en-US" altLang="ko-KR" sz="2400" b="1" dirty="0"/>
              <a:t>,</a:t>
            </a:r>
            <a:r>
              <a:rPr lang="ko-KR" altLang="en-US" sz="2400" b="1" dirty="0"/>
              <a:t> 향후 연구</a:t>
            </a:r>
            <a:endParaRPr lang="en-US" altLang="ko-KR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BC646C-1B70-AC1A-09D1-07BF1E049770}"/>
              </a:ext>
            </a:extLst>
          </p:cNvPr>
          <p:cNvSpPr txBox="1"/>
          <p:nvPr/>
        </p:nvSpPr>
        <p:spPr>
          <a:xfrm>
            <a:off x="369115" y="1396995"/>
            <a:ext cx="1108943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결론</a:t>
            </a:r>
            <a:endParaRPr lang="en-US" altLang="ko-KR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5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/>
              <a:t>본 논문은 </a:t>
            </a:r>
            <a:r>
              <a:rPr lang="en-US" altLang="ko-KR" sz="2000" dirty="0"/>
              <a:t>pan-tilt </a:t>
            </a:r>
            <a:r>
              <a:rPr lang="ko-KR" altLang="en-US" sz="2000" dirty="0"/>
              <a:t>카메라를 활용한 레이저 기반의 무선 전력 전송 시스템에서 다중 객체 추적 기법을 제안함</a:t>
            </a:r>
            <a:r>
              <a:rPr lang="en-US" altLang="ko-KR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/>
              <a:t>스캔 토폴로지 기반 인접 후보군 탐색 기법</a:t>
            </a:r>
            <a:r>
              <a:rPr lang="ko-KR" altLang="en-US" sz="2000" dirty="0"/>
              <a:t>을 통해 급격한 시점 변화에도 트랙 파편화를 억제하고 추적 안정성 확보</a:t>
            </a:r>
            <a:r>
              <a:rPr lang="en-US" altLang="ko-KR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/>
              <a:t>격자 기반 히스토그램 코사인 유사도</a:t>
            </a:r>
            <a:r>
              <a:rPr lang="ko-KR" altLang="en-US" sz="2000" dirty="0"/>
              <a:t>를 통해 </a:t>
            </a:r>
            <a:r>
              <a:rPr lang="ko-KR" altLang="en-US" sz="2000" b="1" dirty="0"/>
              <a:t>시점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외형 변화에 강인</a:t>
            </a:r>
            <a:r>
              <a:rPr lang="ko-KR" altLang="en-US" sz="2000" dirty="0"/>
              <a:t>한 추적 성능 확보</a:t>
            </a:r>
            <a:r>
              <a:rPr lang="en-US" altLang="ko-KR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/>
              <a:t>실내 환경에서의 검증 결과 </a:t>
            </a:r>
            <a:r>
              <a:rPr lang="en-US" altLang="ko-KR" sz="2000" b="1" dirty="0"/>
              <a:t>MOTA 94.5% </a:t>
            </a:r>
            <a:r>
              <a:rPr lang="ko-KR" altLang="en-US" sz="2000" dirty="0"/>
              <a:t>달성으로 안정적 추적 확인</a:t>
            </a:r>
            <a:r>
              <a:rPr lang="en-US" altLang="ko-KR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b="1" dirty="0"/>
              <a:t>향후 연구</a:t>
            </a:r>
            <a:endParaRPr lang="en-US" altLang="ko-KR" sz="2000" b="1" dirty="0"/>
          </a:p>
          <a:p>
            <a:endParaRPr lang="en-US" altLang="ko-KR" sz="2000" b="1" dirty="0"/>
          </a:p>
          <a:p>
            <a:endParaRPr lang="en-US" altLang="ko-KR" sz="5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/>
              <a:t>Target</a:t>
            </a:r>
            <a:r>
              <a:rPr lang="ko-KR" altLang="en-US" sz="2000" dirty="0"/>
              <a:t> 설계를 통한 </a:t>
            </a:r>
            <a:r>
              <a:rPr lang="en-US" altLang="ko-KR" sz="2000" dirty="0"/>
              <a:t>IoT </a:t>
            </a:r>
            <a:r>
              <a:rPr lang="ko-KR" altLang="en-US" sz="2000" dirty="0"/>
              <a:t>기기 충전 시스템 연구</a:t>
            </a:r>
            <a:r>
              <a:rPr lang="en-US" altLang="ko-KR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/>
              <a:t>정적인 </a:t>
            </a:r>
            <a:r>
              <a:rPr lang="en-US" altLang="ko-KR" sz="2000" dirty="0"/>
              <a:t>Target </a:t>
            </a:r>
            <a:r>
              <a:rPr lang="ko-KR" altLang="en-US" sz="2000" dirty="0"/>
              <a:t>이 아닌 동적인 </a:t>
            </a:r>
            <a:r>
              <a:rPr lang="en-US" altLang="ko-KR" sz="2000" dirty="0"/>
              <a:t>Target </a:t>
            </a:r>
            <a:r>
              <a:rPr lang="ko-KR" altLang="en-US" sz="2000" dirty="0"/>
              <a:t>시스템 에서의 추가 기법 고안</a:t>
            </a:r>
            <a:r>
              <a:rPr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72721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5104B-F9BD-A3D3-FD0D-07164BEC7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8F0ACE77-E7FB-2E3E-0D70-9D9B0EDE2B56}"/>
              </a:ext>
            </a:extLst>
          </p:cNvPr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357FAC3-987A-6353-8E95-91289675CA8D}"/>
              </a:ext>
            </a:extLst>
          </p:cNvPr>
          <p:cNvSpPr/>
          <p:nvPr/>
        </p:nvSpPr>
        <p:spPr>
          <a:xfrm>
            <a:off x="0" y="466344"/>
            <a:ext cx="12192000" cy="6071616"/>
          </a:xfrm>
          <a:prstGeom prst="rect">
            <a:avLst/>
          </a:prstGeom>
          <a:solidFill>
            <a:srgbClr val="EF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altLang="ko-KR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54AED68-A221-6DC9-A151-DB9CCD0C5B06}"/>
              </a:ext>
            </a:extLst>
          </p:cNvPr>
          <p:cNvSpPr/>
          <p:nvPr/>
        </p:nvSpPr>
        <p:spPr>
          <a:xfrm>
            <a:off x="210786" y="149472"/>
            <a:ext cx="277368" cy="539496"/>
          </a:xfrm>
          <a:prstGeom prst="rect">
            <a:avLst/>
          </a:prstGeom>
          <a:solidFill>
            <a:srgbClr val="89C1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5C3C704-EBE9-9CF7-47E8-8D7FA279FFFE}"/>
              </a:ext>
            </a:extLst>
          </p:cNvPr>
          <p:cNvSpPr/>
          <p:nvPr/>
        </p:nvSpPr>
        <p:spPr>
          <a:xfrm>
            <a:off x="305274" y="79368"/>
            <a:ext cx="5540634" cy="539496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마무리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A34F788-45E3-AFE7-A183-2E9882012D58}"/>
              </a:ext>
            </a:extLst>
          </p:cNvPr>
          <p:cNvSpPr txBox="1">
            <a:spLocks/>
          </p:cNvSpPr>
          <p:nvPr/>
        </p:nvSpPr>
        <p:spPr>
          <a:xfrm>
            <a:off x="1615440" y="1497403"/>
            <a:ext cx="9144000" cy="1224279"/>
          </a:xfrm>
          <a:prstGeom prst="rect">
            <a:avLst/>
          </a:prstGeom>
          <a:solidFill>
            <a:srgbClr val="EFF3F8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5000" b="1" dirty="0">
                <a:solidFill>
                  <a:srgbClr val="000000"/>
                </a:solidFill>
                <a:latin typeface="+mj-ea"/>
              </a:rPr>
              <a:t>Thank you</a:t>
            </a:r>
            <a:endParaRPr lang="ko-KR" altLang="en-US" sz="5000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EA5AD07-7BFF-3BF1-6FF8-D2469E83F69C}"/>
              </a:ext>
            </a:extLst>
          </p:cNvPr>
          <p:cNvSpPr txBox="1">
            <a:spLocks/>
          </p:cNvSpPr>
          <p:nvPr/>
        </p:nvSpPr>
        <p:spPr>
          <a:xfrm>
            <a:off x="1524000" y="3752741"/>
            <a:ext cx="9144000" cy="24993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altLang="ko-KR" sz="2000" dirty="0">
                <a:latin typeface="+mj-ea"/>
                <a:ea typeface="+mj-ea"/>
              </a:rPr>
              <a:t>2026-02-06</a:t>
            </a:r>
          </a:p>
          <a:p>
            <a:pPr algn="ctr">
              <a:defRPr/>
            </a:pPr>
            <a:endParaRPr lang="en-US" altLang="ko-KR" sz="2000" dirty="0">
              <a:latin typeface="+mj-ea"/>
              <a:ea typeface="+mj-ea"/>
            </a:endParaRPr>
          </a:p>
          <a:p>
            <a:pPr marL="0" indent="0" algn="ctr">
              <a:buNone/>
              <a:defRPr/>
            </a:pPr>
            <a:r>
              <a:rPr lang="ko-KR" altLang="en-US" sz="2000" b="1" dirty="0">
                <a:latin typeface="+mj-ea"/>
                <a:ea typeface="+mj-ea"/>
              </a:rPr>
              <a:t>이희준</a:t>
            </a:r>
            <a:r>
              <a:rPr lang="en-US" altLang="ko-KR" sz="2000" dirty="0">
                <a:latin typeface="+mj-ea"/>
                <a:ea typeface="+mj-ea"/>
              </a:rPr>
              <a:t>, </a:t>
            </a:r>
            <a:r>
              <a:rPr lang="ko-KR" altLang="en-US" sz="2000" dirty="0" err="1">
                <a:latin typeface="+mj-ea"/>
                <a:ea typeface="+mj-ea"/>
              </a:rPr>
              <a:t>빈경민</a:t>
            </a:r>
            <a:r>
              <a:rPr lang="en-US" altLang="ko-KR" sz="2000" dirty="0">
                <a:latin typeface="+mj-ea"/>
                <a:ea typeface="+mj-ea"/>
              </a:rPr>
              <a:t>, </a:t>
            </a:r>
            <a:r>
              <a:rPr lang="ko-KR" altLang="en-US" sz="2000" dirty="0">
                <a:latin typeface="+mj-ea"/>
                <a:ea typeface="+mj-ea"/>
              </a:rPr>
              <a:t>김수민</a:t>
            </a:r>
            <a:r>
              <a:rPr lang="en-US" altLang="ko-KR" sz="2000" dirty="0">
                <a:latin typeface="+mj-ea"/>
                <a:ea typeface="+mj-ea"/>
              </a:rPr>
              <a:t>, </a:t>
            </a:r>
            <a:r>
              <a:rPr lang="ko-KR" altLang="en-US" sz="2000" dirty="0">
                <a:latin typeface="+mj-ea"/>
                <a:ea typeface="+mj-ea"/>
              </a:rPr>
              <a:t>김준수</a:t>
            </a:r>
            <a:r>
              <a:rPr lang="en-US" altLang="ko-KR" sz="2000" dirty="0">
                <a:latin typeface="+mj-ea"/>
                <a:ea typeface="+mj-ea"/>
              </a:rPr>
              <a:t>*</a:t>
            </a:r>
          </a:p>
          <a:p>
            <a:pPr marL="0" indent="0" algn="ctr">
              <a:buNone/>
              <a:defRPr/>
            </a:pPr>
            <a:r>
              <a:rPr lang="en-US" altLang="ko-KR" sz="2000" dirty="0">
                <a:latin typeface="+mj-ea"/>
                <a:ea typeface="+mj-ea"/>
              </a:rPr>
              <a:t>gmlwns2279@tukorea.ac.kr</a:t>
            </a:r>
          </a:p>
          <a:p>
            <a:pPr marL="0" indent="0" algn="ctr">
              <a:buNone/>
              <a:defRPr/>
            </a:pPr>
            <a:r>
              <a:rPr lang="en-US" altLang="ko-KR" sz="2000" dirty="0">
                <a:latin typeface="+mj-ea"/>
                <a:ea typeface="+mj-ea"/>
              </a:rPr>
              <a:t>Dept. of IT Semiconductor Convergence Engineering, TUK</a:t>
            </a:r>
          </a:p>
          <a:p>
            <a:pPr marL="0" indent="0" algn="ctr">
              <a:buNone/>
            </a:pPr>
            <a:r>
              <a:rPr lang="en-US" altLang="ko-KR" sz="2000" dirty="0">
                <a:latin typeface="+mj-ea"/>
                <a:ea typeface="+mj-ea"/>
              </a:rPr>
              <a:t>Intelligent Connected-Things (</a:t>
            </a:r>
            <a:r>
              <a:rPr lang="en-US" altLang="ko-KR" sz="2000" dirty="0" err="1">
                <a:latin typeface="+mj-ea"/>
                <a:ea typeface="+mj-ea"/>
              </a:rPr>
              <a:t>ICon</a:t>
            </a:r>
            <a:r>
              <a:rPr lang="en-US" altLang="ko-KR" sz="2000" dirty="0">
                <a:latin typeface="+mj-ea"/>
                <a:ea typeface="+mj-ea"/>
              </a:rPr>
              <a:t>) Lab</a:t>
            </a:r>
            <a:endParaRPr lang="ko-KR" altLang="en-US" sz="20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4020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3820</TotalTime>
  <Words>1909</Words>
  <Application>Microsoft Office PowerPoint</Application>
  <PresentationFormat>와이드스크린</PresentationFormat>
  <Paragraphs>280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HY헤드라인M</vt:lpstr>
      <vt:lpstr>맑은 고딕</vt:lpstr>
      <vt:lpstr>Arial</vt:lpstr>
      <vt:lpstr>Cambria Math</vt:lpstr>
      <vt:lpstr>Office 테마</vt:lpstr>
      <vt:lpstr>PowerPoint 프레젠테이션</vt:lpstr>
      <vt:lpstr>목차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이희준(2025811065)</dc:creator>
  <cp:lastModifiedBy>이희준(2025811065)</cp:lastModifiedBy>
  <cp:revision>604</cp:revision>
  <dcterms:created xsi:type="dcterms:W3CDTF">2025-05-16T02:02:27Z</dcterms:created>
  <dcterms:modified xsi:type="dcterms:W3CDTF">2026-01-28T18:17:39Z</dcterms:modified>
  <cp:version/>
</cp:coreProperties>
</file>