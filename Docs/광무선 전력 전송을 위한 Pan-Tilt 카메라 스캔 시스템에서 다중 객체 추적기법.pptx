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3"/>
  </p:notesMasterIdLst>
  <p:sldIdLst>
    <p:sldId id="279" r:id="rId2"/>
    <p:sldId id="263" r:id="rId3"/>
    <p:sldId id="302" r:id="rId4"/>
    <p:sldId id="310" r:id="rId5"/>
    <p:sldId id="290" r:id="rId6"/>
    <p:sldId id="303" r:id="rId7"/>
    <p:sldId id="304" r:id="rId8"/>
    <p:sldId id="306" r:id="rId9"/>
    <p:sldId id="307" r:id="rId10"/>
    <p:sldId id="308" r:id="rId11"/>
    <p:sldId id="305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 및 목차" id="{FDA37AE7-6F61-4738-B58E-53D16F24D74C}">
          <p14:sldIdLst>
            <p14:sldId id="279"/>
            <p14:sldId id="263"/>
          </p14:sldIdLst>
        </p14:section>
        <p14:section name="본문" id="{975B14FF-5963-4FA2-99F3-05B9EABDC627}">
          <p14:sldIdLst>
            <p14:sldId id="302"/>
            <p14:sldId id="310"/>
            <p14:sldId id="290"/>
            <p14:sldId id="303"/>
            <p14:sldId id="304"/>
            <p14:sldId id="306"/>
            <p14:sldId id="307"/>
            <p14:sldId id="308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F3F8"/>
    <a:srgbClr val="CFD8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61" autoAdjust="0"/>
    <p:restoredTop sz="82485" autoAdjust="0"/>
  </p:normalViewPr>
  <p:slideViewPr>
    <p:cSldViewPr snapToGrid="0">
      <p:cViewPr>
        <p:scale>
          <a:sx n="125" d="100"/>
          <a:sy n="125" d="100"/>
        </p:scale>
        <p:origin x="-1080" y="-1020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7EF4DEA1-4F95-401F-9C1D-7F013E6FE5F6}" type="datetime1">
              <a:rPr lang="ko-KR" altLang="en-US"/>
              <a:pPr lvl="0">
                <a:defRPr/>
              </a:pPr>
              <a:t>2026-01-22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16A3BD86-B9C4-48BB-B1BA-5BDB10AF1901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9900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ㅎㅇ</a:t>
            </a:r>
            <a:r>
              <a:rPr lang="en-US" altLang="ko-KR" dirty="0"/>
              <a:t>. **'</a:t>
            </a:r>
            <a:r>
              <a:rPr lang="ko-KR" altLang="en-US" dirty="0" err="1"/>
              <a:t>광무선</a:t>
            </a:r>
            <a:r>
              <a:rPr lang="ko-KR" altLang="en-US" dirty="0"/>
              <a:t> 전력 전송을 위한 </a:t>
            </a:r>
            <a:r>
              <a:rPr lang="en-US" altLang="ko-KR" dirty="0"/>
              <a:t>Pan-Tilt </a:t>
            </a:r>
            <a:r>
              <a:rPr lang="ko-KR" altLang="en-US" dirty="0"/>
              <a:t>카메라 스캔 시스템에서 다중 객체 추적 기법</a:t>
            </a:r>
            <a:r>
              <a:rPr lang="en-US" altLang="ko-KR" dirty="0"/>
              <a:t>'**</a:t>
            </a:r>
            <a:r>
              <a:rPr lang="ko-KR" altLang="en-US" dirty="0"/>
              <a:t>에 대해 김준수 교수님 지도학생 석사 </a:t>
            </a:r>
            <a:r>
              <a:rPr lang="en-US" altLang="ko-KR" dirty="0"/>
              <a:t>1</a:t>
            </a:r>
            <a:r>
              <a:rPr lang="ko-KR" altLang="en-US" dirty="0" err="1"/>
              <a:t>년차</a:t>
            </a:r>
            <a:r>
              <a:rPr lang="ko-KR" altLang="en-US" dirty="0"/>
              <a:t> 이희준입니다</a:t>
            </a:r>
            <a:r>
              <a:rPr lang="en-US" altLang="ko-KR" dirty="0"/>
              <a:t>. </a:t>
            </a:r>
            <a:r>
              <a:rPr lang="ko-KR" altLang="en-US" dirty="0"/>
              <a:t>발표 시작하겠습니다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A3BD86-B9C4-48BB-B1BA-5BDB10AF190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67684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AF1C-406D-0B70-4875-A4801716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3757F4-9E03-3DE5-19A3-F55EC9B66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0A5F3F-38A2-9562-92CF-E1A60FE9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목차입니다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1604A7-4183-1584-44D6-EC90448AF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43A8FF-2D2B-41EB-B861-1466B481D0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03749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DFDC1-8142-59B0-D09E-703645C9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379B32-A52B-F0BE-67BE-45B2D4AC4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18D3CD-8022-DFB1-B68D-C27EAA482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서론입니다</a:t>
            </a:r>
            <a:r>
              <a:rPr lang="en-US" altLang="ko-KR" dirty="0"/>
              <a:t>. </a:t>
            </a:r>
            <a:r>
              <a:rPr lang="ko-KR" altLang="en-US" dirty="0"/>
              <a:t>최근 </a:t>
            </a:r>
            <a:r>
              <a:rPr lang="en-US" altLang="ko-KR" dirty="0"/>
              <a:t>IoT </a:t>
            </a:r>
            <a:r>
              <a:rPr lang="ko-KR" altLang="en-US" dirty="0"/>
              <a:t>기기의 전원 공급을 위해 </a:t>
            </a:r>
            <a:r>
              <a:rPr lang="ko-KR" altLang="en-US" b="1" dirty="0" err="1"/>
              <a:t>광무선</a:t>
            </a:r>
            <a:r>
              <a:rPr lang="ko-KR" altLang="en-US" b="1" dirty="0"/>
              <a:t> 전력 전송</a:t>
            </a:r>
            <a:r>
              <a:rPr lang="en-US" altLang="ko-KR" b="1" dirty="0"/>
              <a:t>(OWPT)</a:t>
            </a:r>
            <a:r>
              <a:rPr lang="ko-KR" altLang="en-US" dirty="0"/>
              <a:t> 기술이 주목받고 있습니다</a:t>
            </a:r>
            <a:r>
              <a:rPr lang="en-US" altLang="ko-KR" dirty="0"/>
              <a:t>. </a:t>
            </a:r>
            <a:r>
              <a:rPr lang="ko-KR" altLang="en-US" dirty="0"/>
              <a:t>이 시스템의 핵심은 수신부의 위치를 정확히 파악하고 지속적으로 추적하는 것입니다</a:t>
            </a:r>
            <a:r>
              <a:rPr lang="en-US" altLang="ko-KR" dirty="0"/>
              <a:t>. </a:t>
            </a:r>
            <a:r>
              <a:rPr lang="ko-KR" altLang="en-US" dirty="0"/>
              <a:t>저희는 넓은 공간을 저비용으로 커버하기 위해 </a:t>
            </a:r>
            <a:r>
              <a:rPr lang="en-US" altLang="ko-KR" b="1" dirty="0"/>
              <a:t>Pan-Tilt </a:t>
            </a:r>
            <a:r>
              <a:rPr lang="ko-KR" altLang="en-US" b="1" dirty="0"/>
              <a:t>카메라</a:t>
            </a:r>
            <a:r>
              <a:rPr lang="ko-KR" altLang="en-US" dirty="0"/>
              <a:t>를 도입했습니다</a:t>
            </a:r>
            <a:r>
              <a:rPr lang="en-US" altLang="ko-KR" dirty="0"/>
              <a:t>. </a:t>
            </a:r>
            <a:r>
              <a:rPr lang="ko-KR" altLang="en-US" dirty="0"/>
              <a:t>다중 타겟인 상태에서</a:t>
            </a:r>
            <a:r>
              <a:rPr lang="en-US" altLang="ko-KR" dirty="0"/>
              <a:t>,</a:t>
            </a:r>
            <a:r>
              <a:rPr lang="ko-KR" altLang="en-US" dirty="0"/>
              <a:t> 넓은 영역을 </a:t>
            </a:r>
            <a:r>
              <a:rPr lang="en-US" altLang="ko-KR" dirty="0"/>
              <a:t>15</a:t>
            </a:r>
            <a:r>
              <a:rPr lang="ko-KR" altLang="en-US" dirty="0"/>
              <a:t>도씩 빠르게 스캔하다 보니</a:t>
            </a:r>
            <a:r>
              <a:rPr lang="en-US" altLang="ko-KR" dirty="0"/>
              <a:t>, </a:t>
            </a:r>
            <a:r>
              <a:rPr lang="ko-KR" altLang="en-US" dirty="0"/>
              <a:t>프레임 간 </a:t>
            </a:r>
            <a:r>
              <a:rPr lang="ko-KR" altLang="en-US" b="1" dirty="0"/>
              <a:t>타겟의 위치가 불연속적으로 급변</a:t>
            </a:r>
            <a:r>
              <a:rPr lang="ko-KR" altLang="en-US" dirty="0"/>
              <a:t>하는 문제가 발생했습니다</a:t>
            </a:r>
            <a:r>
              <a:rPr lang="en-US" altLang="ko-KR" dirty="0"/>
              <a:t>. </a:t>
            </a:r>
            <a:r>
              <a:rPr lang="ko-KR" altLang="en-US" dirty="0"/>
              <a:t>이로 인해 기존의 위치 기반 추적 알고리즘인 </a:t>
            </a:r>
            <a:r>
              <a:rPr lang="en-US" altLang="ko-KR" dirty="0"/>
              <a:t>SORT </a:t>
            </a:r>
            <a:r>
              <a:rPr lang="ko-KR" altLang="en-US" dirty="0"/>
              <a:t>등은 추적에 실패하게 됩니다</a:t>
            </a:r>
            <a:r>
              <a:rPr lang="en-US" altLang="ko-KR" dirty="0"/>
              <a:t>. </a:t>
            </a:r>
            <a:r>
              <a:rPr lang="ko-KR" altLang="en-US" dirty="0"/>
              <a:t>이를 해결하기 위해 저희는 물리적 거리 대신 </a:t>
            </a:r>
            <a:r>
              <a:rPr lang="ko-KR" altLang="en-US" b="1" dirty="0"/>
              <a:t>스캔 경로의 논리적 순서</a:t>
            </a:r>
            <a:r>
              <a:rPr lang="ko-KR" altLang="en-US" dirty="0"/>
              <a:t>를 이용한 데이터 연관 기법과</a:t>
            </a:r>
            <a:r>
              <a:rPr lang="en-US" altLang="ko-KR" dirty="0"/>
              <a:t>, </a:t>
            </a:r>
            <a:r>
              <a:rPr lang="ko-KR" altLang="en-US" dirty="0"/>
              <a:t>시점 변화에 강인한 </a:t>
            </a:r>
            <a:r>
              <a:rPr lang="ko-KR" altLang="en-US" b="1" dirty="0"/>
              <a:t>격자 기반 특징 매칭</a:t>
            </a:r>
            <a:r>
              <a:rPr lang="ko-KR" altLang="en-US" dirty="0"/>
              <a:t> 기법을 제안합니다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026536-8504-C3F6-96A4-B9573AF908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A3BD86-B9C4-48BB-B1BA-5BDB10AF190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54817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BFE42-E4B5-9549-BDB5-D5EB5FD97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C7E5BF-940E-F1A0-A2A3-A2CE4E01C75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2A12BE-5470-4776-283D-F094AFAE0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본 연구의 시스템 모델입니다</a:t>
            </a:r>
            <a:r>
              <a:rPr lang="en-US" altLang="ko-KR" dirty="0"/>
              <a:t>. </a:t>
            </a:r>
            <a:r>
              <a:rPr lang="ko-KR" altLang="en-US" dirty="0"/>
              <a:t>송신부는 </a:t>
            </a:r>
            <a:r>
              <a:rPr lang="en-US" altLang="ko-KR" dirty="0"/>
              <a:t>Pan-Tilt </a:t>
            </a:r>
            <a:r>
              <a:rPr lang="ko-KR" altLang="en-US" dirty="0" err="1"/>
              <a:t>구동부</a:t>
            </a:r>
            <a:r>
              <a:rPr lang="ko-KR" altLang="en-US" dirty="0"/>
              <a:t> 위에 </a:t>
            </a:r>
            <a:r>
              <a:rPr lang="en-US" altLang="ko-KR" dirty="0"/>
              <a:t>RGB </a:t>
            </a:r>
            <a:r>
              <a:rPr lang="ko-KR" altLang="en-US" dirty="0"/>
              <a:t>카메라와 레이저</a:t>
            </a:r>
            <a:r>
              <a:rPr lang="en-US" altLang="ko-KR" dirty="0"/>
              <a:t>, LED </a:t>
            </a:r>
            <a:r>
              <a:rPr lang="ko-KR" altLang="en-US" dirty="0"/>
              <a:t>모듈이 결합된 형태이며</a:t>
            </a:r>
            <a:r>
              <a:rPr lang="en-US" altLang="ko-KR" dirty="0"/>
              <a:t>, </a:t>
            </a:r>
            <a:r>
              <a:rPr lang="ko-KR" altLang="en-US" dirty="0"/>
              <a:t>효율적인 탐색을 위해 지그재그 형태인 </a:t>
            </a:r>
            <a:r>
              <a:rPr lang="en-US" altLang="ko-KR" b="1" dirty="0"/>
              <a:t>Boustrophedon(</a:t>
            </a:r>
            <a:r>
              <a:rPr lang="ko-KR" altLang="en-US" b="1" dirty="0" err="1"/>
              <a:t>부스트로페돈</a:t>
            </a:r>
            <a:r>
              <a:rPr lang="en-US" altLang="ko-KR" b="1" dirty="0"/>
              <a:t>) </a:t>
            </a:r>
            <a:r>
              <a:rPr lang="ko-KR" altLang="en-US" b="1" dirty="0"/>
              <a:t>패턴</a:t>
            </a:r>
            <a:r>
              <a:rPr lang="ko-KR" altLang="en-US" dirty="0"/>
              <a:t>으로 </a:t>
            </a:r>
            <a:r>
              <a:rPr lang="en-US" altLang="ko-KR" dirty="0"/>
              <a:t>15</a:t>
            </a:r>
            <a:r>
              <a:rPr lang="ko-KR" altLang="en-US" dirty="0"/>
              <a:t>도씩 이동하며 스캔합니다</a:t>
            </a:r>
            <a:r>
              <a:rPr lang="en-US" altLang="ko-KR" dirty="0"/>
              <a:t>. </a:t>
            </a:r>
            <a:r>
              <a:rPr lang="ko-KR" altLang="en-US" dirty="0"/>
              <a:t>수신부는 </a:t>
            </a:r>
            <a:r>
              <a:rPr lang="en-US" altLang="ko-KR" dirty="0"/>
              <a:t>5</a:t>
            </a:r>
            <a:r>
              <a:rPr lang="ko-KR" altLang="en-US" dirty="0"/>
              <a:t>에서 </a:t>
            </a:r>
            <a:r>
              <a:rPr lang="en-US" altLang="ko-KR" dirty="0"/>
              <a:t>10</a:t>
            </a:r>
            <a:r>
              <a:rPr lang="ko-KR" altLang="en-US" dirty="0"/>
              <a:t>미터 거리에 무작위로 배치되어 있으며</a:t>
            </a:r>
            <a:r>
              <a:rPr lang="en-US" altLang="ko-KR" dirty="0"/>
              <a:t>, </a:t>
            </a:r>
            <a:r>
              <a:rPr lang="ko-KR" altLang="en-US" dirty="0"/>
              <a:t>인식을 돕기 위해 빨간색 재귀반사필름이 부착되어 있습니다</a:t>
            </a:r>
            <a:r>
              <a:rPr lang="en-US" altLang="ko-KR" dirty="0"/>
              <a:t>. </a:t>
            </a:r>
            <a:r>
              <a:rPr lang="ko-KR" altLang="en-US" dirty="0"/>
              <a:t>저희는 </a:t>
            </a:r>
            <a:r>
              <a:rPr lang="en-US" altLang="ko-KR" dirty="0"/>
              <a:t>LED</a:t>
            </a:r>
            <a:r>
              <a:rPr lang="ko-KR" altLang="en-US" dirty="0"/>
              <a:t>를 껐다 켰을 때의 </a:t>
            </a:r>
            <a:r>
              <a:rPr lang="ko-KR" altLang="en-US" dirty="0" err="1"/>
              <a:t>차영상</a:t>
            </a:r>
            <a:r>
              <a:rPr lang="en-US" altLang="ko-KR" dirty="0"/>
              <a:t>(Diff)</a:t>
            </a:r>
            <a:r>
              <a:rPr lang="ko-KR" altLang="en-US" dirty="0"/>
              <a:t>을 이용하여 </a:t>
            </a:r>
            <a:r>
              <a:rPr lang="en-US" altLang="ko-KR" b="1" dirty="0"/>
              <a:t>YOLOv11</a:t>
            </a:r>
            <a:r>
              <a:rPr lang="ko-KR" altLang="en-US" dirty="0"/>
              <a:t> 모델로 수신부를 검출합니다</a:t>
            </a:r>
            <a:r>
              <a:rPr lang="en-US" altLang="ko-KR" dirty="0"/>
              <a:t>.</a:t>
            </a:r>
            <a:endParaRPr lang="en-US" altLang="ko-KR" baseline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E8DF55-08A5-C4D6-7F52-5D43419BC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02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1AEB3-28C8-D783-B31A-09933E685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4E5C5A-F8F1-980C-64B3-EA327E4690C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767A85-34E8-9134-F787-E1F0A6A41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전체 시스템의 흐름도입니다</a:t>
            </a:r>
            <a:r>
              <a:rPr lang="en-US" altLang="ko-KR" dirty="0"/>
              <a:t>. </a:t>
            </a:r>
            <a:r>
              <a:rPr lang="ko-KR" altLang="en-US" dirty="0"/>
              <a:t>시스템이 시작되면 전역 스캔을 수행하며 이미지를 획득하고</a:t>
            </a:r>
            <a:r>
              <a:rPr lang="en-US" altLang="ko-KR" dirty="0"/>
              <a:t>, YOLO</a:t>
            </a:r>
            <a:r>
              <a:rPr lang="ko-KR" altLang="en-US" dirty="0"/>
              <a:t>를 통해 객체를 검출합니다</a:t>
            </a:r>
            <a:r>
              <a:rPr lang="en-US" altLang="ko-KR" dirty="0"/>
              <a:t>. </a:t>
            </a:r>
            <a:r>
              <a:rPr lang="ko-KR" altLang="en-US" dirty="0"/>
              <a:t>검출된 객체는 저희가 제안하는 </a:t>
            </a:r>
            <a:r>
              <a:rPr lang="en-US" altLang="ko-KR" b="1" dirty="0"/>
              <a:t>'</a:t>
            </a:r>
            <a:r>
              <a:rPr lang="ko-KR" altLang="en-US" b="1" dirty="0"/>
              <a:t>스캔 경로 기반 데이터 연관</a:t>
            </a:r>
            <a:r>
              <a:rPr lang="en-US" altLang="ko-KR" b="1" dirty="0"/>
              <a:t>'</a:t>
            </a:r>
            <a:r>
              <a:rPr lang="ko-KR" altLang="en-US" dirty="0"/>
              <a:t> 단계를 거쳐 후보군을 선별하고</a:t>
            </a:r>
            <a:r>
              <a:rPr lang="en-US" altLang="ko-KR" dirty="0"/>
              <a:t>, </a:t>
            </a:r>
            <a:r>
              <a:rPr lang="en-US" altLang="ko-KR" b="1" dirty="0"/>
              <a:t>'</a:t>
            </a:r>
            <a:r>
              <a:rPr lang="ko-KR" altLang="en-US" b="1" dirty="0"/>
              <a:t>특징 추출 및 매칭</a:t>
            </a:r>
            <a:r>
              <a:rPr lang="en-US" altLang="ko-KR" b="1" dirty="0"/>
              <a:t>'</a:t>
            </a:r>
            <a:r>
              <a:rPr lang="ko-KR" altLang="en-US" dirty="0"/>
              <a:t> 단계를 통해 동일 물체인지 판단하여 </a:t>
            </a:r>
            <a:r>
              <a:rPr lang="en-US" altLang="ko-KR" dirty="0"/>
              <a:t>ID</a:t>
            </a:r>
            <a:r>
              <a:rPr lang="ko-KR" altLang="en-US" dirty="0"/>
              <a:t>를 부여하거나 갱신하게 됩니다</a:t>
            </a:r>
            <a:r>
              <a:rPr lang="en-US" altLang="ko-KR" dirty="0"/>
              <a:t>. </a:t>
            </a:r>
            <a:r>
              <a:rPr lang="ko-KR" altLang="en-US" dirty="0"/>
              <a:t>이 과정을 통해 전체 영역에 대한 </a:t>
            </a:r>
            <a:r>
              <a:rPr lang="ko-KR" altLang="en-US" dirty="0" err="1"/>
              <a:t>수신부</a:t>
            </a:r>
            <a:r>
              <a:rPr lang="ko-KR" altLang="en-US" dirty="0"/>
              <a:t> 추적을 완료합니다</a:t>
            </a:r>
            <a:r>
              <a:rPr lang="en-US" altLang="ko-KR" dirty="0"/>
              <a:t>.</a:t>
            </a:r>
            <a:endParaRPr lang="en-US" altLang="ko-KR" baseline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3617A-1C5F-55DD-8411-DC1880CD85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491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7A2E9-636C-22C7-277C-05548DBA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9FE70A-400B-D330-3AD9-A7343391077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331505-18E9-A9C1-3728-F010A1BBAF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스캔 경로 기반 데이터 연관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앞서 말씀드렸듯</a:t>
            </a:r>
            <a:r>
              <a:rPr lang="en-US" altLang="ko-KR" dirty="0"/>
              <a:t>, Pan-Tilt</a:t>
            </a:r>
            <a:r>
              <a:rPr lang="ko-KR" altLang="en-US" dirty="0"/>
              <a:t>가 크게 움직이면 타겟의 픽셀 좌표는 연결되지 않고 뚝 끊깁니다</a:t>
            </a:r>
            <a:r>
              <a:rPr lang="en-US" altLang="ko-KR" dirty="0"/>
              <a:t>. </a:t>
            </a:r>
            <a:r>
              <a:rPr lang="ko-KR" altLang="en-US" dirty="0"/>
              <a:t>따라서 물리적인 거리에 의미를 두지 않고</a:t>
            </a:r>
            <a:r>
              <a:rPr lang="en-US" altLang="ko-KR" dirty="0"/>
              <a:t>, </a:t>
            </a:r>
            <a:r>
              <a:rPr lang="ko-KR" altLang="en-US" dirty="0"/>
              <a:t>대신 저희는 **스캔 인덱스</a:t>
            </a:r>
            <a:r>
              <a:rPr lang="en-US" altLang="ko-KR" dirty="0"/>
              <a:t>(Pan, Tilt)**</a:t>
            </a:r>
            <a:r>
              <a:rPr lang="ko-KR" altLang="en-US" dirty="0"/>
              <a:t>가 논리적으로 인접해 있다는 점에 착안했습니다</a:t>
            </a:r>
            <a:r>
              <a:rPr lang="en-US" altLang="ko-KR" dirty="0"/>
              <a:t>. </a:t>
            </a:r>
            <a:r>
              <a:rPr lang="ko-KR" altLang="en-US" dirty="0"/>
              <a:t>현재 프레임</a:t>
            </a:r>
            <a:r>
              <a:rPr lang="en-US" altLang="ko-KR" dirty="0"/>
              <a:t>(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$t$</a:t>
            </a:r>
            <a:r>
              <a:rPr lang="en-US" altLang="ko-KR" dirty="0"/>
              <a:t>)</a:t>
            </a:r>
            <a:r>
              <a:rPr lang="ko-KR" altLang="en-US" dirty="0"/>
              <a:t>에서 검출된 객체를 이전 프레임</a:t>
            </a:r>
            <a:r>
              <a:rPr lang="en-US" altLang="ko-KR" dirty="0"/>
              <a:t>(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$t-1$</a:t>
            </a:r>
            <a:r>
              <a:rPr lang="en-US" altLang="ko-KR" dirty="0"/>
              <a:t>)</a:t>
            </a:r>
            <a:r>
              <a:rPr lang="ko-KR" altLang="en-US" dirty="0"/>
              <a:t>뿐만 아니라</a:t>
            </a:r>
            <a:r>
              <a:rPr lang="en-US" altLang="ko-KR" dirty="0"/>
              <a:t>, </a:t>
            </a:r>
            <a:r>
              <a:rPr lang="ko-KR" altLang="en-US" dirty="0"/>
              <a:t>스캔 방향에 따른 대각선 방향</a:t>
            </a:r>
            <a:r>
              <a:rPr lang="en-US" altLang="ko-KR" dirty="0"/>
              <a:t>, </a:t>
            </a:r>
            <a:r>
              <a:rPr lang="ko-KR" altLang="en-US" dirty="0"/>
              <a:t>그리고 검출 실패를 대비한 두 단계 전</a:t>
            </a:r>
            <a:r>
              <a:rPr lang="en-US" altLang="ko-KR" dirty="0"/>
              <a:t>(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$t-2$</a:t>
            </a:r>
            <a:r>
              <a:rPr lang="en-US" altLang="ko-KR" dirty="0"/>
              <a:t>) </a:t>
            </a:r>
            <a:r>
              <a:rPr lang="ko-KR" altLang="en-US" dirty="0"/>
              <a:t>프레임의 데이터와 비교하여 후보군을 선정함으로써 불연속성 문제를 해결했습니다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403EC4-4531-3D6B-821E-D301E85C36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1363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09737-6C4F-2752-ADCA-73B1FD0EA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D3ED035-945D-E422-3451-FAA2DBDDDA0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60A0E6-11B1-6F93-8E3A-0DB6F3A7A3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두 번째는 </a:t>
            </a:r>
            <a:r>
              <a:rPr lang="ko-KR" altLang="en-US" b="1" dirty="0"/>
              <a:t>특징 추출 및 매칭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카메라 각도가 변하면 타겟의 모양도 찌그러져 보이기 때문에 단순한 매칭은 어렵습니다</a:t>
            </a:r>
            <a:r>
              <a:rPr lang="en-US" altLang="ko-KR" dirty="0"/>
              <a:t>. </a:t>
            </a:r>
            <a:r>
              <a:rPr lang="ko-KR" altLang="en-US" dirty="0"/>
              <a:t>저희는 타겟의 </a:t>
            </a:r>
            <a:r>
              <a:rPr lang="en-US" altLang="ko-KR" dirty="0"/>
              <a:t>ROI(300x300)</a:t>
            </a:r>
            <a:r>
              <a:rPr lang="ko-KR" altLang="en-US" dirty="0"/>
              <a:t>를 </a:t>
            </a:r>
            <a:r>
              <a:rPr lang="en-US" altLang="ko-KR" b="1" dirty="0"/>
              <a:t>11x11 </a:t>
            </a:r>
            <a:r>
              <a:rPr lang="ko-KR" altLang="en-US" b="1" dirty="0"/>
              <a:t>크기의 격자</a:t>
            </a:r>
            <a:r>
              <a:rPr lang="ko-KR" altLang="en-US" dirty="0"/>
              <a:t>로 나누고</a:t>
            </a:r>
            <a:r>
              <a:rPr lang="en-US" altLang="ko-KR" dirty="0"/>
              <a:t>, </a:t>
            </a:r>
            <a:r>
              <a:rPr lang="ko-KR" altLang="en-US" dirty="0"/>
              <a:t>각 격자마다 </a:t>
            </a:r>
            <a:r>
              <a:rPr lang="ko-KR" altLang="en-US" b="1" dirty="0"/>
              <a:t>색상</a:t>
            </a:r>
            <a:r>
              <a:rPr lang="en-US" altLang="ko-KR" b="1" dirty="0"/>
              <a:t>(HSV)</a:t>
            </a:r>
            <a:r>
              <a:rPr lang="ko-KR" altLang="en-US" b="1" dirty="0"/>
              <a:t>과 형태</a:t>
            </a:r>
            <a:r>
              <a:rPr lang="en-US" altLang="ko-KR" b="1" dirty="0"/>
              <a:t>(Grayscale)</a:t>
            </a:r>
            <a:r>
              <a:rPr lang="ko-KR" altLang="en-US" dirty="0"/>
              <a:t> 히스토그램</a:t>
            </a:r>
            <a:r>
              <a:rPr lang="en-US" altLang="ko-KR" dirty="0"/>
              <a:t>(H 8 S 4 gray 16)</a:t>
            </a:r>
            <a:r>
              <a:rPr lang="ko-KR" altLang="en-US" dirty="0"/>
              <a:t>을 추출하여 하나의 긴 특징 벡터로 결합했습니다</a:t>
            </a:r>
            <a:r>
              <a:rPr lang="en-US" altLang="ko-KR" dirty="0"/>
              <a:t>. </a:t>
            </a:r>
            <a:r>
              <a:rPr lang="ko-KR" altLang="en-US" dirty="0"/>
              <a:t>이렇게 만든 벡터 간의 </a:t>
            </a:r>
            <a:r>
              <a:rPr lang="ko-KR" altLang="en-US" b="1" dirty="0"/>
              <a:t>코사인 유사도</a:t>
            </a:r>
            <a:r>
              <a:rPr lang="ko-KR" altLang="en-US" dirty="0"/>
              <a:t>를 계산하고</a:t>
            </a:r>
            <a:r>
              <a:rPr lang="en-US" altLang="ko-KR" dirty="0"/>
              <a:t>, </a:t>
            </a:r>
            <a:r>
              <a:rPr lang="ko-KR" altLang="en-US" b="1" dirty="0"/>
              <a:t>헝가리안 알고리즘</a:t>
            </a:r>
            <a:r>
              <a:rPr lang="ko-KR" altLang="en-US" dirty="0"/>
              <a:t>을 적용하여 전체 매칭의 오차를 최소화하는 최적의 짝을 찾아냅니다</a:t>
            </a:r>
            <a:r>
              <a:rPr lang="en-US" altLang="ko-KR" dirty="0"/>
              <a:t>. </a:t>
            </a:r>
            <a:r>
              <a:rPr lang="ko-KR" altLang="en-US" dirty="0"/>
              <a:t>이를 통해 조명 변화나 시점 변화에도 강인한 추적 성능을 확보했습니다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A455EF-A854-02FF-A1DE-95B78018C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0702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3F38A-D6A8-AB8C-619F-F7CAFAE01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ADCCB8-0F65-304F-3DF1-8BECCA8C1EB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53B96C-B14F-7EA6-75AA-2F6BED3B0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성능 평가 결과입니다</a:t>
            </a:r>
            <a:r>
              <a:rPr lang="en-US" altLang="ko-KR" dirty="0"/>
              <a:t>. </a:t>
            </a:r>
            <a:r>
              <a:rPr lang="ko-KR" altLang="en-US" dirty="0"/>
              <a:t>실내 환경에 </a:t>
            </a:r>
            <a:r>
              <a:rPr lang="en-US" altLang="ko-KR" dirty="0"/>
              <a:t>4</a:t>
            </a:r>
            <a:r>
              <a:rPr lang="ko-KR" altLang="en-US" dirty="0"/>
              <a:t>개의 타겟을 배치하고 실험한 결과</a:t>
            </a:r>
            <a:r>
              <a:rPr lang="en-US" altLang="ko-KR" dirty="0"/>
              <a:t>, </a:t>
            </a:r>
            <a:r>
              <a:rPr lang="ko-KR" altLang="en-US" dirty="0"/>
              <a:t>다중 객체 추적 정확도인 **</a:t>
            </a:r>
            <a:r>
              <a:rPr lang="en-US" altLang="ko-KR" dirty="0"/>
              <a:t>MOTA</a:t>
            </a:r>
            <a:r>
              <a:rPr lang="ko-KR" altLang="en-US" dirty="0"/>
              <a:t>는 </a:t>
            </a:r>
            <a:r>
              <a:rPr lang="en-US" altLang="ko-KR" dirty="0"/>
              <a:t>94.5%**</a:t>
            </a:r>
            <a:r>
              <a:rPr lang="ko-KR" altLang="en-US" dirty="0"/>
              <a:t>를 달성했습니다</a:t>
            </a:r>
            <a:r>
              <a:rPr lang="en-US" altLang="ko-KR" dirty="0"/>
              <a:t>. </a:t>
            </a:r>
            <a:r>
              <a:rPr lang="ko-KR" altLang="en-US" dirty="0"/>
              <a:t>표를 보시면 </a:t>
            </a:r>
            <a:r>
              <a:rPr lang="ko-KR" altLang="en-US" dirty="0" err="1"/>
              <a:t>오검출</a:t>
            </a:r>
            <a:r>
              <a:rPr lang="en-US" altLang="ko-KR" dirty="0"/>
              <a:t>(FP)</a:t>
            </a:r>
            <a:r>
              <a:rPr lang="ko-KR" altLang="en-US" dirty="0"/>
              <a:t>은 </a:t>
            </a:r>
            <a:r>
              <a:rPr lang="en-US" altLang="ko-KR" dirty="0"/>
              <a:t>0</a:t>
            </a:r>
            <a:r>
              <a:rPr lang="ko-KR" altLang="en-US" dirty="0"/>
              <a:t>건으로 매우 안정적이었으며</a:t>
            </a:r>
            <a:r>
              <a:rPr lang="en-US" altLang="ko-KR" dirty="0"/>
              <a:t>, </a:t>
            </a:r>
            <a:r>
              <a:rPr lang="ko-KR" altLang="en-US" dirty="0"/>
              <a:t>시점 변화로 인해 </a:t>
            </a:r>
            <a:r>
              <a:rPr lang="en-US" altLang="ko-KR" dirty="0"/>
              <a:t>ID</a:t>
            </a:r>
            <a:r>
              <a:rPr lang="ko-KR" altLang="en-US" dirty="0"/>
              <a:t>가 바뀌는 </a:t>
            </a:r>
            <a:r>
              <a:rPr lang="en-US" altLang="ko-KR" dirty="0"/>
              <a:t>ID Switching</a:t>
            </a:r>
            <a:r>
              <a:rPr lang="ko-KR" altLang="en-US" dirty="0"/>
              <a:t>이 </a:t>
            </a:r>
            <a:r>
              <a:rPr lang="en-US" altLang="ko-KR" dirty="0"/>
              <a:t>6</a:t>
            </a:r>
            <a:r>
              <a:rPr lang="ko-KR" altLang="en-US" dirty="0"/>
              <a:t>회 발생하였으나</a:t>
            </a:r>
            <a:r>
              <a:rPr lang="en-US" altLang="ko-KR" dirty="0"/>
              <a:t>, </a:t>
            </a:r>
            <a:r>
              <a:rPr lang="ko-KR" altLang="en-US" dirty="0"/>
              <a:t>결과적으로 **</a:t>
            </a:r>
            <a:r>
              <a:rPr lang="en-US" altLang="ko-KR" dirty="0"/>
              <a:t>ID Purity(</a:t>
            </a:r>
            <a:r>
              <a:rPr lang="ko-KR" altLang="en-US" dirty="0"/>
              <a:t>순도</a:t>
            </a:r>
            <a:r>
              <a:rPr lang="en-US" altLang="ko-KR" dirty="0"/>
              <a:t>) 100%**</a:t>
            </a:r>
            <a:r>
              <a:rPr lang="ko-KR" altLang="en-US" dirty="0"/>
              <a:t>를 기록하여</a:t>
            </a:r>
            <a:r>
              <a:rPr lang="en-US" altLang="ko-KR" dirty="0"/>
              <a:t>, </a:t>
            </a:r>
            <a:r>
              <a:rPr lang="ko-KR" altLang="en-US" dirty="0"/>
              <a:t>서로 다른 타겟이 섞이는 일 없이 정확하게 </a:t>
            </a:r>
            <a:r>
              <a:rPr lang="ko-KR" altLang="en-US" dirty="0" err="1"/>
              <a:t>구분해냈음을</a:t>
            </a:r>
            <a:r>
              <a:rPr lang="ko-KR" altLang="en-US" dirty="0"/>
              <a:t> 입증했습니다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67140-1563-E5EF-78D3-13FB89C7DE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78876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E49DF-01A2-3A8D-39E5-07ED7E651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C57C8A-A7A1-217A-3040-B2DEACE03FF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AD4CE-825F-F676-AC87-5371D8E88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타겟 </a:t>
            </a:r>
            <a:r>
              <a:rPr lang="en-US" altLang="ko-KR" dirty="0"/>
              <a:t>ID </a:t>
            </a:r>
            <a:r>
              <a:rPr lang="ko-KR" altLang="en-US" dirty="0"/>
              <a:t>결과입니다</a:t>
            </a:r>
            <a:r>
              <a:rPr lang="en-US" altLang="ko-KR" dirty="0"/>
              <a:t>.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C4F32-6817-57DB-9CD8-40FFDD1814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0761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0F6DF-B6C4-1E81-5BA7-4BB715A94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2DB92-0477-5303-2D97-6A66EE7BB5E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1F9338-5A55-7F70-BA2E-D985605D6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결론입니다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4F0B21-7815-F36F-F099-766ED581F5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16A3BD86-B9C4-48BB-B1BA-5BDB10AF1901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6356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D485D-E9FE-857B-EC58-5E9007CB6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36A9DB-FA96-AAC9-D608-30D1596DE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DA60FC-0C69-A098-0239-8ADC5A77B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감사합니다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2163B7-3C27-6E75-1A70-C9B8E462D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A3BD86-B9C4-48BB-B1BA-5BDB10AF190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431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12956B-0C3C-852C-B055-5CB40CF2FC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5754C56-0957-D194-C5B0-07C7E10354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F57B55-CDF9-992F-5783-0FF1F0B60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94891-C176-45C6-952F-6646066BB07A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4A30A4-C742-50C8-6379-D28E538AB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258673-A6DC-13D7-43FE-D07CFEF7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6947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1F0C6-987E-1AC2-64B4-1AF6D371E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C68E92-D2C2-F52D-B389-C1FEB1106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B59ABB-B485-D618-9EE9-2BC230D30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77154-35AB-4BEF-ABD2-72B454421146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1F0190-262E-2FD8-D981-3A8F1F1DE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70314E-3927-BEDC-4B85-CA1646881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7622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6D1540-916B-07D3-C5AD-FB2255A23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179CCB-C75D-6A71-7763-0373C4535E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9F948A-8D46-AC36-3798-C7867AFA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7E407-6B96-4B20-A56B-622FAA2C9F1E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4B05C6-0C2E-04C9-0174-EDECFBA4B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C6BC61-3008-89A8-FBC5-FDAF45F44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72135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0AEDAA-618F-A914-0695-D2462BAB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EB0354-ADD3-8D1D-4EC6-61EE1B4AC9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4AFE95-07F0-600C-1583-7E0A3E47F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6415E8-CA46-1B9B-76BE-DB60D312C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3554E-5C37-432E-B5B0-5F06A10FB84D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15974F-127F-D9AB-D668-5FE433749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D50977-824B-4983-B3BA-A6FC671E0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89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596F08-003F-BF29-7BB0-A04944459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E57A8E-F1EA-34A6-E3CB-5FFEFDA1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4F483E-9C2C-2094-3BB3-8125BC2F1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DA06055-2830-8B4B-3413-5989B4F606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4D53929-2676-8200-7230-282F3D0C91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B4F5E7B-19FC-8175-C727-DF96B1FD9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B1258-8CD3-4C4C-96C6-E0292624AFA2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2214392-34B2-A6F2-3837-ADAD09F7C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B62D480-1EE2-B60F-C95A-8746614E0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085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1EEBC5-F9E3-5640-21CE-59A60C0D3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827D95B-6352-EA92-6B53-5D072EEEA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2ECE2-7E19-4C0D-9ADC-E9A8A6CBE1BB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EE7AC26-5A62-C72A-C7D6-B059660AF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54367A1-F668-0598-E448-87387E75A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9F2DF15-AB9A-D820-AAEA-CBE25BE66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215E5-75A1-418B-B4F5-C9812F71A2DB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501B0F7-0F98-58AD-0342-CFE931846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DC5E35-2816-4483-AB2E-8E164C5F8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825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43CC7-64F7-D429-016C-99460E6CE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D2C9F9-4019-0DCA-3FFB-A3CA8BCDC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EE260F-5013-2151-73C6-4F27BE9973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BFEC57-9F8A-F534-E927-6760AFDDD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24838-9398-4F49-8728-9E6AB80DF08A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40A817-99EC-1D59-75F4-809A7507C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2DF34A-476F-BF96-7311-6B4D8261E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26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9C8B1A-417D-ADA8-1BEE-9BD38DEB2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EBF7120-5B97-82CC-155D-8213482E75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ACCB2D-97AB-5C53-6607-6731FE1F4A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153058-A4DF-1B66-6EB6-D8C8BEA0D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7F419-0948-4C2B-97E0-7038E3D15E60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84040E-C70B-BA68-2DB4-ABF9C53E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248A0C-86E2-6D41-222B-572A197EA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6747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99D14E-E543-F593-6CC1-BD6CC355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60484E-5422-78B8-E877-0475FD5C69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E8AF8-25D2-166A-D326-A86E382AC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84535-2B26-40AE-98B0-725BE7CC6FA8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4CE361F-2780-AD8A-029E-27E33A367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1BA2F8-9DB4-FEDA-DD9F-9F0812A61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3955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1F7A2B6-E224-0B8A-BDF1-59299E9F6B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BBF8073-A0B6-5B24-E943-A573014297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6A38AC-9DA6-7551-F085-B88249227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81038-2E04-4EFF-AFD3-D1E32DD6BF0A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015644-2DCD-2C0A-3480-77315DCF9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0B2EDC-778D-2E2A-6876-92D46760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60E7B-F47C-4B3B-8383-3274ED26F7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416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FD7C59B-BBE3-61EA-2905-089A995DD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13C405-9A39-3549-2FC6-FBEC6ED2D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0BDCCC-6AB8-9DCE-19E0-776B6902A1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BB48B8-B1C4-4561-8293-340E4E89454A}" type="datetime1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8D623D-FDA4-EDC8-2100-0EC35EE673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F22241-4D0D-9BC7-9FBF-EC5586BFC3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8795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1974375-594D-C885-604A-829A29D597A8}"/>
              </a:ext>
            </a:extLst>
          </p:cNvPr>
          <p:cNvSpPr/>
          <p:nvPr/>
        </p:nvSpPr>
        <p:spPr>
          <a:xfrm>
            <a:off x="-9144" y="1316736"/>
            <a:ext cx="905256" cy="2559622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C987450-0F83-E579-3FA6-46E1D8B169AD}"/>
              </a:ext>
            </a:extLst>
          </p:cNvPr>
          <p:cNvCxnSpPr>
            <a:cxnSpLocks/>
          </p:cNvCxnSpPr>
          <p:nvPr/>
        </p:nvCxnSpPr>
        <p:spPr>
          <a:xfrm>
            <a:off x="1395984" y="1316736"/>
            <a:ext cx="8681466" cy="0"/>
          </a:xfrm>
          <a:prstGeom prst="line">
            <a:avLst/>
          </a:prstGeom>
          <a:ln>
            <a:solidFill>
              <a:srgbClr val="5894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258" y="1806599"/>
            <a:ext cx="1184376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4800" b="1" dirty="0" err="1">
                <a:latin typeface="HY헤드라인M"/>
                <a:ea typeface="HY헤드라인M"/>
              </a:rPr>
              <a:t>광무선</a:t>
            </a:r>
            <a:r>
              <a:rPr lang="ko-KR" altLang="en-US" sz="4800" b="1" dirty="0">
                <a:latin typeface="HY헤드라인M"/>
                <a:ea typeface="HY헤드라인M"/>
              </a:rPr>
              <a:t> 전력 전송을 위한 </a:t>
            </a:r>
            <a:r>
              <a:rPr lang="en-US" altLang="ko-KR" sz="4800" b="1" dirty="0">
                <a:latin typeface="HY헤드라인M"/>
                <a:ea typeface="HY헤드라인M"/>
              </a:rPr>
              <a:t>Pan-Tilt </a:t>
            </a:r>
            <a:r>
              <a:rPr lang="ko-KR" altLang="en-US" sz="4800" b="1" dirty="0">
                <a:latin typeface="HY헤드라인M"/>
                <a:ea typeface="HY헤드라인M"/>
              </a:rPr>
              <a:t>카메라</a:t>
            </a:r>
            <a:endParaRPr lang="en-US" altLang="ko-KR" sz="4800" b="1" dirty="0">
              <a:latin typeface="HY헤드라인M"/>
              <a:ea typeface="HY헤드라인M"/>
            </a:endParaRPr>
          </a:p>
          <a:p>
            <a:pPr lvl="0" algn="ctr">
              <a:defRPr/>
            </a:pPr>
            <a:r>
              <a:rPr lang="ko-KR" altLang="en-US" sz="4800" b="1" dirty="0">
                <a:latin typeface="HY헤드라인M"/>
                <a:ea typeface="HY헤드라인M"/>
              </a:rPr>
              <a:t>스캔 시스템에서 다중 객체 추적 기법</a:t>
            </a:r>
            <a:endParaRPr lang="en-US" altLang="ko-KR" sz="4800" b="1" dirty="0">
              <a:latin typeface="HY헤드라인M"/>
              <a:ea typeface="HY헤드라인M"/>
            </a:endParaRPr>
          </a:p>
        </p:txBody>
      </p:sp>
      <p:pic>
        <p:nvPicPr>
          <p:cNvPr id="2050" name="Picture 2" descr="한국산업기술대학교, 한국공학대학교로 교명 변경하고 비전 선포식 개최-아이씨엔매거진">
            <a:extLst>
              <a:ext uri="{FF2B5EF4-FFF2-40B4-BE49-F238E27FC236}">
                <a16:creationId xmlns:a16="http://schemas.microsoft.com/office/drawing/2014/main" id="{7E8C4C53-107D-6AFD-66B5-0628321DCF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5440" y="228601"/>
            <a:ext cx="2340864" cy="752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부제목 2">
            <a:extLst>
              <a:ext uri="{FF2B5EF4-FFF2-40B4-BE49-F238E27FC236}">
                <a16:creationId xmlns:a16="http://schemas.microsoft.com/office/drawing/2014/main" id="{1BB59771-5702-CD3B-1CE0-1CB4FE508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60427"/>
            <a:ext cx="10052304" cy="2499360"/>
          </a:xfrm>
        </p:spPr>
        <p:txBody>
          <a:bodyPr>
            <a:no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tx1"/>
                </a:solidFill>
                <a:latin typeface="+mj-ea"/>
                <a:ea typeface="+mj-ea"/>
              </a:rPr>
              <a:t>2026-</a:t>
            </a:r>
            <a:r>
              <a:rPr lang="en-US" altLang="ko-KR" sz="2000" dirty="0">
                <a:latin typeface="+mj-ea"/>
                <a:ea typeface="+mj-ea"/>
              </a:rPr>
              <a:t>02</a:t>
            </a:r>
            <a:r>
              <a:rPr lang="en-US" altLang="ko-KR" sz="2000" dirty="0">
                <a:solidFill>
                  <a:schemeClr val="tx1"/>
                </a:solidFill>
                <a:latin typeface="+mj-ea"/>
                <a:ea typeface="+mj-ea"/>
              </a:rPr>
              <a:t>-06</a:t>
            </a:r>
          </a:p>
          <a:p>
            <a:pPr lvl="0">
              <a:defRPr/>
            </a:pPr>
            <a:r>
              <a:rPr lang="ko-KR" altLang="en-US" sz="2000" b="1" dirty="0">
                <a:solidFill>
                  <a:schemeClr val="tx1"/>
                </a:solidFill>
                <a:latin typeface="+mj-ea"/>
                <a:ea typeface="+mj-ea"/>
              </a:rPr>
              <a:t>이희준</a:t>
            </a:r>
            <a:r>
              <a:rPr lang="en-US" altLang="ko-KR" sz="2000" dirty="0">
                <a:solidFill>
                  <a:schemeClr val="tx1"/>
                </a:solidFill>
                <a:latin typeface="+mj-ea"/>
                <a:ea typeface="+mj-ea"/>
              </a:rPr>
              <a:t>, </a:t>
            </a:r>
            <a:r>
              <a:rPr lang="ko-KR" altLang="en-US" sz="2000" dirty="0" err="1">
                <a:solidFill>
                  <a:schemeClr val="tx1"/>
                </a:solidFill>
                <a:latin typeface="+mj-ea"/>
                <a:ea typeface="+mj-ea"/>
              </a:rPr>
              <a:t>빈경민</a:t>
            </a:r>
            <a:r>
              <a:rPr lang="en-US" altLang="ko-KR" sz="2000" dirty="0">
                <a:latin typeface="+mj-ea"/>
                <a:ea typeface="+mj-ea"/>
              </a:rPr>
              <a:t>,</a:t>
            </a:r>
            <a:r>
              <a:rPr lang="ko-KR" altLang="en-US" sz="2000" dirty="0">
                <a:latin typeface="+mj-ea"/>
                <a:ea typeface="+mj-ea"/>
              </a:rPr>
              <a:t> 김수민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김준수</a:t>
            </a:r>
            <a:r>
              <a:rPr lang="en-US" altLang="ko-KR" sz="2000" dirty="0">
                <a:latin typeface="+mj-ea"/>
                <a:ea typeface="+mj-ea"/>
              </a:rPr>
              <a:t>*</a:t>
            </a:r>
            <a:endParaRPr lang="ko-KR" altLang="en-US" sz="2000" dirty="0">
              <a:solidFill>
                <a:schemeClr val="tx1"/>
              </a:solidFill>
              <a:latin typeface="+mj-ea"/>
              <a:ea typeface="+mj-ea"/>
            </a:endParaRPr>
          </a:p>
          <a:p>
            <a:pPr lvl="0">
              <a:defRPr/>
            </a:pPr>
            <a:r>
              <a:rPr lang="en-US" altLang="ko-KR" sz="2000" dirty="0">
                <a:latin typeface="+mj-ea"/>
                <a:ea typeface="+mj-ea"/>
              </a:rPr>
              <a:t>gmlwns2279@tukorea.ac.kr</a:t>
            </a:r>
          </a:p>
          <a:p>
            <a:pPr lvl="0">
              <a:defRPr/>
            </a:pPr>
            <a:r>
              <a:rPr lang="en-US" altLang="ko-KR" sz="2000" b="0" i="0" dirty="0">
                <a:solidFill>
                  <a:schemeClr val="tx1"/>
                </a:solidFill>
                <a:effectLst/>
                <a:highlight>
                  <a:srgbClr val="FDFDFD"/>
                </a:highlight>
                <a:latin typeface="+mj-ea"/>
                <a:ea typeface="+mj-ea"/>
              </a:rPr>
              <a:t>Dept. of IT Semiconductor Convergence Engineering, TUK</a:t>
            </a:r>
          </a:p>
          <a:p>
            <a:pPr lvl="0">
              <a:defRPr/>
            </a:pPr>
            <a:r>
              <a:rPr lang="en-US" altLang="ko-KR" sz="2000" dirty="0">
                <a:latin typeface="+mj-ea"/>
                <a:ea typeface="+mj-ea"/>
              </a:rPr>
              <a:t>Intelligent Connected-Things (</a:t>
            </a:r>
            <a:r>
              <a:rPr lang="en-US" altLang="ko-KR" sz="2000" dirty="0" err="1">
                <a:latin typeface="+mj-ea"/>
                <a:ea typeface="+mj-ea"/>
              </a:rPr>
              <a:t>ICon</a:t>
            </a:r>
            <a:r>
              <a:rPr lang="en-US" altLang="ko-KR" sz="2000" dirty="0">
                <a:latin typeface="+mj-ea"/>
                <a:ea typeface="+mj-ea"/>
              </a:rPr>
              <a:t>) Lab</a:t>
            </a:r>
            <a:endParaRPr lang="ko-KR" altLang="en-US" sz="20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96275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19AB1-5937-4A93-42B2-264F29C35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4602F3-86E4-A78B-1F30-E8EE6DE15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919" y="-166143"/>
            <a:ext cx="5464968" cy="1559301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목차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A191C01-67E8-69D4-308D-766210AA90E9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9D9254F-67F1-0CFD-2C9F-249CA34A201C}"/>
              </a:ext>
            </a:extLst>
          </p:cNvPr>
          <p:cNvSpPr/>
          <p:nvPr/>
        </p:nvSpPr>
        <p:spPr>
          <a:xfrm>
            <a:off x="-7816" y="918402"/>
            <a:ext cx="7870098" cy="78729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altLang="ko-KR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C5D144B-C5AD-17FC-A7A3-05A2B651F2A8}"/>
              </a:ext>
            </a:extLst>
          </p:cNvPr>
          <p:cNvSpPr/>
          <p:nvPr/>
        </p:nvSpPr>
        <p:spPr>
          <a:xfrm>
            <a:off x="-18472" y="6556432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9B14143-EB19-F3B3-392F-A89B102186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838" y="1148853"/>
            <a:ext cx="7419444" cy="53303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900" dirty="0"/>
              <a:t>     -</a:t>
            </a:r>
            <a:r>
              <a:rPr lang="en-US" altLang="ko-KR" dirty="0"/>
              <a:t> </a:t>
            </a:r>
            <a:r>
              <a:rPr lang="ko-KR" altLang="en-US" dirty="0"/>
              <a:t>서론</a:t>
            </a:r>
            <a:endParaRPr lang="en-US" altLang="ko-KR" dirty="0"/>
          </a:p>
          <a:p>
            <a:pPr marL="0" indent="0">
              <a:buNone/>
            </a:pPr>
            <a:endParaRPr lang="en-US" altLang="ko-KR" sz="1900" dirty="0"/>
          </a:p>
          <a:p>
            <a:pPr marL="0" indent="0">
              <a:buNone/>
            </a:pPr>
            <a:r>
              <a:rPr lang="en-US" altLang="ko-KR" sz="1900" dirty="0"/>
              <a:t>     </a:t>
            </a:r>
            <a:r>
              <a:rPr lang="en-US" altLang="ko-KR" sz="1900" spc="-100" dirty="0"/>
              <a:t>-</a:t>
            </a:r>
            <a:r>
              <a:rPr lang="en-US" altLang="ko-KR" spc="-100" dirty="0"/>
              <a:t> System</a:t>
            </a:r>
            <a:r>
              <a:rPr lang="ko-KR" altLang="en-US" spc="-100" dirty="0"/>
              <a:t> </a:t>
            </a:r>
            <a:r>
              <a:rPr lang="en-US" altLang="ko-KR" spc="-100" dirty="0"/>
              <a:t>model</a:t>
            </a:r>
          </a:p>
          <a:p>
            <a:pPr marL="0" indent="0">
              <a:buNone/>
            </a:pPr>
            <a:endParaRPr lang="en-US" altLang="ko-KR" spc="-100" dirty="0"/>
          </a:p>
          <a:p>
            <a:pPr marL="0" indent="0">
              <a:buNone/>
            </a:pPr>
            <a:r>
              <a:rPr lang="en-US" altLang="ko-KR" dirty="0"/>
              <a:t>   </a:t>
            </a:r>
            <a:r>
              <a:rPr lang="en-US" altLang="ko-KR" spc="-100" dirty="0"/>
              <a:t>- Flow chart</a:t>
            </a:r>
          </a:p>
          <a:p>
            <a:pPr marL="0" indent="0">
              <a:buNone/>
            </a:pPr>
            <a:endParaRPr lang="en-US" altLang="ko-KR" sz="1900" dirty="0"/>
          </a:p>
          <a:p>
            <a:pPr marL="0" indent="0">
              <a:buNone/>
            </a:pPr>
            <a:r>
              <a:rPr lang="en-US" altLang="ko-KR" sz="1900" dirty="0"/>
              <a:t>     - </a:t>
            </a:r>
            <a:r>
              <a:rPr lang="ko-KR" altLang="en-US" spc="-100" dirty="0"/>
              <a:t>제안하는 기법</a:t>
            </a:r>
            <a:endParaRPr lang="en-US" altLang="ko-KR" spc="-100" dirty="0"/>
          </a:p>
          <a:p>
            <a:pPr marL="0" indent="0">
              <a:buNone/>
            </a:pPr>
            <a:r>
              <a:rPr lang="en-US" altLang="ko-KR" sz="1900" spc="-100" dirty="0"/>
              <a:t>        - </a:t>
            </a:r>
            <a:r>
              <a:rPr lang="ko-KR" altLang="en-US" sz="1900" spc="-100" dirty="0"/>
              <a:t>스캔 경로 기반 데이터 연관</a:t>
            </a:r>
            <a:endParaRPr lang="en-US" altLang="ko-KR" sz="1900" spc="-100" dirty="0"/>
          </a:p>
          <a:p>
            <a:pPr marL="0" indent="0">
              <a:buNone/>
            </a:pPr>
            <a:r>
              <a:rPr lang="en-US" altLang="ko-KR" sz="1900" spc="-100" dirty="0"/>
              <a:t>        - </a:t>
            </a:r>
            <a:r>
              <a:rPr lang="ko-KR" altLang="en-US" sz="1900" spc="-100" dirty="0"/>
              <a:t>특징 추출 및 매칭</a:t>
            </a:r>
            <a:endParaRPr lang="en-US" altLang="ko-KR" sz="1900" dirty="0"/>
          </a:p>
          <a:p>
            <a:pPr marL="0" indent="0">
              <a:buNone/>
            </a:pPr>
            <a:endParaRPr lang="en-US" altLang="ko-KR" sz="1900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7EEBF96-CDB4-E24D-1269-14A51CE91F0B}"/>
              </a:ext>
            </a:extLst>
          </p:cNvPr>
          <p:cNvSpPr txBox="1">
            <a:spLocks/>
          </p:cNvSpPr>
          <p:nvPr/>
        </p:nvSpPr>
        <p:spPr>
          <a:xfrm>
            <a:off x="6253856" y="399481"/>
            <a:ext cx="5356849" cy="53303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900" dirty="0"/>
              <a:t>     -</a:t>
            </a:r>
            <a:r>
              <a:rPr lang="en-US" altLang="ko-KR" dirty="0"/>
              <a:t> </a:t>
            </a:r>
            <a:r>
              <a:rPr lang="ko-KR" altLang="en-US" dirty="0"/>
              <a:t>성능평가</a:t>
            </a:r>
            <a:endParaRPr lang="en-US" altLang="ko-KR" dirty="0"/>
          </a:p>
          <a:p>
            <a:pPr marL="0" indent="0">
              <a:buNone/>
            </a:pPr>
            <a:endParaRPr lang="en-US" altLang="ko-KR" sz="1900" dirty="0"/>
          </a:p>
          <a:p>
            <a:pPr marL="0" indent="0">
              <a:buNone/>
            </a:pPr>
            <a:r>
              <a:rPr lang="en-US" altLang="ko-KR" sz="1900" dirty="0"/>
              <a:t>     -</a:t>
            </a:r>
            <a:r>
              <a:rPr lang="en-US" altLang="ko-KR" dirty="0"/>
              <a:t> </a:t>
            </a:r>
            <a:r>
              <a:rPr lang="ko-KR" altLang="en-US" dirty="0"/>
              <a:t>결론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62326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1693-F1E4-9D69-8F9B-E30AD399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1BD532F2-F3F5-0DEC-0103-1A40DA7DBEF3}"/>
              </a:ext>
            </a:extLst>
          </p:cNvPr>
          <p:cNvSpPr/>
          <p:nvPr/>
        </p:nvSpPr>
        <p:spPr>
          <a:xfrm>
            <a:off x="0" y="0"/>
            <a:ext cx="12192000" cy="6530746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endParaRPr lang="en-US" altLang="ko-KR" dirty="0">
              <a:solidFill>
                <a:schemeClr val="tx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C416797-21AD-A9E3-E273-00F65C6EED0A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3E54293-586D-A7BC-4D85-3FB1B5575A59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서론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CE847E-33C4-7868-ECD4-25025C128E31}"/>
              </a:ext>
            </a:extLst>
          </p:cNvPr>
          <p:cNvSpPr txBox="1"/>
          <p:nvPr/>
        </p:nvSpPr>
        <p:spPr>
          <a:xfrm>
            <a:off x="369115" y="1442335"/>
            <a:ext cx="1156324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b="1" dirty="0"/>
              <a:t>문제 정의</a:t>
            </a:r>
            <a:endParaRPr lang="en-US" altLang="ko-KR" sz="2000" b="1" dirty="0"/>
          </a:p>
          <a:p>
            <a:pPr lvl="1"/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 err="1"/>
              <a:t>광무선</a:t>
            </a:r>
            <a:r>
              <a:rPr lang="ko-KR" altLang="en-US" dirty="0"/>
              <a:t> 전력 전송</a:t>
            </a:r>
            <a:r>
              <a:rPr lang="en-US" altLang="ko-KR" dirty="0"/>
              <a:t>(OWPT)</a:t>
            </a:r>
            <a:r>
              <a:rPr lang="ko-KR" altLang="en-US" dirty="0"/>
              <a:t>시 </a:t>
            </a:r>
            <a:r>
              <a:rPr lang="ko-KR" altLang="en-US" b="1" dirty="0"/>
              <a:t>수신부의 정확한 위치 파악 </a:t>
            </a:r>
            <a:r>
              <a:rPr lang="ko-KR" altLang="en-US" dirty="0"/>
              <a:t>및 </a:t>
            </a:r>
            <a:r>
              <a:rPr lang="ko-KR" altLang="en-US" b="1" dirty="0"/>
              <a:t>지속적 추적</a:t>
            </a:r>
            <a:r>
              <a:rPr lang="ko-KR" altLang="en-US" dirty="0"/>
              <a:t> 필수</a:t>
            </a:r>
            <a:r>
              <a:rPr lang="en-US" altLang="ko-KR" dirty="0"/>
              <a:t>[1].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넓은 공간을 저비용으로 커버하기위한 </a:t>
            </a:r>
            <a:r>
              <a:rPr lang="en-US" altLang="ko-KR" b="1" dirty="0"/>
              <a:t>pan-tilt </a:t>
            </a:r>
            <a:r>
              <a:rPr lang="ko-KR" altLang="en-US" b="1" dirty="0"/>
              <a:t>카메라 </a:t>
            </a:r>
            <a:r>
              <a:rPr lang="ko-KR" altLang="en-US" dirty="0"/>
              <a:t>사용</a:t>
            </a:r>
            <a:r>
              <a:rPr lang="en-US" altLang="ko-KR" dirty="0"/>
              <a:t>[2].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넓은 영역 커버를 위해 </a:t>
            </a:r>
            <a:r>
              <a:rPr lang="en-US" altLang="ko-KR" dirty="0"/>
              <a:t>pan-tilt</a:t>
            </a:r>
            <a:r>
              <a:rPr lang="ko-KR" altLang="en-US" dirty="0"/>
              <a:t>를 높은 각도로 스캔 시</a:t>
            </a:r>
            <a:r>
              <a:rPr lang="en-US" altLang="ko-KR" dirty="0"/>
              <a:t>, </a:t>
            </a:r>
            <a:r>
              <a:rPr lang="ko-KR" altLang="en-US" dirty="0"/>
              <a:t>프레임 간 </a:t>
            </a:r>
            <a:r>
              <a:rPr lang="ko-KR" altLang="en-US" b="1" dirty="0"/>
              <a:t>타겟 위치가 불연속적으로 급변함</a:t>
            </a:r>
            <a:r>
              <a:rPr lang="en-US" altLang="ko-KR" dirty="0"/>
              <a:t>.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기존 다중 객체 추적 알고리즘</a:t>
            </a:r>
            <a:r>
              <a:rPr lang="en-US" altLang="ko-KR" dirty="0"/>
              <a:t>(</a:t>
            </a:r>
            <a:r>
              <a:rPr lang="en-US" altLang="ko-KR" b="1" dirty="0"/>
              <a:t>SORT</a:t>
            </a:r>
            <a:r>
              <a:rPr lang="en-US" altLang="ko-KR" dirty="0"/>
              <a:t>)</a:t>
            </a:r>
            <a:r>
              <a:rPr lang="ko-KR" altLang="en-US" dirty="0"/>
              <a:t>는 </a:t>
            </a:r>
            <a:r>
              <a:rPr lang="en-US" altLang="ko-KR" b="1" dirty="0" err="1"/>
              <a:t>IoU</a:t>
            </a:r>
            <a:r>
              <a:rPr lang="ko-KR" altLang="en-US" b="1" dirty="0"/>
              <a:t>기반 추적 알고리즘</a:t>
            </a:r>
            <a:r>
              <a:rPr lang="ko-KR" altLang="en-US" dirty="0"/>
              <a:t>이기에 본 시스템에서 추적을 실패함</a:t>
            </a:r>
            <a:r>
              <a:rPr lang="en-US" altLang="ko-KR" dirty="0"/>
              <a:t>[3].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b="1" dirty="0"/>
              <a:t>해결 방안</a:t>
            </a:r>
            <a:endParaRPr lang="en-US" altLang="ko-KR" sz="2000" b="1" dirty="0"/>
          </a:p>
          <a:p>
            <a:pPr lvl="1"/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b="1" dirty="0"/>
              <a:t>데이터 연관</a:t>
            </a:r>
            <a:r>
              <a:rPr lang="en-US" altLang="ko-KR" dirty="0"/>
              <a:t> : </a:t>
            </a:r>
            <a:r>
              <a:rPr lang="ko-KR" altLang="en-US" dirty="0"/>
              <a:t>물리적 위치 대신 </a:t>
            </a:r>
            <a:r>
              <a:rPr lang="ko-KR" altLang="en-US" b="1" dirty="0"/>
              <a:t>스캔 경로의 논리적 인접성</a:t>
            </a:r>
            <a:r>
              <a:rPr lang="ko-KR" altLang="en-US" dirty="0"/>
              <a:t>을 활용한 연관 기법 제안</a:t>
            </a:r>
            <a:r>
              <a:rPr lang="en-US" altLang="ko-KR" dirty="0"/>
              <a:t>.</a:t>
            </a:r>
          </a:p>
          <a:p>
            <a:pPr marL="742950" lvl="1" indent="-285750">
              <a:buFontTx/>
              <a:buChar char="-"/>
            </a:pPr>
            <a:r>
              <a:rPr lang="ko-KR" altLang="en-US" b="1" dirty="0"/>
              <a:t>특징 매칭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시점 변화에 강인하도록 </a:t>
            </a:r>
            <a:r>
              <a:rPr lang="ko-KR" altLang="en-US" b="1" dirty="0"/>
              <a:t>격자 분할 기반의 색상</a:t>
            </a:r>
            <a:r>
              <a:rPr lang="en-US" altLang="ko-KR" b="1" dirty="0"/>
              <a:t>/</a:t>
            </a:r>
            <a:r>
              <a:rPr lang="ko-KR" altLang="en-US" b="1" dirty="0"/>
              <a:t>형태 특징 매칭 </a:t>
            </a:r>
            <a:r>
              <a:rPr lang="ko-KR" altLang="en-US" dirty="0"/>
              <a:t>적용</a:t>
            </a:r>
            <a:r>
              <a:rPr lang="en-US" altLang="ko-KR" dirty="0"/>
              <a:t>.</a:t>
            </a:r>
          </a:p>
          <a:p>
            <a:pPr lvl="1"/>
            <a:endParaRPr lang="en-US" altLang="ko-KR" sz="10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4867DF4-8961-8FE4-FA58-27BC8EEDF227}"/>
              </a:ext>
            </a:extLst>
          </p:cNvPr>
          <p:cNvSpPr/>
          <p:nvPr/>
        </p:nvSpPr>
        <p:spPr>
          <a:xfrm>
            <a:off x="0" y="6494516"/>
            <a:ext cx="12192000" cy="369332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/>
              <a:t>[1] S. A. H. Mohsan, H. Qian, and H. Amjad, "A Comprehensive Review of Optical Wireless Power Transfer Technology," </a:t>
            </a:r>
            <a:r>
              <a:rPr lang="en-US" altLang="ko-KR" sz="800" i="1" dirty="0"/>
              <a:t>Frontiers of Information Technology &amp; Electronic Engineering</a:t>
            </a:r>
            <a:r>
              <a:rPr lang="en-US" altLang="ko-KR" sz="800" dirty="0"/>
              <a:t>, vol. 24, no. 6, pp. 767-800, June 2023.</a:t>
            </a:r>
          </a:p>
          <a:p>
            <a:r>
              <a:rPr lang="en-US" altLang="ko-KR" sz="800" dirty="0"/>
              <a:t>[2] H. J. Lee, G. M. Been, S. M. Kim, and J. Kim, “Pan-Tilt Camera Control with Pixel-Angle Mapping for Laser Energy Transfer”, in Proc. </a:t>
            </a:r>
            <a:r>
              <a:rPr lang="en-US" altLang="ko-KR" sz="800" i="1" dirty="0"/>
              <a:t>KICS Fall Conf.</a:t>
            </a:r>
            <a:r>
              <a:rPr lang="en-US" altLang="ko-KR" sz="800" dirty="0"/>
              <a:t>, Nov. 2025.</a:t>
            </a:r>
          </a:p>
          <a:p>
            <a:r>
              <a:rPr lang="en-US" altLang="ko-KR" sz="800" dirty="0"/>
              <a:t>[3] A. Bewley, Z. Ge, L. Ott, F. Ramos, and B. Upcroft, "Simple online and </a:t>
            </a:r>
            <a:r>
              <a:rPr lang="en-US" altLang="ko-KR" sz="800" dirty="0" err="1"/>
              <a:t>realtime</a:t>
            </a:r>
            <a:r>
              <a:rPr lang="en-US" altLang="ko-KR" sz="800" dirty="0"/>
              <a:t> tracking," in Proc. </a:t>
            </a:r>
            <a:r>
              <a:rPr lang="en-US" altLang="ko-KR" sz="800" i="1" dirty="0"/>
              <a:t>IEEE ICIP</a:t>
            </a:r>
            <a:r>
              <a:rPr lang="en-US" altLang="ko-KR" sz="800" dirty="0"/>
              <a:t>, Sep. 2016.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EC7AFE-6E91-FEA1-00BF-6278A8B73CE7}"/>
              </a:ext>
            </a:extLst>
          </p:cNvPr>
          <p:cNvSpPr txBox="1"/>
          <p:nvPr/>
        </p:nvSpPr>
        <p:spPr>
          <a:xfrm>
            <a:off x="11893721" y="6506100"/>
            <a:ext cx="259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6031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1635-3677-B2D2-D9F7-686D4A946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B4DC90-3E50-5D1C-C691-2F622E22B76F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2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C76EA80-D6AF-6A80-7208-02E2541027BA}"/>
              </a:ext>
            </a:extLst>
          </p:cNvPr>
          <p:cNvSpPr/>
          <p:nvPr/>
        </p:nvSpPr>
        <p:spPr>
          <a:xfrm>
            <a:off x="0" y="0"/>
            <a:ext cx="12192000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A1EDCD2-28E1-4B7E-D3A0-DCB529DDA152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46BC598-2E37-B951-389D-A5F9C78F1D17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chemeClr val="tx1"/>
                </a:solidFill>
                <a:latin typeface="HY헤드라인M"/>
                <a:ea typeface="HY헤드라인M"/>
              </a:rPr>
              <a:t>System model</a:t>
            </a:r>
          </a:p>
        </p:txBody>
      </p:sp>
      <p:sp>
        <p:nvSpPr>
          <p:cNvPr id="4" name="AutoShape 6">
            <a:extLst>
              <a:ext uri="{FF2B5EF4-FFF2-40B4-BE49-F238E27FC236}">
                <a16:creationId xmlns:a16="http://schemas.microsoft.com/office/drawing/2014/main" id="{DC94B238-78B9-8440-9A0D-2E3D0C7935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3095625"/>
            <a:ext cx="667702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EEE0E5-31A3-A749-DD0D-C8F0B29142D5}"/>
              </a:ext>
            </a:extLst>
          </p:cNvPr>
          <p:cNvSpPr txBox="1"/>
          <p:nvPr/>
        </p:nvSpPr>
        <p:spPr>
          <a:xfrm>
            <a:off x="369116" y="729337"/>
            <a:ext cx="892002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/>
              <a:t>송신부</a:t>
            </a:r>
            <a:endParaRPr lang="en-US" altLang="ko-KR" sz="2000" b="1" dirty="0"/>
          </a:p>
          <a:p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Pan-tilt</a:t>
            </a:r>
            <a:r>
              <a:rPr lang="en-US" altLang="ko-KR" sz="2000" dirty="0"/>
              <a:t> </a:t>
            </a:r>
            <a:r>
              <a:rPr lang="ko-KR" altLang="en-US" sz="2000" dirty="0" err="1"/>
              <a:t>구동부</a:t>
            </a:r>
            <a:r>
              <a:rPr lang="en-US" altLang="ko-KR" sz="2000" dirty="0"/>
              <a:t>, RGB </a:t>
            </a:r>
            <a:r>
              <a:rPr lang="ko-KR" altLang="en-US" sz="2000" b="1" dirty="0"/>
              <a:t>카메라</a:t>
            </a:r>
            <a:r>
              <a:rPr lang="en-US" altLang="ko-KR" sz="2000" dirty="0"/>
              <a:t>, </a:t>
            </a:r>
            <a:r>
              <a:rPr lang="en-US" altLang="ko-KR" sz="2000" b="1" dirty="0"/>
              <a:t>LED</a:t>
            </a:r>
            <a:r>
              <a:rPr lang="en-US" altLang="ko-KR" sz="2000" dirty="0"/>
              <a:t> </a:t>
            </a:r>
            <a:r>
              <a:rPr lang="ko-KR" altLang="en-US" sz="2000" dirty="0"/>
              <a:t>모듈</a:t>
            </a:r>
            <a:r>
              <a:rPr lang="en-US" altLang="ko-KR" sz="2000" dirty="0"/>
              <a:t>, </a:t>
            </a:r>
            <a:r>
              <a:rPr lang="ko-KR" altLang="en-US" sz="2000" b="1" dirty="0"/>
              <a:t>레이저</a:t>
            </a:r>
            <a:r>
              <a:rPr lang="ko-KR" altLang="en-US" sz="2000" dirty="0"/>
              <a:t> 모듈 로 구성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Boustrophedon </a:t>
            </a:r>
            <a:r>
              <a:rPr lang="ko-KR" altLang="en-US" sz="2000" b="1" dirty="0"/>
              <a:t>패턴</a:t>
            </a:r>
            <a:r>
              <a:rPr lang="ko-KR" altLang="en-US" sz="2000" dirty="0"/>
              <a:t>을 따라 </a:t>
            </a:r>
            <a:r>
              <a:rPr lang="en-US" altLang="ko-KR" sz="2000" dirty="0"/>
              <a:t>15° </a:t>
            </a:r>
            <a:r>
              <a:rPr lang="ko-KR" altLang="en-US" sz="2000" dirty="0"/>
              <a:t>의 간격 으로 스캔 진행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r>
              <a:rPr lang="ko-KR" altLang="en-US" sz="2000" b="1" dirty="0" err="1"/>
              <a:t>수신부</a:t>
            </a:r>
            <a:endParaRPr lang="en-US" altLang="ko-KR" sz="2000" b="1" dirty="0"/>
          </a:p>
          <a:p>
            <a:endParaRPr lang="en-US" altLang="ko-KR" sz="2000" b="1" dirty="0"/>
          </a:p>
          <a:p>
            <a:endParaRPr lang="en-US" altLang="ko-KR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인식을 위한 빨간색 </a:t>
            </a:r>
            <a:r>
              <a:rPr lang="ko-KR" altLang="en-US" sz="2000" b="1" dirty="0"/>
              <a:t>재귀반사필름</a:t>
            </a:r>
            <a:r>
              <a:rPr lang="en-US" altLang="ko-KR" sz="2000" dirty="0"/>
              <a:t>, </a:t>
            </a:r>
            <a:r>
              <a:rPr lang="ko-KR" altLang="en-US" sz="2000" dirty="0"/>
              <a:t>에너지 변환을 위한 </a:t>
            </a:r>
            <a:r>
              <a:rPr lang="en-US" altLang="ko-KR" sz="2000" b="1" dirty="0"/>
              <a:t>Solar cell </a:t>
            </a:r>
            <a:r>
              <a:rPr lang="ko-KR" altLang="en-US" sz="2000" dirty="0"/>
              <a:t>로 구성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송신부로 </a:t>
            </a:r>
            <a:r>
              <a:rPr lang="ko-KR" altLang="en-US" sz="2000" dirty="0" err="1"/>
              <a:t>부터</a:t>
            </a:r>
            <a:r>
              <a:rPr lang="ko-KR" altLang="en-US" sz="2000" dirty="0"/>
              <a:t> </a:t>
            </a:r>
            <a:r>
              <a:rPr lang="en-US" altLang="ko-KR" sz="2000" dirty="0"/>
              <a:t>5~10 m </a:t>
            </a:r>
            <a:r>
              <a:rPr lang="ko-KR" altLang="en-US" sz="2000" dirty="0"/>
              <a:t>거리내에 </a:t>
            </a:r>
            <a:r>
              <a:rPr lang="en-US" altLang="ko-KR" sz="2000" dirty="0"/>
              <a:t>4</a:t>
            </a:r>
            <a:r>
              <a:rPr lang="ko-KR" altLang="en-US" sz="2000" dirty="0"/>
              <a:t>개 무작위 배치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FB4E814-5468-1CAF-E5EB-C4AF787B2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1387" y="242887"/>
            <a:ext cx="2136940" cy="2582065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6EDD0A9D-58FF-F885-8266-3147F4E24E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1387" y="3268980"/>
            <a:ext cx="2136940" cy="2766060"/>
          </a:xfrm>
          <a:prstGeom prst="rect">
            <a:avLst/>
          </a:prstGeom>
        </p:spPr>
      </p:pic>
      <p:pic>
        <p:nvPicPr>
          <p:cNvPr id="43" name="Picture 1">
            <a:extLst>
              <a:ext uri="{FF2B5EF4-FFF2-40B4-BE49-F238E27FC236}">
                <a16:creationId xmlns:a16="http://schemas.microsoft.com/office/drawing/2014/main" id="{65C1798D-21CD-03BA-C4BD-F8E047ABA6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470" y="3966797"/>
            <a:ext cx="3715657" cy="218576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C0B2EC89-623F-220E-4C57-4B3B55FD0C22}"/>
              </a:ext>
            </a:extLst>
          </p:cNvPr>
          <p:cNvSpPr txBox="1"/>
          <p:nvPr/>
        </p:nvSpPr>
        <p:spPr>
          <a:xfrm>
            <a:off x="9695236" y="2862300"/>
            <a:ext cx="2023091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그림 </a:t>
            </a:r>
            <a:r>
              <a:rPr lang="en-US" altLang="ko-KR" b="1" dirty="0"/>
              <a:t>1. </a:t>
            </a:r>
            <a:r>
              <a:rPr lang="ko-KR" altLang="en-US" b="1" dirty="0" err="1"/>
              <a:t>송신부</a:t>
            </a:r>
            <a:endParaRPr lang="ko-KR" altLang="en-US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06B591-F111-78E8-453D-C46DE2D40E09}"/>
              </a:ext>
            </a:extLst>
          </p:cNvPr>
          <p:cNvSpPr txBox="1"/>
          <p:nvPr/>
        </p:nvSpPr>
        <p:spPr>
          <a:xfrm>
            <a:off x="9695236" y="6072388"/>
            <a:ext cx="2023091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그림 </a:t>
            </a:r>
            <a:r>
              <a:rPr lang="en-US" altLang="ko-KR" b="1" dirty="0"/>
              <a:t>2. </a:t>
            </a:r>
            <a:r>
              <a:rPr lang="ko-KR" altLang="en-US" b="1" dirty="0" err="1"/>
              <a:t>수신부</a:t>
            </a:r>
            <a:endParaRPr lang="ko-KR" altLang="en-US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1344D28-83CA-FD71-BB46-765651547A8F}"/>
              </a:ext>
            </a:extLst>
          </p:cNvPr>
          <p:cNvSpPr txBox="1"/>
          <p:nvPr/>
        </p:nvSpPr>
        <p:spPr>
          <a:xfrm>
            <a:off x="4183073" y="6157295"/>
            <a:ext cx="2472453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그림 </a:t>
            </a:r>
            <a:r>
              <a:rPr lang="en-US" altLang="ko-KR" b="1" dirty="0"/>
              <a:t>3. </a:t>
            </a:r>
            <a:r>
              <a:rPr lang="ko-KR" altLang="en-US" b="1" dirty="0"/>
              <a:t>시스템 모델</a:t>
            </a:r>
          </a:p>
        </p:txBody>
      </p:sp>
    </p:spTree>
    <p:extLst>
      <p:ext uri="{BB962C8B-B14F-4D97-AF65-F5344CB8AC3E}">
        <p14:creationId xmlns:p14="http://schemas.microsoft.com/office/powerpoint/2010/main" val="2606499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0DFC3-CC5F-036E-64C7-F53E333B3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717C51AF-DACF-9409-D45E-65A02FE3C1CB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3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F4CB123-08E0-9223-8062-09DFA210AF01}"/>
              </a:ext>
            </a:extLst>
          </p:cNvPr>
          <p:cNvSpPr/>
          <p:nvPr/>
        </p:nvSpPr>
        <p:spPr>
          <a:xfrm>
            <a:off x="0" y="0"/>
            <a:ext cx="12192000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2B20392-FFB0-F855-2548-BE44487649E7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2C71C24-00E8-B515-D374-FDCE4E51F074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chemeClr val="tx1"/>
                </a:solidFill>
                <a:latin typeface="HY헤드라인M"/>
                <a:ea typeface="HY헤드라인M"/>
              </a:rPr>
              <a:t>Flow chart</a:t>
            </a:r>
          </a:p>
        </p:txBody>
      </p:sp>
      <p:sp>
        <p:nvSpPr>
          <p:cNvPr id="4" name="AutoShape 6">
            <a:extLst>
              <a:ext uri="{FF2B5EF4-FFF2-40B4-BE49-F238E27FC236}">
                <a16:creationId xmlns:a16="http://schemas.microsoft.com/office/drawing/2014/main" id="{3B24653E-F9EE-3698-EB04-ACECCD3B89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3095625"/>
            <a:ext cx="667702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C9D8A440-33A9-C6A1-6C61-E6579CB47781}"/>
              </a:ext>
            </a:extLst>
          </p:cNvPr>
          <p:cNvGrpSpPr/>
          <p:nvPr/>
        </p:nvGrpSpPr>
        <p:grpSpPr>
          <a:xfrm>
            <a:off x="4683599" y="1069865"/>
            <a:ext cx="2520000" cy="5289248"/>
            <a:chOff x="2856406" y="1066477"/>
            <a:chExt cx="2520000" cy="5289248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B6464B9F-D247-DB5D-3D08-930D292CF483}"/>
                </a:ext>
              </a:extLst>
            </p:cNvPr>
            <p:cNvSpPr/>
            <p:nvPr/>
          </p:nvSpPr>
          <p:spPr>
            <a:xfrm>
              <a:off x="3021584" y="1066477"/>
              <a:ext cx="2187024" cy="778432"/>
            </a:xfrm>
            <a:prstGeom prst="ellipse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Scan Start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AFD5F61F-83E0-0195-5952-E35E35EBDF52}"/>
                </a:ext>
              </a:extLst>
            </p:cNvPr>
            <p:cNvSpPr/>
            <p:nvPr/>
          </p:nvSpPr>
          <p:spPr>
            <a:xfrm>
              <a:off x="2856406" y="2147775"/>
              <a:ext cx="2520000" cy="360000"/>
            </a:xfrm>
            <a:prstGeom prst="rect">
              <a:avLst/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프레임 획득</a:t>
              </a:r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11347EE-A4C0-4208-1CA8-CCD0CF99C177}"/>
                </a:ext>
              </a:extLst>
            </p:cNvPr>
            <p:cNvSpPr/>
            <p:nvPr/>
          </p:nvSpPr>
          <p:spPr>
            <a:xfrm>
              <a:off x="3021584" y="5577293"/>
              <a:ext cx="2187024" cy="778432"/>
            </a:xfrm>
            <a:prstGeom prst="ellipse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End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4DD1BC2B-5FD8-53AC-337E-27544DAB5914}"/>
                </a:ext>
              </a:extLst>
            </p:cNvPr>
            <p:cNvCxnSpPr/>
            <p:nvPr/>
          </p:nvCxnSpPr>
          <p:spPr>
            <a:xfrm>
              <a:off x="4115096" y="2528436"/>
              <a:ext cx="1310" cy="29560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EBF93609-FF9E-51EF-5208-807E443A3F9E}"/>
                </a:ext>
              </a:extLst>
            </p:cNvPr>
            <p:cNvCxnSpPr>
              <a:stCxn id="2" idx="4"/>
              <a:endCxn id="3" idx="0"/>
            </p:cNvCxnSpPr>
            <p:nvPr/>
          </p:nvCxnSpPr>
          <p:spPr>
            <a:xfrm>
              <a:off x="4115096" y="1844909"/>
              <a:ext cx="1310" cy="3028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77A925C-276D-685F-8ED7-BFC502043154}"/>
                </a:ext>
              </a:extLst>
            </p:cNvPr>
            <p:cNvSpPr/>
            <p:nvPr/>
          </p:nvSpPr>
          <p:spPr>
            <a:xfrm>
              <a:off x="2856406" y="3547071"/>
              <a:ext cx="2520000" cy="360000"/>
            </a:xfrm>
            <a:prstGeom prst="rect">
              <a:avLst/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스캔 경로 기반 후보군 지정</a:t>
              </a: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A24BE0C-96A1-B99C-D0E2-FF6006C6B10F}"/>
                </a:ext>
              </a:extLst>
            </p:cNvPr>
            <p:cNvSpPr/>
            <p:nvPr/>
          </p:nvSpPr>
          <p:spPr>
            <a:xfrm>
              <a:off x="2856406" y="4227754"/>
              <a:ext cx="2520000" cy="360000"/>
            </a:xfrm>
            <a:prstGeom prst="rect">
              <a:avLst/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특징 추출</a:t>
              </a: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8DCCF0D2-F9E9-FBCA-A477-64AA89D48344}"/>
                </a:ext>
              </a:extLst>
            </p:cNvPr>
            <p:cNvSpPr/>
            <p:nvPr/>
          </p:nvSpPr>
          <p:spPr>
            <a:xfrm>
              <a:off x="2856406" y="4899150"/>
              <a:ext cx="2520000" cy="360000"/>
            </a:xfrm>
            <a:prstGeom prst="rect">
              <a:avLst/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후보군 과 비교 및 매칭</a:t>
              </a:r>
            </a:p>
          </p:txBody>
        </p: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990C5145-CA59-601A-7B08-46B9976D8A9C}"/>
                </a:ext>
              </a:extLst>
            </p:cNvPr>
            <p:cNvCxnSpPr/>
            <p:nvPr/>
          </p:nvCxnSpPr>
          <p:spPr>
            <a:xfrm>
              <a:off x="4115096" y="3231346"/>
              <a:ext cx="1310" cy="29560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화살표 연결선 24">
              <a:extLst>
                <a:ext uri="{FF2B5EF4-FFF2-40B4-BE49-F238E27FC236}">
                  <a16:creationId xmlns:a16="http://schemas.microsoft.com/office/drawing/2014/main" id="{66F1986D-E6B7-B7AB-3130-128E6FB819AD}"/>
                </a:ext>
              </a:extLst>
            </p:cNvPr>
            <p:cNvCxnSpPr/>
            <p:nvPr/>
          </p:nvCxnSpPr>
          <p:spPr>
            <a:xfrm>
              <a:off x="4115096" y="3915922"/>
              <a:ext cx="1310" cy="29560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EC9EB79-E1E5-BD1C-E70F-FCCE337B2091}"/>
                </a:ext>
              </a:extLst>
            </p:cNvPr>
            <p:cNvCxnSpPr/>
            <p:nvPr/>
          </p:nvCxnSpPr>
          <p:spPr>
            <a:xfrm>
              <a:off x="4115096" y="4590161"/>
              <a:ext cx="1310" cy="29560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91491C48-7201-225F-F4A0-2723C3533131}"/>
                </a:ext>
              </a:extLst>
            </p:cNvPr>
            <p:cNvCxnSpPr/>
            <p:nvPr/>
          </p:nvCxnSpPr>
          <p:spPr>
            <a:xfrm>
              <a:off x="4115096" y="5243400"/>
              <a:ext cx="1310" cy="3028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다이아몬드 4">
            <a:extLst>
              <a:ext uri="{FF2B5EF4-FFF2-40B4-BE49-F238E27FC236}">
                <a16:creationId xmlns:a16="http://schemas.microsoft.com/office/drawing/2014/main" id="{4D00C444-9F91-4E1A-8E2F-1B8F734790A2}"/>
              </a:ext>
            </a:extLst>
          </p:cNvPr>
          <p:cNvSpPr/>
          <p:nvPr/>
        </p:nvSpPr>
        <p:spPr>
          <a:xfrm>
            <a:off x="4683599" y="2820284"/>
            <a:ext cx="2520000" cy="360000"/>
          </a:xfrm>
          <a:prstGeom prst="diamond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객체탐지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F542F8-829B-192D-2906-848D4E870AC6}"/>
              </a:ext>
            </a:extLst>
          </p:cNvPr>
          <p:cNvSpPr txBox="1"/>
          <p:nvPr/>
        </p:nvSpPr>
        <p:spPr>
          <a:xfrm>
            <a:off x="6041290" y="3132645"/>
            <a:ext cx="917464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altLang="ko-KR" dirty="0"/>
              <a:t>yes</a:t>
            </a:r>
            <a:endParaRPr lang="ko-KR" altLang="en-US" dirty="0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57F28C00-F9BF-B9A6-BE3C-60648F6402D5}"/>
              </a:ext>
            </a:extLst>
          </p:cNvPr>
          <p:cNvCxnSpPr>
            <a:cxnSpLocks/>
            <a:stCxn id="5" idx="3"/>
            <a:endCxn id="3" idx="3"/>
          </p:cNvCxnSpPr>
          <p:nvPr/>
        </p:nvCxnSpPr>
        <p:spPr>
          <a:xfrm flipV="1">
            <a:off x="7203599" y="2331163"/>
            <a:ext cx="12700" cy="66912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DC88170-352B-C534-B897-D2CF8DDA7836}"/>
              </a:ext>
            </a:extLst>
          </p:cNvPr>
          <p:cNvSpPr txBox="1"/>
          <p:nvPr/>
        </p:nvSpPr>
        <p:spPr>
          <a:xfrm>
            <a:off x="7428209" y="2494962"/>
            <a:ext cx="917464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altLang="ko-KR" dirty="0"/>
              <a:t>no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9672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61A03-DD26-A9D4-D6E2-D772259A8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84DF0BC8-EA08-0ED0-D7D8-4CA9CFF1FC87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4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065B2B3-E247-7CC5-D17E-E4ACC2DC2BCF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A9143C-9EA2-DB96-E376-71F2AB6C935B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86FFF9B-FB13-5FB7-5918-D6C4AD950810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스캔 경로 기반 데이터 연관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표 1">
                <a:extLst>
                  <a:ext uri="{FF2B5EF4-FFF2-40B4-BE49-F238E27FC236}">
                    <a16:creationId xmlns:a16="http://schemas.microsoft.com/office/drawing/2014/main" id="{9A6418EB-541A-977E-D651-895F42BB37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92957213"/>
                  </p:ext>
                </p:extLst>
              </p:nvPr>
            </p:nvGraphicFramePr>
            <p:xfrm>
              <a:off x="1788438" y="3554456"/>
              <a:ext cx="8128001" cy="22250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61143">
                      <a:extLst>
                        <a:ext uri="{9D8B030D-6E8A-4147-A177-3AD203B41FA5}">
                          <a16:colId xmlns:a16="http://schemas.microsoft.com/office/drawing/2014/main" val="394826141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2774707939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1338010762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1238341683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578395297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3942528331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325673263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34104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49684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875497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2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1200" b="0" i="1" dirty="0" smtClean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2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12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ko-KR" sz="12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856565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2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12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12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2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1200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2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Pan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altLang="ko-KR" sz="1200" b="0" i="1" dirty="0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Tilt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1200" i="1" dirty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ko-KR" sz="12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200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33400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3170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표 1">
                <a:extLst>
                  <a:ext uri="{FF2B5EF4-FFF2-40B4-BE49-F238E27FC236}">
                    <a16:creationId xmlns:a16="http://schemas.microsoft.com/office/drawing/2014/main" id="{9A6418EB-541A-977E-D651-895F42BB37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92957213"/>
                  </p:ext>
                </p:extLst>
              </p:nvPr>
            </p:nvGraphicFramePr>
            <p:xfrm>
              <a:off x="1788438" y="3554456"/>
              <a:ext cx="8128001" cy="22250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61143">
                      <a:extLst>
                        <a:ext uri="{9D8B030D-6E8A-4147-A177-3AD203B41FA5}">
                          <a16:colId xmlns:a16="http://schemas.microsoft.com/office/drawing/2014/main" val="394826141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2774707939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1338010762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1238341683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578395297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3942528331"/>
                        </a:ext>
                      </a:extLst>
                    </a:gridCol>
                    <a:gridCol w="1161143">
                      <a:extLst>
                        <a:ext uri="{9D8B030D-6E8A-4147-A177-3AD203B41FA5}">
                          <a16:colId xmlns:a16="http://schemas.microsoft.com/office/drawing/2014/main" val="325673263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34104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49684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875497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000" t="-301639" r="-400000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579" t="-301639" r="-302105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99476" t="-301639" r="-200524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856565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579" t="-401639" r="-302105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99476" t="-401639" r="-200524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2105" t="-401639" r="-1015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33400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3170238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3E1BF9B-B672-C4C9-F352-363F302E3BFA}"/>
              </a:ext>
            </a:extLst>
          </p:cNvPr>
          <p:cNvSpPr txBox="1"/>
          <p:nvPr/>
        </p:nvSpPr>
        <p:spPr>
          <a:xfrm>
            <a:off x="1" y="88181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스캔 경로 기반 데이터 연관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DD9190-F4E5-20B7-0069-35A4BD2A65AD}"/>
                  </a:ext>
                </a:extLst>
              </p:cNvPr>
              <p:cNvSpPr txBox="1"/>
              <p:nvPr/>
            </p:nvSpPr>
            <p:spPr>
              <a:xfrm>
                <a:off x="305274" y="1467538"/>
                <a:ext cx="1161382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0" i="0" dirty="0"/>
                  <a:t>물리적 픽셀 거리 대신 </a:t>
                </a:r>
                <a:r>
                  <a:rPr lang="ko-KR" altLang="en-US" b="1" i="0" dirty="0"/>
                  <a:t>스캔 경로의 </a:t>
                </a:r>
                <a:r>
                  <a:rPr lang="ko-KR" altLang="en-US" b="1" i="0" dirty="0" err="1"/>
                  <a:t>논리접</a:t>
                </a:r>
                <a:r>
                  <a:rPr lang="ko-KR" altLang="en-US" b="1" i="0" dirty="0"/>
                  <a:t> 인접성</a:t>
                </a:r>
                <a:r>
                  <a:rPr lang="ko-KR" altLang="en-US" b="0" i="0" dirty="0"/>
                  <a:t>을 통한 비교 후보군 지정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0" i="0" dirty="0">
                    <a:latin typeface="Cambria Math" panose="02040503050406030204" pitchFamily="18" charset="0"/>
                  </a:rPr>
                  <a:t>현재 스캔 인덱스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를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Pan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Tilt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b="0" i="0" dirty="0">
                    <a:latin typeface="Cambria Math" panose="02040503050406030204" pitchFamily="18" charset="0"/>
                  </a:rPr>
                  <a:t>고 할때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,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후보군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생성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.</a:t>
                </a:r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r>
                  <a:rPr lang="en-US" altLang="ko-KR" b="0" i="0" dirty="0">
                    <a:latin typeface="Cambria Math" panose="02040503050406030204" pitchFamily="18" charset="0"/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={(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),(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i="1" dirty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Tilt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i="1" dirty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ko-KR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altLang="ko-KR" b="0" i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DD9190-F4E5-20B7-0069-35A4BD2A6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74" y="1467538"/>
                <a:ext cx="11613824" cy="1200329"/>
              </a:xfrm>
              <a:prstGeom prst="rect">
                <a:avLst/>
              </a:prstGeom>
              <a:blipFill>
                <a:blip r:embed="rId4"/>
                <a:stretch>
                  <a:fillRect l="-315" t="-3046" b="-50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CFBF2BB6-3CE9-C8DC-4D54-82A8B7C29112}"/>
              </a:ext>
            </a:extLst>
          </p:cNvPr>
          <p:cNvCxnSpPr/>
          <p:nvPr/>
        </p:nvCxnSpPr>
        <p:spPr>
          <a:xfrm>
            <a:off x="1756954" y="5571309"/>
            <a:ext cx="7622177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AFFBE3D-3140-89FE-7333-F08B9CEE4BB8}"/>
              </a:ext>
            </a:extLst>
          </p:cNvPr>
          <p:cNvCxnSpPr>
            <a:cxnSpLocks/>
          </p:cNvCxnSpPr>
          <p:nvPr/>
        </p:nvCxnSpPr>
        <p:spPr>
          <a:xfrm>
            <a:off x="2161903" y="5231675"/>
            <a:ext cx="7210697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48FB7E2C-F5E4-D9E0-6C16-BA5320C175B3}"/>
              </a:ext>
            </a:extLst>
          </p:cNvPr>
          <p:cNvCxnSpPr>
            <a:cxnSpLocks/>
          </p:cNvCxnSpPr>
          <p:nvPr/>
        </p:nvCxnSpPr>
        <p:spPr>
          <a:xfrm>
            <a:off x="9354737" y="5231675"/>
            <a:ext cx="6531" cy="339634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1ED4E145-EDA9-521E-300E-59FEBFC4AE04}"/>
              </a:ext>
            </a:extLst>
          </p:cNvPr>
          <p:cNvCxnSpPr>
            <a:cxnSpLocks/>
          </p:cNvCxnSpPr>
          <p:nvPr/>
        </p:nvCxnSpPr>
        <p:spPr>
          <a:xfrm>
            <a:off x="2181003" y="4897303"/>
            <a:ext cx="0" cy="339634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BD45F98-08C8-9205-91BF-4A0BACED417C}"/>
              </a:ext>
            </a:extLst>
          </p:cNvPr>
          <p:cNvCxnSpPr/>
          <p:nvPr/>
        </p:nvCxnSpPr>
        <p:spPr>
          <a:xfrm>
            <a:off x="2161953" y="4878275"/>
            <a:ext cx="372631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60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C08DE-C172-F3E5-E51D-4CDD0B238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2E71A2D-EF06-8F8C-602F-53FCD0A17C27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800" dirty="0"/>
              <a:t>[4] H. W. Kuhn, "The Hungarian method for the assignment problem," Naval Research Logistics Quarterly, vol. 2, no. 1-2, pp. 83-97, 1955.                                                                                                                                                      </a:t>
            </a:r>
            <a:r>
              <a:rPr lang="en-US" altLang="ko-KR" dirty="0"/>
              <a:t>5          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7DE56A-38B5-5DEE-1165-1BC3E9FA54CE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2E989BB-5F79-6DA5-1634-5DFA417527EC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D64FEFB-26FC-C719-1717-69299E77FCD4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특징 추출 및 매칭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0A6CB9-AF66-0A6B-AC17-AFA8FAD8C1CF}"/>
              </a:ext>
            </a:extLst>
          </p:cNvPr>
          <p:cNvSpPr txBox="1"/>
          <p:nvPr/>
        </p:nvSpPr>
        <p:spPr>
          <a:xfrm>
            <a:off x="1" y="88181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특징 추출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98966D-5028-5D28-2A75-41587FFBF5F2}"/>
              </a:ext>
            </a:extLst>
          </p:cNvPr>
          <p:cNvSpPr txBox="1"/>
          <p:nvPr/>
        </p:nvSpPr>
        <p:spPr>
          <a:xfrm>
            <a:off x="305274" y="1467538"/>
            <a:ext cx="116138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i="0" dirty="0">
                <a:latin typeface="Cambria Math" panose="02040503050406030204" pitchFamily="18" charset="0"/>
              </a:rPr>
              <a:t>ROI </a:t>
            </a:r>
            <a:r>
              <a:rPr lang="ko-KR" altLang="en-US" b="1" i="0" dirty="0">
                <a:latin typeface="Cambria Math" panose="02040503050406030204" pitchFamily="18" charset="0"/>
              </a:rPr>
              <a:t>격자 분할</a:t>
            </a:r>
            <a:r>
              <a:rPr lang="ko-KR" altLang="en-US" b="0" i="0" dirty="0">
                <a:latin typeface="Cambria Math" panose="02040503050406030204" pitchFamily="18" charset="0"/>
              </a:rPr>
              <a:t> </a:t>
            </a:r>
            <a:r>
              <a:rPr lang="en-US" altLang="ko-KR" b="0" i="0" dirty="0">
                <a:latin typeface="Cambria Math" panose="02040503050406030204" pitchFamily="18" charset="0"/>
              </a:rPr>
              <a:t>: </a:t>
            </a:r>
            <a:r>
              <a:rPr lang="ko-KR" altLang="en-US" b="0" i="0" dirty="0">
                <a:latin typeface="Cambria Math" panose="02040503050406030204" pitchFamily="18" charset="0"/>
              </a:rPr>
              <a:t>배경 노이즈 배제 및 공간정보 추출을 위해 </a:t>
            </a:r>
            <a:r>
              <a:rPr lang="ko-KR" altLang="en-US" b="0" i="0" dirty="0" err="1">
                <a:latin typeface="Cambria Math" panose="02040503050406030204" pitchFamily="18" charset="0"/>
              </a:rPr>
              <a:t>타겟기준</a:t>
            </a:r>
            <a:r>
              <a:rPr lang="ko-KR" altLang="en-US" b="0" i="0" dirty="0">
                <a:latin typeface="Cambria Math" panose="02040503050406030204" pitchFamily="18" charset="0"/>
              </a:rPr>
              <a:t>  </a:t>
            </a:r>
            <a:r>
              <a:rPr lang="en-US" altLang="ko-KR" b="0" i="0" dirty="0">
                <a:latin typeface="Cambria Math" panose="02040503050406030204" pitchFamily="18" charset="0"/>
              </a:rPr>
              <a:t>300x300 ROI, </a:t>
            </a:r>
            <a:r>
              <a:rPr lang="ko-KR" altLang="en-US" b="0" i="0" dirty="0">
                <a:latin typeface="Cambria Math" panose="02040503050406030204" pitchFamily="18" charset="0"/>
              </a:rPr>
              <a:t>이후 </a:t>
            </a:r>
            <a:r>
              <a:rPr lang="en-US" altLang="ko-KR" b="0" i="0" dirty="0">
                <a:latin typeface="Cambria Math" panose="02040503050406030204" pitchFamily="18" charset="0"/>
              </a:rPr>
              <a:t>11x11 </a:t>
            </a:r>
            <a:r>
              <a:rPr lang="ko-KR" altLang="en-US" b="0" i="0" dirty="0">
                <a:latin typeface="Cambria Math" panose="02040503050406030204" pitchFamily="18" charset="0"/>
              </a:rPr>
              <a:t>격자로 분할</a:t>
            </a:r>
            <a:r>
              <a:rPr lang="en-US" altLang="ko-KR" b="0" i="0" dirty="0">
                <a:latin typeface="Cambria Math" panose="02040503050406030204" pitchFamily="18" charset="0"/>
              </a:rPr>
              <a:t>.</a:t>
            </a:r>
          </a:p>
          <a:p>
            <a:r>
              <a:rPr lang="en-US" altLang="ko-KR" b="0" i="0" dirty="0">
                <a:latin typeface="Cambria Math" panose="020405030504060302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i="0" dirty="0">
                <a:latin typeface="Cambria Math" panose="02040503050406030204" pitchFamily="18" charset="0"/>
              </a:rPr>
              <a:t>히스토그램 추출</a:t>
            </a:r>
            <a:r>
              <a:rPr lang="ko-KR" altLang="en-US" b="0" i="0" dirty="0">
                <a:latin typeface="Cambria Math" panose="02040503050406030204" pitchFamily="18" charset="0"/>
              </a:rPr>
              <a:t> </a:t>
            </a:r>
            <a:r>
              <a:rPr lang="en-US" altLang="ko-KR" b="0" i="0" dirty="0">
                <a:latin typeface="Cambria Math" panose="02040503050406030204" pitchFamily="18" charset="0"/>
              </a:rPr>
              <a:t>: </a:t>
            </a:r>
            <a:r>
              <a:rPr lang="ko-KR" altLang="en-US" b="0" i="0" dirty="0">
                <a:latin typeface="Cambria Math" panose="02040503050406030204" pitchFamily="18" charset="0"/>
              </a:rPr>
              <a:t>각 격자에서 </a:t>
            </a:r>
            <a:r>
              <a:rPr lang="en-US" altLang="ko-KR" b="0" i="0" dirty="0">
                <a:latin typeface="Cambria Math" panose="02040503050406030204" pitchFamily="18" charset="0"/>
              </a:rPr>
              <a:t>HSV </a:t>
            </a:r>
            <a:r>
              <a:rPr lang="ko-KR" altLang="en-US" b="0" i="0" dirty="0">
                <a:latin typeface="Cambria Math" panose="02040503050406030204" pitchFamily="18" charset="0"/>
              </a:rPr>
              <a:t>및 </a:t>
            </a:r>
            <a:r>
              <a:rPr lang="en-US" altLang="ko-KR" b="0" i="0" dirty="0">
                <a:latin typeface="Cambria Math" panose="02040503050406030204" pitchFamily="18" charset="0"/>
              </a:rPr>
              <a:t>Grayscale </a:t>
            </a:r>
            <a:r>
              <a:rPr lang="ko-KR" altLang="en-US" b="0" i="0" dirty="0">
                <a:latin typeface="Cambria Math" panose="02040503050406030204" pitchFamily="18" charset="0"/>
              </a:rPr>
              <a:t>히스토그램 추출 후 결합</a:t>
            </a:r>
            <a:r>
              <a:rPr lang="en-US" altLang="ko-KR" dirty="0">
                <a:latin typeface="Cambria Math" panose="02040503050406030204" pitchFamily="18" charset="0"/>
              </a:rPr>
              <a:t> </a:t>
            </a:r>
            <a:r>
              <a:rPr lang="ko-KR" altLang="en-US" dirty="0">
                <a:latin typeface="Cambria Math" panose="02040503050406030204" pitchFamily="18" charset="0"/>
              </a:rPr>
              <a:t>및 정규화</a:t>
            </a:r>
            <a:r>
              <a:rPr lang="en-US" altLang="ko-KR" dirty="0">
                <a:latin typeface="Cambria Math" panose="02040503050406030204" pitchFamily="18" charset="0"/>
              </a:rPr>
              <a:t>.</a:t>
            </a:r>
            <a:endParaRPr lang="en-US" altLang="ko-KR" b="0" i="0" dirty="0">
              <a:latin typeface="Cambria Math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32789-81FD-1884-3028-B76CD862B0F5}"/>
              </a:ext>
            </a:extLst>
          </p:cNvPr>
          <p:cNvSpPr txBox="1"/>
          <p:nvPr/>
        </p:nvSpPr>
        <p:spPr>
          <a:xfrm>
            <a:off x="1" y="2491597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매칭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B6D503-054F-966E-EEC0-0390A744A496}"/>
                  </a:ext>
                </a:extLst>
              </p:cNvPr>
              <p:cNvSpPr txBox="1"/>
              <p:nvPr/>
            </p:nvSpPr>
            <p:spPr>
              <a:xfrm>
                <a:off x="305274" y="3023473"/>
                <a:ext cx="11613824" cy="1210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1" dirty="0">
                    <a:latin typeface="Cambria Math" panose="02040503050406030204" pitchFamily="18" charset="0"/>
                  </a:rPr>
                  <a:t>코사인 유사도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특징 벡터 간의 각도를 계산하여 유사도 측정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.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Similarity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</m:oMath>
                  </m:oMathPara>
                </a14:m>
                <a:endParaRPr lang="en-US" altLang="ko-KR" b="0" i="0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1" i="0" dirty="0">
                    <a:latin typeface="Cambria Math" panose="02040503050406030204" pitchFamily="18" charset="0"/>
                  </a:rPr>
                  <a:t>최적화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헝가리안 알고리즘을 사용하여 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최적 매칭 수행</a:t>
                </a:r>
                <a:r>
                  <a:rPr lang="en-US" altLang="ko-KR" dirty="0"/>
                  <a:t>[4]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.</a:t>
                </a:r>
                <a:endParaRPr lang="en-US" altLang="ko-KR" b="0" i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B6D503-054F-966E-EEC0-0390A744A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74" y="3023473"/>
                <a:ext cx="11613824" cy="1210203"/>
              </a:xfrm>
              <a:prstGeom prst="rect">
                <a:avLst/>
              </a:prstGeom>
              <a:blipFill>
                <a:blip r:embed="rId3"/>
                <a:stretch>
                  <a:fillRect l="-315" t="-3015" b="-6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실내, 라우드스피커, 벽, 오디오 장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BDA984-A6C6-CDE6-D3EB-7557B8112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4869" y="4428699"/>
            <a:ext cx="1923526" cy="1923526"/>
          </a:xfrm>
          <a:prstGeom prst="rect">
            <a:avLst/>
          </a:prstGeom>
        </p:spPr>
      </p:pic>
      <p:pic>
        <p:nvPicPr>
          <p:cNvPr id="10" name="그림 9" descr="사각형, 스크린샷, 다채로움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469726-EC50-11F0-D804-E908ED9995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5841" y="4429825"/>
            <a:ext cx="1922400" cy="1922400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A0FCEBA-BAD3-6ED5-8B47-BB84E97F03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169509"/>
              </p:ext>
            </p:extLst>
          </p:nvPr>
        </p:nvGraphicFramePr>
        <p:xfrm>
          <a:off x="7350778" y="5200398"/>
          <a:ext cx="4429761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2823">
                  <a:extLst>
                    <a:ext uri="{9D8B030D-6E8A-4147-A177-3AD203B41FA5}">
                      <a16:colId xmlns:a16="http://schemas.microsoft.com/office/drawing/2014/main" val="1837605475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2581652568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118755435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186498471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1414557490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3317799468"/>
                    </a:ext>
                  </a:extLst>
                </a:gridCol>
                <a:gridCol w="632823">
                  <a:extLst>
                    <a:ext uri="{9D8B030D-6E8A-4147-A177-3AD203B41FA5}">
                      <a16:colId xmlns:a16="http://schemas.microsoft.com/office/drawing/2014/main" val="544655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622757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AD17936-EE5F-56E2-7240-3B4D282E7DD7}"/>
              </a:ext>
            </a:extLst>
          </p:cNvPr>
          <p:cNvSpPr txBox="1"/>
          <p:nvPr/>
        </p:nvSpPr>
        <p:spPr>
          <a:xfrm>
            <a:off x="9668018" y="5124735"/>
            <a:ext cx="1529972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altLang="ko-KR" dirty="0"/>
              <a:t>. . .</a:t>
            </a:r>
            <a:endParaRPr lang="ko-KR" altLang="en-US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185B1F6-078A-8020-27B5-A5B1F4F85A9E}"/>
              </a:ext>
            </a:extLst>
          </p:cNvPr>
          <p:cNvCxnSpPr/>
          <p:nvPr/>
        </p:nvCxnSpPr>
        <p:spPr>
          <a:xfrm>
            <a:off x="3787253" y="5404516"/>
            <a:ext cx="61414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7FB3F27-5FE3-A493-EF16-846833AE352D}"/>
              </a:ext>
            </a:extLst>
          </p:cNvPr>
          <p:cNvCxnSpPr/>
          <p:nvPr/>
        </p:nvCxnSpPr>
        <p:spPr>
          <a:xfrm>
            <a:off x="6673755" y="5404516"/>
            <a:ext cx="61414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4AD83FF-2125-5FF4-9D2A-0FD7B31AD45C}"/>
              </a:ext>
            </a:extLst>
          </p:cNvPr>
          <p:cNvCxnSpPr>
            <a:cxnSpLocks/>
          </p:cNvCxnSpPr>
          <p:nvPr/>
        </p:nvCxnSpPr>
        <p:spPr>
          <a:xfrm>
            <a:off x="4769893" y="4524233"/>
            <a:ext cx="2915256" cy="88028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FBBA6A8-9963-9CFB-300B-06CE1AAF93A1}"/>
              </a:ext>
            </a:extLst>
          </p:cNvPr>
          <p:cNvSpPr txBox="1"/>
          <p:nvPr/>
        </p:nvSpPr>
        <p:spPr>
          <a:xfrm>
            <a:off x="6608241" y="4778120"/>
            <a:ext cx="895388" cy="27699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특징 추출</a:t>
            </a:r>
          </a:p>
        </p:txBody>
      </p:sp>
    </p:spTree>
    <p:extLst>
      <p:ext uri="{BB962C8B-B14F-4D97-AF65-F5344CB8AC3E}">
        <p14:creationId xmlns:p14="http://schemas.microsoft.com/office/powerpoint/2010/main" val="1854452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35EE4-9FA8-A41A-FDE5-23286AA1C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50AC225-BD28-A372-8F78-98DB416A587E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6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C5284B-96D8-ED3C-F1C5-146E487D93FB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3117118-068C-1061-FEB3-0573061E3184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0D5AABD-7ED9-FCA1-3D7E-A80F1136E2EC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성능 평가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071F9A1-9B27-6ADE-31A5-C8FF5C811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569935"/>
              </p:ext>
            </p:extLst>
          </p:nvPr>
        </p:nvGraphicFramePr>
        <p:xfrm>
          <a:off x="3226055" y="1576283"/>
          <a:ext cx="5739890" cy="1837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6135">
                  <a:extLst>
                    <a:ext uri="{9D8B030D-6E8A-4147-A177-3AD203B41FA5}">
                      <a16:colId xmlns:a16="http://schemas.microsoft.com/office/drawing/2014/main" val="1248245821"/>
                    </a:ext>
                  </a:extLst>
                </a:gridCol>
                <a:gridCol w="1513755">
                  <a:extLst>
                    <a:ext uri="{9D8B030D-6E8A-4147-A177-3AD203B41FA5}">
                      <a16:colId xmlns:a16="http://schemas.microsoft.com/office/drawing/2014/main" val="1363305588"/>
                    </a:ext>
                  </a:extLst>
                </a:gridCol>
              </a:tblGrid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dirty="0"/>
                        <a:t>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/>
                        <a:t>값</a:t>
                      </a:r>
                      <a:endParaRPr lang="ko-KR" alt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39287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실제 타겟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4 </a:t>
                      </a:r>
                      <a:r>
                        <a:rPr lang="ko-KR" altLang="en-US" sz="1300" b="0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696609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dirty="0"/>
                        <a:t>식별 타겟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10 </a:t>
                      </a:r>
                      <a:r>
                        <a:rPr lang="ko-KR" altLang="en-US" sz="1300" b="0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32119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MOTA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94.5%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870170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IDSW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6</a:t>
                      </a:r>
                      <a:r>
                        <a:rPr lang="ko-KR" altLang="en-US" sz="1300" b="0" dirty="0"/>
                        <a:t>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0707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ID</a:t>
                      </a:r>
                      <a:r>
                        <a:rPr lang="ko-KR" altLang="en-US" sz="1300" b="0" dirty="0"/>
                        <a:t> </a:t>
                      </a:r>
                      <a:r>
                        <a:rPr lang="en-US" altLang="ko-KR" sz="1300" b="0" dirty="0"/>
                        <a:t>Purity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100%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6173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823AAD7-B6FC-EB0A-B77C-6BA4E6C84CCE}"/>
              </a:ext>
            </a:extLst>
          </p:cNvPr>
          <p:cNvSpPr txBox="1"/>
          <p:nvPr/>
        </p:nvSpPr>
        <p:spPr>
          <a:xfrm>
            <a:off x="1" y="88181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검증 결과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31AD9A-0C01-EF4A-EC54-56F0CDCAB555}"/>
                  </a:ext>
                </a:extLst>
              </p:cNvPr>
              <p:cNvSpPr txBox="1"/>
              <p:nvPr/>
            </p:nvSpPr>
            <p:spPr>
              <a:xfrm>
                <a:off x="305274" y="4061895"/>
                <a:ext cx="11613824" cy="8283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ko-KR" altLang="en-US" b="0" i="0" dirty="0">
                    <a:latin typeface="Cambria Math" panose="02040503050406030204" pitchFamily="18" charset="0"/>
                  </a:rPr>
                  <a:t>실내 환경에서 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5-10m </a:t>
                </a:r>
                <a:r>
                  <a:rPr lang="ko-KR" altLang="en-US" b="0" i="0" dirty="0">
                    <a:latin typeface="Cambria Math" panose="02040503050406030204" pitchFamily="18" charset="0"/>
                  </a:rPr>
                  <a:t>거리에 수신부를 배치하여 획득한 데이터 셋 활용</a:t>
                </a:r>
                <a:r>
                  <a:rPr lang="en-US" altLang="ko-KR" b="0" i="0" dirty="0">
                    <a:latin typeface="Cambria Math" panose="020405030504060302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MOTA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MOT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 = 1 − 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9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FN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 + </m:t>
                            </m:r>
                            <m:sSub>
                              <m:sSub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FP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 + </m:t>
                            </m:r>
                            <m:sSub>
                              <m:sSub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IDSW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GT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</m:e>
                        </m:nary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altLang="ko-KR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31AD9A-0C01-EF4A-EC54-56F0CDCAB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74" y="4061895"/>
                <a:ext cx="11613824" cy="828368"/>
              </a:xfrm>
              <a:prstGeom prst="rect">
                <a:avLst/>
              </a:prstGeom>
              <a:blipFill>
                <a:blip r:embed="rId3"/>
                <a:stretch>
                  <a:fillRect l="-315" t="-3676" b="-566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4F592-0963-1ED0-BE5F-A3F52593EA81}"/>
                  </a:ext>
                </a:extLst>
              </p:cNvPr>
              <p:cNvSpPr txBox="1"/>
              <p:nvPr/>
            </p:nvSpPr>
            <p:spPr>
              <a:xfrm>
                <a:off x="587829" y="4792298"/>
                <a:ext cx="4336868" cy="1777987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프레임 인덱스</a:t>
                </a:r>
                <a:r>
                  <a:rPr lang="en-US" altLang="ko-K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FN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ko-KR" dirty="0"/>
                  <a:t>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/>
                  <a:t>서의 </a:t>
                </a:r>
                <a:r>
                  <a:rPr lang="ko-KR" altLang="en-US" dirty="0" err="1"/>
                  <a:t>미검출</a:t>
                </a:r>
                <a:r>
                  <a:rPr lang="ko-KR" altLang="en-US" dirty="0"/>
                  <a:t> 수</a:t>
                </a:r>
                <a:r>
                  <a:rPr lang="en-US" altLang="ko-K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FP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ko-KR" dirty="0"/>
                  <a:t>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/>
                  <a:t>서의 </a:t>
                </a:r>
                <a:r>
                  <a:rPr lang="ko-KR" altLang="en-US" dirty="0" err="1"/>
                  <a:t>오검출</a:t>
                </a:r>
                <a:r>
                  <a:rPr lang="ko-KR" altLang="en-US" dirty="0"/>
                  <a:t> 수</a:t>
                </a:r>
                <a:r>
                  <a:rPr lang="en-US" altLang="ko-K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IDSW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ko-KR" dirty="0"/>
                  <a:t> : ID </a:t>
                </a:r>
                <a:r>
                  <a:rPr lang="ko-KR" altLang="en-US" dirty="0" err="1"/>
                  <a:t>스위칭</a:t>
                </a:r>
                <a:r>
                  <a:rPr lang="ko-KR" altLang="en-US" dirty="0"/>
                  <a:t> 수</a:t>
                </a:r>
                <a:r>
                  <a:rPr lang="en-US" altLang="ko-KR" dirty="0"/>
                  <a:t>.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GT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r>
                  <a:rPr lang="en-US" altLang="ko-KR" dirty="0"/>
                  <a:t>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/>
                  <a:t> 존재하는 실제 타겟의 총 수</a:t>
                </a:r>
                <a:r>
                  <a:rPr lang="en-US" altLang="ko-KR" dirty="0"/>
                  <a:t>.</a:t>
                </a: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4F592-0963-1ED0-BE5F-A3F52593E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829" y="4792298"/>
                <a:ext cx="4336868" cy="1777987"/>
              </a:xfrm>
              <a:prstGeom prst="rect">
                <a:avLst/>
              </a:prstGeom>
              <a:blipFill>
                <a:blip r:embed="rId4"/>
                <a:stretch>
                  <a:fillRect t="-17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EA11118-CCC7-ABBD-51EE-5594F8FA5484}"/>
              </a:ext>
            </a:extLst>
          </p:cNvPr>
          <p:cNvSpPr txBox="1"/>
          <p:nvPr/>
        </p:nvSpPr>
        <p:spPr>
          <a:xfrm>
            <a:off x="5295900" y="3432441"/>
            <a:ext cx="1600200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</a:t>
            </a:r>
            <a:r>
              <a:rPr lang="en-US" altLang="ko-KR" b="1" dirty="0"/>
              <a:t>1. </a:t>
            </a:r>
            <a:r>
              <a:rPr lang="ko-KR" altLang="en-US" b="1" dirty="0"/>
              <a:t>검증결과</a:t>
            </a:r>
          </a:p>
        </p:txBody>
      </p:sp>
    </p:spTree>
    <p:extLst>
      <p:ext uri="{BB962C8B-B14F-4D97-AF65-F5344CB8AC3E}">
        <p14:creationId xmlns:p14="http://schemas.microsoft.com/office/powerpoint/2010/main" val="338773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E743-634B-0FF0-9F5B-FE5D53903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16A86122-D666-B78C-BED2-3309EB5A04D8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7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48E9A74-0064-0215-634F-6EBEADAE1E0A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AAB0DB6-2B85-73C3-7E7E-8C00C65E86F9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210D006-5256-8D15-F740-1E156FA04C81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성능 평가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76DF19-3431-4014-843F-5E60F6384F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657205"/>
              </p:ext>
            </p:extLst>
          </p:nvPr>
        </p:nvGraphicFramePr>
        <p:xfrm>
          <a:off x="349471" y="1520234"/>
          <a:ext cx="3308129" cy="3368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1471">
                  <a:extLst>
                    <a:ext uri="{9D8B030D-6E8A-4147-A177-3AD203B41FA5}">
                      <a16:colId xmlns:a16="http://schemas.microsoft.com/office/drawing/2014/main" val="233491521"/>
                    </a:ext>
                  </a:extLst>
                </a:gridCol>
                <a:gridCol w="941471">
                  <a:extLst>
                    <a:ext uri="{9D8B030D-6E8A-4147-A177-3AD203B41FA5}">
                      <a16:colId xmlns:a16="http://schemas.microsoft.com/office/drawing/2014/main" val="1248245821"/>
                    </a:ext>
                  </a:extLst>
                </a:gridCol>
                <a:gridCol w="1425187">
                  <a:extLst>
                    <a:ext uri="{9D8B030D-6E8A-4147-A177-3AD203B41FA5}">
                      <a16:colId xmlns:a16="http://schemas.microsoft.com/office/drawing/2014/main" val="1363305588"/>
                    </a:ext>
                  </a:extLst>
                </a:gridCol>
              </a:tblGrid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dirty="0"/>
                        <a:t>타겟 </a:t>
                      </a:r>
                      <a:r>
                        <a:rPr lang="en-US" altLang="ko-KR" sz="1300" dirty="0"/>
                        <a:t>ID</a:t>
                      </a:r>
                      <a:endParaRPr lang="ko-KR" alt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/>
                        <a:t>실제 </a:t>
                      </a:r>
                      <a:r>
                        <a:rPr lang="en-US" altLang="ko-KR" sz="1300"/>
                        <a:t>ID</a:t>
                      </a:r>
                      <a:endParaRPr lang="ko-KR" alt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dirty="0"/>
                        <a:t>검출 프레임 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39287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0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0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26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696609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1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1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21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32119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2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2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20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870170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3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3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27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07077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4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2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1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617306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5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3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2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9130093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6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0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1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026200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7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2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6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724495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8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1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4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623921"/>
                  </a:ext>
                </a:extLst>
              </a:tr>
              <a:tr h="3062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/>
                        <a:t>9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3</a:t>
                      </a:r>
                      <a:endParaRPr lang="ko-KR" altLang="en-US" sz="13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dirty="0"/>
                        <a:t>2</a:t>
                      </a:r>
                      <a:endParaRPr lang="ko-KR" alt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24463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B2E6B66-2C07-F35D-59CF-E9C04B7271CE}"/>
              </a:ext>
            </a:extLst>
          </p:cNvPr>
          <p:cNvSpPr txBox="1"/>
          <p:nvPr/>
        </p:nvSpPr>
        <p:spPr>
          <a:xfrm>
            <a:off x="1" y="88181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타겟 </a:t>
            </a:r>
            <a:r>
              <a:rPr lang="en-US" altLang="ko-KR" sz="2400" b="1" dirty="0"/>
              <a:t>ID </a:t>
            </a:r>
            <a:r>
              <a:rPr lang="ko-KR" altLang="en-US" sz="2400" b="1" dirty="0"/>
              <a:t>결과</a:t>
            </a:r>
          </a:p>
        </p:txBody>
      </p:sp>
      <p:pic>
        <p:nvPicPr>
          <p:cNvPr id="8" name="그림 7" descr="병, 체스 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8FED56E-D676-D32B-0AA3-DAFF21394F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4953" y="1536327"/>
            <a:ext cx="7774276" cy="2366084"/>
          </a:xfrm>
          <a:prstGeom prst="rect">
            <a:avLst/>
          </a:prstGeom>
        </p:spPr>
      </p:pic>
      <p:pic>
        <p:nvPicPr>
          <p:cNvPr id="14" name="그림 13" descr="텍스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90E84B-3161-4525-082F-89D01E5762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4951" y="4334459"/>
            <a:ext cx="3143250" cy="16192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98E02F0-7B16-B670-DC3E-C72CCE025A2E}"/>
              </a:ext>
            </a:extLst>
          </p:cNvPr>
          <p:cNvSpPr txBox="1"/>
          <p:nvPr/>
        </p:nvSpPr>
        <p:spPr>
          <a:xfrm>
            <a:off x="991989" y="5065507"/>
            <a:ext cx="2023091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</a:t>
            </a:r>
            <a:r>
              <a:rPr lang="en-US" altLang="ko-KR" b="1" dirty="0"/>
              <a:t>2. </a:t>
            </a:r>
            <a:r>
              <a:rPr lang="ko-KR" altLang="en-US" b="1" dirty="0"/>
              <a:t>타겟 </a:t>
            </a:r>
            <a:r>
              <a:rPr lang="en-US" altLang="ko-KR" b="1" dirty="0"/>
              <a:t>ID </a:t>
            </a:r>
            <a:r>
              <a:rPr lang="ko-KR" altLang="en-US" b="1" dirty="0"/>
              <a:t>결과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0EF6E7-58C5-E0DE-A345-024FC34B1CD1}"/>
              </a:ext>
            </a:extLst>
          </p:cNvPr>
          <p:cNvSpPr txBox="1"/>
          <p:nvPr/>
        </p:nvSpPr>
        <p:spPr>
          <a:xfrm>
            <a:off x="6890545" y="3979029"/>
            <a:ext cx="2023091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그림 </a:t>
            </a:r>
            <a:r>
              <a:rPr lang="en-US" altLang="ko-KR" b="1" dirty="0"/>
              <a:t>4. </a:t>
            </a:r>
            <a:r>
              <a:rPr lang="ko-KR" altLang="en-US" b="1" dirty="0"/>
              <a:t>타겟 </a:t>
            </a:r>
            <a:r>
              <a:rPr lang="en-US" altLang="ko-KR" b="1" dirty="0"/>
              <a:t>ID 3</a:t>
            </a:r>
            <a:endParaRPr lang="ko-KR" altLang="en-US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84BD67-850B-F516-42CE-00F247A01B71}"/>
              </a:ext>
            </a:extLst>
          </p:cNvPr>
          <p:cNvSpPr txBox="1"/>
          <p:nvPr/>
        </p:nvSpPr>
        <p:spPr>
          <a:xfrm>
            <a:off x="4575030" y="6033254"/>
            <a:ext cx="2023091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그림 </a:t>
            </a:r>
            <a:r>
              <a:rPr lang="en-US" altLang="ko-KR" b="1" dirty="0"/>
              <a:t>5. </a:t>
            </a:r>
            <a:r>
              <a:rPr lang="ko-KR" altLang="en-US" b="1" dirty="0"/>
              <a:t>타겟 </a:t>
            </a:r>
            <a:r>
              <a:rPr lang="en-US" altLang="ko-KR" b="1" dirty="0"/>
              <a:t>ID 9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509961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BC24A-A7D3-5AFC-160F-DA07CF19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6DD8C6-8903-A2F3-6D63-4D642F6D4301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r">
              <a:defRPr/>
            </a:pPr>
            <a:r>
              <a:rPr lang="en-US" altLang="ko-KR" dirty="0"/>
              <a:t>8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377B73-8EC7-2921-BAA5-C4A93D2F6CBE}"/>
              </a:ext>
            </a:extLst>
          </p:cNvPr>
          <p:cNvSpPr/>
          <p:nvPr/>
        </p:nvSpPr>
        <p:spPr>
          <a:xfrm>
            <a:off x="-7882" y="0"/>
            <a:ext cx="12230704" cy="6537960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524A1ED-2259-FFAE-9EEF-088830E28F66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A7F7D12-9076-11E2-F7BC-DB061A1275F6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  <a:latin typeface="HY헤드라인M"/>
                <a:ea typeface="HY헤드라인M"/>
              </a:rPr>
              <a:t>결론</a:t>
            </a:r>
            <a:endParaRPr lang="en-US" altLang="ko-KR" dirty="0">
              <a:solidFill>
                <a:schemeClr val="tx1"/>
              </a:solidFill>
              <a:latin typeface="HY헤드라인M"/>
              <a:ea typeface="HY헤드라인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E827D8-2454-37D3-9A46-975D6E7CDAEB}"/>
              </a:ext>
            </a:extLst>
          </p:cNvPr>
          <p:cNvSpPr txBox="1"/>
          <p:nvPr/>
        </p:nvSpPr>
        <p:spPr>
          <a:xfrm>
            <a:off x="1" y="881058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  ■ 결론</a:t>
            </a:r>
            <a:r>
              <a:rPr lang="en-US" altLang="ko-KR" sz="2400" b="1" dirty="0"/>
              <a:t>,</a:t>
            </a:r>
            <a:r>
              <a:rPr lang="ko-KR" altLang="en-US" sz="2400" b="1" dirty="0"/>
              <a:t> 향후 연구</a:t>
            </a:r>
            <a:endParaRPr lang="en-US" altLang="ko-KR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BC646C-1B70-AC1A-09D1-07BF1E049770}"/>
              </a:ext>
            </a:extLst>
          </p:cNvPr>
          <p:cNvSpPr txBox="1"/>
          <p:nvPr/>
        </p:nvSpPr>
        <p:spPr>
          <a:xfrm>
            <a:off x="369115" y="1396995"/>
            <a:ext cx="11089435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결론</a:t>
            </a:r>
            <a:endParaRPr lang="en-US" altLang="ko-KR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본 논문은 </a:t>
            </a:r>
            <a:r>
              <a:rPr lang="en-US" altLang="ko-KR" sz="2000" dirty="0"/>
              <a:t>pan-tilt </a:t>
            </a:r>
            <a:r>
              <a:rPr lang="ko-KR" altLang="en-US" sz="2000" dirty="0"/>
              <a:t>카메라를 활용한 레이저 기반의 무선 전력 전송 시스템에서 다중 객체 추적 기법을 제안함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/>
              <a:t>pan-tilt </a:t>
            </a:r>
            <a:r>
              <a:rPr lang="ko-KR" altLang="en-US" sz="2000" dirty="0"/>
              <a:t>카메라를 이용한 전역 스캔 시 발생하는 타겟 불연속 문제를 </a:t>
            </a:r>
            <a:r>
              <a:rPr lang="ko-KR" altLang="en-US" sz="2000" b="1" dirty="0"/>
              <a:t>스캔 위치 인덱스 기반의 데이터 연관 방식</a:t>
            </a:r>
            <a:r>
              <a:rPr lang="ko-KR" altLang="en-US" sz="2000" dirty="0"/>
              <a:t>으로 해결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1" dirty="0"/>
              <a:t>격자 기반 히스토그램 코사인 유사도</a:t>
            </a:r>
            <a:r>
              <a:rPr lang="ko-KR" altLang="en-US" sz="2000" dirty="0"/>
              <a:t>를 통해 </a:t>
            </a:r>
            <a:r>
              <a:rPr lang="ko-KR" altLang="en-US" sz="2000" b="1" dirty="0"/>
              <a:t>시점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외형 변화에 강인</a:t>
            </a:r>
            <a:r>
              <a:rPr lang="ko-KR" altLang="en-US" sz="2000" dirty="0"/>
              <a:t>한 추적 성능 확보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실내 환경에서의 검증 결과 </a:t>
            </a:r>
            <a:r>
              <a:rPr lang="en-US" altLang="ko-KR" sz="2000" b="1" dirty="0"/>
              <a:t>MOTA 94.5% </a:t>
            </a:r>
            <a:r>
              <a:rPr lang="ko-KR" altLang="en-US" sz="2000" dirty="0"/>
              <a:t>달성으로 안정적 추적 확인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r>
              <a:rPr lang="ko-KR" altLang="en-US" sz="2000" b="1" dirty="0"/>
              <a:t>향후 연구</a:t>
            </a:r>
            <a:endParaRPr lang="en-US" altLang="ko-KR" sz="2000" b="1" dirty="0"/>
          </a:p>
          <a:p>
            <a:endParaRPr lang="en-US" altLang="ko-KR" sz="2000" b="1" dirty="0"/>
          </a:p>
          <a:p>
            <a:endParaRPr lang="en-US" altLang="ko-KR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/>
              <a:t>Target</a:t>
            </a:r>
            <a:r>
              <a:rPr lang="ko-KR" altLang="en-US" sz="2000" dirty="0"/>
              <a:t> 설계를 통한 </a:t>
            </a:r>
            <a:r>
              <a:rPr lang="en-US" altLang="ko-KR" sz="2000" dirty="0"/>
              <a:t>IoT </a:t>
            </a:r>
            <a:r>
              <a:rPr lang="ko-KR" altLang="en-US" sz="2000" dirty="0"/>
              <a:t>기기 충전 시스템 연구</a:t>
            </a:r>
            <a:r>
              <a:rPr lang="en-US" altLang="ko-KR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/>
              <a:t>정적인 </a:t>
            </a:r>
            <a:r>
              <a:rPr lang="en-US" altLang="ko-KR" sz="2000" dirty="0"/>
              <a:t>Target </a:t>
            </a:r>
            <a:r>
              <a:rPr lang="ko-KR" altLang="en-US" sz="2000" dirty="0"/>
              <a:t>이 아닌 동적인 </a:t>
            </a:r>
            <a:r>
              <a:rPr lang="en-US" altLang="ko-KR" sz="2000" dirty="0"/>
              <a:t>Target </a:t>
            </a:r>
            <a:r>
              <a:rPr lang="ko-KR" altLang="en-US" sz="2000" dirty="0"/>
              <a:t>시스템 에서의 추가 기법 고안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2721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5104B-F9BD-A3D3-FD0D-07164BEC7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0ACE77-E7FB-2E3E-0D70-9D9B0EDE2B56}"/>
              </a:ext>
            </a:extLst>
          </p:cNvPr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357FAC3-987A-6353-8E95-91289675CA8D}"/>
              </a:ext>
            </a:extLst>
          </p:cNvPr>
          <p:cNvSpPr/>
          <p:nvPr/>
        </p:nvSpPr>
        <p:spPr>
          <a:xfrm>
            <a:off x="0" y="466344"/>
            <a:ext cx="12192000" cy="6071616"/>
          </a:xfrm>
          <a:prstGeom prst="rect">
            <a:avLst/>
          </a:prstGeom>
          <a:solidFill>
            <a:srgbClr val="EFF3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endParaRPr lang="en-US" altLang="ko-KR" dirty="0">
              <a:solidFill>
                <a:schemeClr val="tx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54AED68-A221-6DC9-A151-DB9CCD0C5B06}"/>
              </a:ext>
            </a:extLst>
          </p:cNvPr>
          <p:cNvSpPr/>
          <p:nvPr/>
        </p:nvSpPr>
        <p:spPr>
          <a:xfrm>
            <a:off x="210786" y="149472"/>
            <a:ext cx="277368" cy="539496"/>
          </a:xfrm>
          <a:prstGeom prst="rect">
            <a:avLst/>
          </a:prstGeom>
          <a:solidFill>
            <a:srgbClr val="89C1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5C3C704-EBE9-9CF7-47E8-8D7FA279FFFE}"/>
              </a:ext>
            </a:extLst>
          </p:cNvPr>
          <p:cNvSpPr/>
          <p:nvPr/>
        </p:nvSpPr>
        <p:spPr>
          <a:xfrm>
            <a:off x="305274" y="79368"/>
            <a:ext cx="5540634" cy="539496"/>
          </a:xfrm>
          <a:prstGeom prst="rect">
            <a:avLst/>
          </a:prstGeom>
          <a:solidFill>
            <a:srgbClr val="5894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마무리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A34F788-45E3-AFE7-A183-2E9882012D58}"/>
              </a:ext>
            </a:extLst>
          </p:cNvPr>
          <p:cNvSpPr txBox="1">
            <a:spLocks/>
          </p:cNvSpPr>
          <p:nvPr/>
        </p:nvSpPr>
        <p:spPr>
          <a:xfrm>
            <a:off x="1615440" y="1497403"/>
            <a:ext cx="9144000" cy="1224279"/>
          </a:xfrm>
          <a:prstGeom prst="rect">
            <a:avLst/>
          </a:prstGeom>
          <a:solidFill>
            <a:srgbClr val="EFF3F8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5000" b="1" dirty="0">
                <a:solidFill>
                  <a:srgbClr val="000000"/>
                </a:solidFill>
                <a:latin typeface="+mj-ea"/>
              </a:rPr>
              <a:t>Thank you</a:t>
            </a:r>
            <a:endParaRPr lang="ko-KR" altLang="en-US" sz="5000" b="1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EA5AD07-7BFF-3BF1-6FF8-D2469E83F69C}"/>
              </a:ext>
            </a:extLst>
          </p:cNvPr>
          <p:cNvSpPr txBox="1">
            <a:spLocks/>
          </p:cNvSpPr>
          <p:nvPr/>
        </p:nvSpPr>
        <p:spPr>
          <a:xfrm>
            <a:off x="1524000" y="3752741"/>
            <a:ext cx="9144000" cy="24993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altLang="ko-KR" sz="2000" dirty="0">
                <a:latin typeface="+mj-ea"/>
                <a:ea typeface="+mj-ea"/>
              </a:rPr>
              <a:t>2026-02-06</a:t>
            </a:r>
          </a:p>
          <a:p>
            <a:pPr algn="ctr">
              <a:defRPr/>
            </a:pPr>
            <a:endParaRPr lang="en-US" altLang="ko-KR" sz="2000" dirty="0">
              <a:latin typeface="+mj-ea"/>
              <a:ea typeface="+mj-ea"/>
            </a:endParaRPr>
          </a:p>
          <a:p>
            <a:pPr marL="0" indent="0" algn="ctr">
              <a:buNone/>
              <a:defRPr/>
            </a:pPr>
            <a:r>
              <a:rPr lang="ko-KR" altLang="en-US" sz="2000" b="1" dirty="0">
                <a:latin typeface="+mj-ea"/>
                <a:ea typeface="+mj-ea"/>
              </a:rPr>
              <a:t>이희준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 err="1">
                <a:latin typeface="+mj-ea"/>
                <a:ea typeface="+mj-ea"/>
              </a:rPr>
              <a:t>빈경민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김수민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김준수</a:t>
            </a:r>
            <a:r>
              <a:rPr lang="en-US" altLang="ko-KR" sz="2000" dirty="0">
                <a:latin typeface="+mj-ea"/>
                <a:ea typeface="+mj-ea"/>
              </a:rPr>
              <a:t>*</a:t>
            </a:r>
          </a:p>
          <a:p>
            <a:pPr marL="0" indent="0" algn="ctr">
              <a:buNone/>
              <a:defRPr/>
            </a:pPr>
            <a:r>
              <a:rPr lang="en-US" altLang="ko-KR" sz="2000" dirty="0">
                <a:latin typeface="+mj-ea"/>
                <a:ea typeface="+mj-ea"/>
              </a:rPr>
              <a:t>gmlwns2279@tukorea.ac.kr</a:t>
            </a:r>
          </a:p>
          <a:p>
            <a:pPr marL="0" indent="0" algn="ctr">
              <a:buNone/>
              <a:defRPr/>
            </a:pPr>
            <a:r>
              <a:rPr lang="en-US" altLang="ko-KR" sz="2000" dirty="0">
                <a:latin typeface="+mj-ea"/>
                <a:ea typeface="+mj-ea"/>
              </a:rPr>
              <a:t>Dept. of IT Semiconductor Convergence Engineering, TUK</a:t>
            </a:r>
          </a:p>
          <a:p>
            <a:pPr marL="0" indent="0" algn="ctr">
              <a:buNone/>
            </a:pPr>
            <a:r>
              <a:rPr lang="en-US" altLang="ko-KR" sz="2000" dirty="0">
                <a:latin typeface="+mj-ea"/>
                <a:ea typeface="+mj-ea"/>
              </a:rPr>
              <a:t>Intelligent Connected-Things (</a:t>
            </a:r>
            <a:r>
              <a:rPr lang="en-US" altLang="ko-KR" sz="2000" dirty="0" err="1">
                <a:latin typeface="+mj-ea"/>
                <a:ea typeface="+mj-ea"/>
              </a:rPr>
              <a:t>ICon</a:t>
            </a:r>
            <a:r>
              <a:rPr lang="en-US" altLang="ko-KR" sz="2000" dirty="0">
                <a:latin typeface="+mj-ea"/>
                <a:ea typeface="+mj-ea"/>
              </a:rPr>
              <a:t>) Lab</a:t>
            </a:r>
            <a:endParaRPr lang="ko-KR" altLang="en-US" sz="20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4020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2675</TotalTime>
  <Words>1434</Words>
  <Application>Microsoft Office PowerPoint</Application>
  <PresentationFormat>와이드스크린</PresentationFormat>
  <Paragraphs>199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HY헤드라인M</vt:lpstr>
      <vt:lpstr>맑은 고딕</vt:lpstr>
      <vt:lpstr>Arial</vt:lpstr>
      <vt:lpstr>Cambria Math</vt:lpstr>
      <vt:lpstr>Office 테마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이희준(2025811065)</dc:creator>
  <cp:lastModifiedBy>이희준(2025811065)</cp:lastModifiedBy>
  <cp:revision>457</cp:revision>
  <dcterms:created xsi:type="dcterms:W3CDTF">2025-05-16T02:02:27Z</dcterms:created>
  <dcterms:modified xsi:type="dcterms:W3CDTF">2026-01-22T05:02:30Z</dcterms:modified>
  <cp:version/>
</cp:coreProperties>
</file>